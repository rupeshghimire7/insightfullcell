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6"/>
    <p:sldId id="277" r:id="rId5"/>
    <p:sldId id="278" r:id="rId4"/>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e6619e0-99d3-e52a-2dc4-e0f83e13df42}">
          <p14:sldIdLst>
            <p14:sldId id="256"/>
            <p14:sldId id="257"/>
            <p14:sldId id="258"/>
          </p14:sldIdLst>
        </p14:section>
        <p14:section name="The product" id="{4988836a-8fdb-bf40-e2f1-d04ba4528843}">
          <p14:sldIdLst>
            <p14:sldId id="259"/>
            <p14:sldId id="260"/>
            <p14:sldId id="261"/>
            <p14:sldId id="262"/>
            <p14:sldId id="263"/>
            <p14:sldId id="264"/>
            <p14:sldId id="265"/>
            <p14:sldId id="266"/>
          </p14:sldIdLst>
        </p14:section>
        <p14:section name="How it works" id="{3d93205c-c4cf-2a1f-67ce-5b834204174e}">
          <p14:sldIdLst>
            <p14:sldId id="267"/>
            <p14:sldId id="268"/>
            <p14:sldId id="269"/>
            <p14:sldId id="270"/>
            <p14:sldId id="271"/>
            <p14:sldId id="272"/>
            <p14:sldId id="273"/>
            <p14:sldId id="274"/>
          </p14:sldIdLst>
        </p14:section>
        <p14:section name="Business prospect" id="{e842266a-5593-3938-bf1f-dc500040fdbc}">
          <p14:sldIdLst>
            <p14:sldId id="275"/>
            <p14:sldId id="276"/>
            <p14:sldId id="277"/>
            <p14:sldId id="278"/>
            <p14:sldId id="279"/>
          </p14:sldIdLst>
        </p14:section>
        <p14:section name="Close" id="{b63b6521-def3-435e-608d-f58c847dbe41}">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23.xml"/><Relationship Id="rId5" Type="http://schemas.openxmlformats.org/officeDocument/2006/relationships/slide" Target="slides/slide22.xml"/><Relationship Id="rId6" Type="http://schemas.openxmlformats.org/officeDocument/2006/relationships/slide" Target="slides/slide2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[Rupesh, 0:00–0:08] Hi, we're Rupesh and Sandesh from Charles Darwin University. This is InsightfulCell: a one-stop solution for data analysis. Bring a spreadsheet, and leave with clear answers, charts and a report your team can check.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[Rupesh, 0:08–0:35] Australia has 2.8 million actively trading businesses, and almost none of them employs an analyst. When they want answers from a spreadsheet, they have two options. A general AI assistant is easy, but it can invent numbers, its cleaning is invisible, and your raw rows leave your hands. A BI or statistics tool is accurate, but it needs someone who knows which test to run. That is the trust gap. Our question was simple: can analysing your own data be as easy as asking an assistant, and as trustworthy as a careful analyst?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[Rupesh, 0:35–1:00] InsightfulCell splits the work strictly. Code computes every number: the cleaning, the statistical tests, every chart and map value. An AI model, if one is switched on, only plans the questions and phrases sentences, and it can never write a number: it writes slots, and our engine fills them from stored facts. Then every sentence is checked and every chart value recomputed before you see it. Raw rows never reach an AI model, and the whole product works without one. The live site you're about to see runs with no AI model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[Sandesh, 1:00–1:25] Under the hood it is one codebase running as three processes: a Next.js web app, a FastAPI API and a worker. They share two stores: PostgreSQL, which also runs the job queue and live progress, and Amazon S3 for files. Your browser uploads straight to storage in parts, so files never pass through our servers, and the browser never holds an API token. If an AI model is configured, it only ever sees a masked description of the table. Fewer moving parts means simpler, safer and cheaper to 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[Rupesh, 1:25–1:30] Here's what we'll show you on the live site, using a public dataset of 9,551 restaurants.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[Sandesh, 9:05–9:20] We want to be honest about limits. Automatic cleaning can mis-read a few rare formats, like percentages stored as 0 to 100, decimal commas, or similar-looking names; you saw Manual review catch Mangalore and Bangalore. The live site is one small server that runs one analysis at a time, and you can't yet ask questions in plain language. Next: plain-language questions, safer cleaning and monitoring in Release 1 alpha on 11 December; team workspaces in Release 2 beta in March; general availability in April 2027.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[Rupesh, 9:20–9:25] Thank you. Try it at app.ic.rgproject.me; the code is public on GitHub.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Fallback for the live demo. The same bytes again: nothing new is stored.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Fallback for the live demo. 12 checkpointed steps, live.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Fallback for the live demo. Mangalore and Bangalore are different cities: Keep as 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Fallback for the live demo. Test, rows, interval and content hash.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Fallback for the live demo. 1,439 values recomputed, 0 withheld.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Fallback for the live demo. See the data; download PDF, Word, Markdown or 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Two jobs split at the one point a person may decide. 2) Each step is checkpointed by a hash of its inputs, so retries skip finished work. 3) Two actors can never move the same analysis at once. Proof: the Zomato analysis took 25 s including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A model cannot type a number: any digit outside a slot fails. 2) Strength words are tied to effect-size bands. 3) Causal words are rejected. Proof: 31 of 31 planted errors rejected, 11 of 11 clean sentences kept.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One primary test per question, adjusted together. 2) Tiers: Strong evidence q ≤ 0.01, Supported q ≤ 0.05, Not reliable above. 3) Pure-noise control produced 0 reliable findings across 13 tests. Proof: 0 reliable findings on noise.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Workspace id only from the verified token. 2) The app's database role cannot bypass the policy. 3) Tested with two to four attacker accounts. Proof: 0 of 22 cross-tenant attacks succeeded (92 of 99 checks passed).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One command runs everything CI runs. 2) Strict types in Python and TypeScript. 3) Planted-effect and corrupted-narrator evaluations run with every suite. Proof: 1,275 automated tests.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The small server only pulls images. 2) Rollback = redeploy an earlier commit's image. 3) Caddy renews certificates automatically. Proof: live since 22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Only InsightfulCell meets all six needs. 2) We compare categories, not brands. 3) 2.8 million Australian businesses have data but no analyst. Proof: ABS, 30 June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The free tier is sustainable because rules-only analyses cost nothing in model fees. 2) The spend cap makes AI cost predictable. 3) Hosting today costs about US$3.60 a month. Proof: about US$0.02 measured over 10 analyses.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Roles split by expertise. 2) Decisions recorded with alternatives. 3) Everything checked by the same quality gate. Proof: 86 commits, 1,275 automated tests.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Questions answered from facts with the same verifier. 2) Teams build on existing roles. 3) Service targets come from the system design. Proof: dates from the design baseline.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730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6766560" cy="1737360"/>
          </a:xfrm>
          <a:prstGeom prst="rect">
            <a:avLst/>
          </a:prstGeom>
          <a:noFill/>
          <a:ln/>
        </p:spPr>
        <p:txBody>
          <a:bodyPr wrap="square" rtlCol="0"/>
          <a:lstStyle>
            <a:lvl1pPr algn="l" indent="0" marL="0">
              <a:buNone/>
              <a:defRPr lang="en-US" sz="4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600" dirty="0"/>
          </a:p>
        </p:txBody>
      </p:sp>
      <p:sp>
        <p:nvSpPr>
          <p:cNvPr id="3" name="Text 0"/>
          <p:cNvSpPr/>
          <p:nvPr>
            <p:ph idx="101" type="body" hasCustomPrompt="1"/>
          </p:nvPr>
        </p:nvSpPr>
        <p:spPr>
          <a:xfrm>
            <a:off x="548640" y="3977640"/>
            <a:ext cx="6309360" cy="109728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F6F6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468880"/>
            <a:ext cx="6949440" cy="11887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548640" y="3703320"/>
            <a:ext cx="6949440" cy="128016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pic>
        <p:nvPicPr>
          <p:cNvPr id="4" name="Image 0" descr="/tmp/claude-1000/-home-contra-Desktop-CDU-CodeFair-InsightfullCell-coding-competition/3f3dfe39-544b-44e9-ace5-535ebf7acd3f/scratchpad/deck/logo.png">    </p:cNvPr>
          <p:cNvPicPr>
            <a:picLocks noChangeAspect="1"/>
          </p:cNvPicPr>
          <p:nvPr/>
        </p:nvPicPr>
        <p:blipFill>
          <a:blip r:embed="rId1"/>
          <a:stretch>
            <a:fillRect/>
          </a:stretch>
        </p:blipFill>
        <p:spPr>
          <a:xfrm>
            <a:off x="548640" y="502920"/>
            <a:ext cx="457200" cy="457200"/>
          </a:xfrm>
          <a:prstGeom prst="rect">
            <a:avLst/>
          </a:prstGeom>
        </p:spPr>
      </p:pic>
      <p:sp>
        <p:nvSpPr>
          <p:cNvPr id="5" name="Text 0"/>
          <p:cNvSpPr/>
          <p:nvPr/>
        </p:nvSpPr>
        <p:spPr>
          <a:xfrm>
            <a:off x="1115568" y="548640"/>
            <a:ext cx="2743200" cy="36576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InsightfulCell</a:t>
            </a: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3F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pic>
        <p:nvPicPr>
          <p:cNvPr id="3" name="Image 0" descr="/tmp/claude-1000/-home-contra-Desktop-CDU-CodeFair-InsightfullCell-coding-competition/3f3dfe39-544b-44e9-ace5-535ebf7acd3f/scratchpad/deck/logo.png">    </p:cNvPr>
          <p:cNvPicPr>
            <a:picLocks noChangeAspect="1"/>
          </p:cNvPicPr>
          <p:nvPr/>
        </p:nvPicPr>
        <p:blipFill>
          <a:blip r:embed="rId1"/>
          <a:stretch>
            <a:fillRect/>
          </a:stretch>
        </p:blipFill>
        <p:spPr>
          <a:xfrm>
            <a:off x="548640" y="6400800"/>
            <a:ext cx="237744" cy="237744"/>
          </a:xfrm>
          <a:prstGeom prst="rect">
            <a:avLst/>
          </a:prstGeom>
        </p:spPr>
      </p:pic>
      <p:sp>
        <p:nvSpPr>
          <p:cNvPr id="4" name="Text 0"/>
          <p:cNvSpPr/>
          <p:nvPr/>
        </p:nvSpPr>
        <p:spPr>
          <a:xfrm>
            <a:off x="859536" y="6400800"/>
            <a:ext cx="4572000" cy="237744"/>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InsightfulCell  ·  CDU IT Code Fair 2026</a:t>
            </a:r>
            <a:endParaRPr lang="en-US" sz="1000" dirty="0"/>
          </a:p>
        </p:txBody>
      </p:sp>
      <p:sp>
        <p:nvSpPr>
          <p:cNvPr id="5" name="Shape 1"/>
          <p:cNvSpPr/>
          <p:nvPr/>
        </p:nvSpPr>
        <p:spPr>
          <a:xfrm>
            <a:off x="11076127" y="6391656"/>
            <a:ext cx="566928" cy="256032"/>
          </a:xfrm>
          <a:prstGeom prst="rect">
            <a:avLst>
              <a:gd name="adj" fmla="val 21429"/>
            </a:avLst>
          </a:prstGeom>
          <a:solidFill>
            <a:srgbClr val="E7F0EC"/>
          </a:solidFill>
          <a:ln w="9525">
            <a:solidFill>
              <a:srgbClr val="2F6F62"/>
            </a:solidFill>
            <a:prstDash val="solid"/>
          </a:ln>
        </p:spPr>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0"/>
            <a:ext cx="5669280" cy="1097280"/>
          </a:xfrm>
          <a:prstGeom prst="rect">
            <a:avLst/>
          </a:prstGeom>
          <a:noFill/>
        </p:spPr>
        <p:txBody>
          <a:bodyPr wrap="square" anchor="t">
            <a:spAutoFit/>
          </a:bodyPr>
          <a:lstStyle/>
          <a:p>
            <a:pPr algn="l">
              <a:spcAft>
                <a:spcPts val="600"/>
              </a:spcAft>
            </a:pPr>
            <a:r>
              <a:rPr sz="5400" b="1">
                <a:solidFill>
                  <a:srgbClr val="2F6F62"/>
                </a:solidFill>
                <a:latin typeface="Times New Roman"/>
              </a:rPr>
              <a:t>InsightfulCell</a:t>
            </a:r>
          </a:p>
        </p:txBody>
      </p:sp>
      <p:sp>
        <p:nvSpPr>
          <p:cNvPr id="4" name="TextBox 3"/>
          <p:cNvSpPr txBox="1"/>
          <p:nvPr/>
        </p:nvSpPr>
        <p:spPr>
          <a:xfrm>
            <a:off x="502920" y="2194560"/>
            <a:ext cx="5669280" cy="914400"/>
          </a:xfrm>
          <a:prstGeom prst="rect">
            <a:avLst/>
          </a:prstGeom>
          <a:noFill/>
        </p:spPr>
        <p:txBody>
          <a:bodyPr wrap="square" anchor="t">
            <a:spAutoFit/>
          </a:bodyPr>
          <a:lstStyle/>
          <a:p>
            <a:pPr algn="l">
              <a:spcAft>
                <a:spcPts val="600"/>
              </a:spcAft>
            </a:pPr>
            <a:r>
              <a:rPr sz="2800" b="0">
                <a:solidFill>
                  <a:srgbClr val="1F2421"/>
                </a:solidFill>
                <a:latin typeface="Times New Roman"/>
              </a:rPr>
              <a:t>Your one-stop solution for data analysis.</a:t>
            </a:r>
          </a:p>
        </p:txBody>
      </p:sp>
      <p:sp>
        <p:nvSpPr>
          <p:cNvPr id="5" name="TextBox 4"/>
          <p:cNvSpPr txBox="1"/>
          <p:nvPr/>
        </p:nvSpPr>
        <p:spPr>
          <a:xfrm>
            <a:off x="502920" y="3383280"/>
            <a:ext cx="5669280" cy="1463040"/>
          </a:xfrm>
          <a:prstGeom prst="rect">
            <a:avLst/>
          </a:prstGeom>
          <a:noFill/>
        </p:spPr>
        <p:txBody>
          <a:bodyPr wrap="square" anchor="t">
            <a:spAutoFit/>
          </a:bodyPr>
          <a:lstStyle/>
          <a:p>
            <a:pPr algn="l">
              <a:spcAft>
                <a:spcPts val="600"/>
              </a:spcAft>
            </a:pPr>
            <a:r>
              <a:rPr sz="1800" b="0">
                <a:solidFill>
                  <a:srgbClr val="5E625E"/>
                </a:solidFill>
                <a:latin typeface="Times New Roman"/>
              </a:rPr>
              <a:t>Rupesh Ghimire · Product Owner and Lead Engineer</a:t>
            </a:r>
          </a:p>
          <a:p>
            <a:pPr algn="l">
              <a:spcAft>
                <a:spcPts val="600"/>
              </a:spcAft>
            </a:pPr>
            <a:r>
              <a:rPr sz="1800" b="0">
                <a:solidFill>
                  <a:srgbClr val="5E625E"/>
                </a:solidFill>
                <a:latin typeface="Times New Roman"/>
              </a:rPr>
              <a:t>Sandesh Prasad Paudel · Quality Assurance and Deployment Engineer</a:t>
            </a:r>
          </a:p>
          <a:p>
            <a:pPr algn="l">
              <a:spcAft>
                <a:spcPts val="600"/>
              </a:spcAft>
            </a:pPr>
            <a:r>
              <a:rPr sz="1800" b="0">
                <a:solidFill>
                  <a:srgbClr val="5E625E"/>
                </a:solidFill>
                <a:latin typeface="Times New Roman"/>
              </a:rPr>
              <a:t>Master of Data Science, Charles Darwin University</a:t>
            </a:r>
          </a:p>
        </p:txBody>
      </p:sp>
      <p:sp>
        <p:nvSpPr>
          <p:cNvPr id="6" name="TextBox 5"/>
          <p:cNvSpPr txBox="1"/>
          <p:nvPr/>
        </p:nvSpPr>
        <p:spPr>
          <a:xfrm>
            <a:off x="502920" y="5120640"/>
            <a:ext cx="5669280" cy="548640"/>
          </a:xfrm>
          <a:prstGeom prst="rect">
            <a:avLst/>
          </a:prstGeom>
          <a:noFill/>
        </p:spPr>
        <p:txBody>
          <a:bodyPr wrap="square" anchor="t">
            <a:spAutoFit/>
          </a:bodyPr>
          <a:lstStyle/>
          <a:p>
            <a:pPr algn="l">
              <a:spcAft>
                <a:spcPts val="600"/>
              </a:spcAft>
            </a:pPr>
            <a:r>
              <a:rPr sz="2400" b="1">
                <a:solidFill>
                  <a:srgbClr val="1A8A6F"/>
                </a:solidFill>
                <a:latin typeface="Times New Roman"/>
              </a:rPr>
              <a:t>Try it: app.ic.rgproject.me</a:t>
            </a:r>
          </a:p>
        </p:txBody>
      </p:sp>
      <p:pic>
        <p:nvPicPr>
          <p:cNvPr id="7" name="Picture 6" descr="21-dashboard.png"/>
          <p:cNvPicPr>
            <a:picLocks noChangeAspect="1"/>
          </p:cNvPicPr>
          <p:nvPr/>
        </p:nvPicPr>
        <p:blipFill>
          <a:blip r:embed="rId2"/>
          <a:stretch>
            <a:fillRect/>
          </a:stretch>
        </p:blipFill>
        <p:spPr>
          <a:xfrm>
            <a:off x="6400800" y="1697355"/>
            <a:ext cx="5394960" cy="3371850"/>
          </a:xfrm>
          <a:prstGeom prst="rect">
            <a:avLst/>
          </a:prstGeom>
          <a:ln w="9525">
            <a:solidFill>
              <a:srgbClr val="DEDCD6"/>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2</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400" b="1">
                <a:solidFill>
                  <a:srgbClr val="1F2421"/>
                </a:solidFill>
                <a:latin typeface="Times New Roman"/>
              </a:rPr>
              <a:t>Spreadsheet owners face a trust gap</a:t>
            </a:r>
          </a:p>
        </p:txBody>
      </p:sp>
      <p:sp>
        <p:nvSpPr>
          <p:cNvPr id="6" name="Rounded Rectangle 5"/>
          <p:cNvSpPr/>
          <p:nvPr/>
        </p:nvSpPr>
        <p:spPr>
          <a:xfrm>
            <a:off x="502920" y="1463040"/>
            <a:ext cx="5394960" cy="3108960"/>
          </a:xfrm>
          <a:prstGeom prst="roundRect">
            <a:avLst>
              <a:gd name="adj" fmla="val 6000"/>
            </a:avLst>
          </a:prstGeom>
          <a:solidFill>
            <a:srgbClr val="EAF2EF"/>
          </a:solidFill>
          <a:ln w="12700">
            <a:solidFill>
              <a:srgbClr val="2F6F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45920"/>
            <a:ext cx="5029200" cy="822960"/>
          </a:xfrm>
          <a:prstGeom prst="rect">
            <a:avLst/>
          </a:prstGeom>
          <a:noFill/>
        </p:spPr>
        <p:txBody>
          <a:bodyPr wrap="square" anchor="t">
            <a:spAutoFit/>
          </a:bodyPr>
          <a:lstStyle/>
          <a:p>
            <a:pPr algn="l">
              <a:spcAft>
                <a:spcPts val="600"/>
              </a:spcAft>
            </a:pPr>
            <a:r>
              <a:rPr sz="2400" b="1">
                <a:solidFill>
                  <a:srgbClr val="2F6F62"/>
                </a:solidFill>
                <a:latin typeface="Times New Roman"/>
              </a:rPr>
              <a:t>AI assistants</a:t>
            </a:r>
          </a:p>
        </p:txBody>
      </p:sp>
      <p:sp>
        <p:nvSpPr>
          <p:cNvPr id="8" name="TextBox 7"/>
          <p:cNvSpPr txBox="1"/>
          <p:nvPr/>
        </p:nvSpPr>
        <p:spPr>
          <a:xfrm>
            <a:off x="685800" y="2423160"/>
            <a:ext cx="5029200" cy="2011680"/>
          </a:xfrm>
          <a:prstGeom prst="rect">
            <a:avLst/>
          </a:prstGeom>
          <a:noFill/>
        </p:spPr>
        <p:txBody>
          <a:bodyPr wrap="square" anchor="t">
            <a:spAutoFit/>
          </a:bodyPr>
          <a:lstStyle/>
          <a:p>
            <a:pPr algn="l">
              <a:spcAft>
                <a:spcPts val="600"/>
              </a:spcAft>
            </a:pPr>
            <a:r>
              <a:rPr sz="2200" b="0">
                <a:solidFill>
                  <a:srgbClr val="1F2421"/>
                </a:solidFill>
                <a:latin typeface="Times New Roman"/>
              </a:rPr>
              <a:t>Easy, but can invent numbers, hide their cleaning and need your raw data.</a:t>
            </a:r>
          </a:p>
        </p:txBody>
      </p:sp>
      <p:sp>
        <p:nvSpPr>
          <p:cNvPr id="9" name="Rounded Rectangle 8"/>
          <p:cNvSpPr/>
          <p:nvPr/>
        </p:nvSpPr>
        <p:spPr>
          <a:xfrm>
            <a:off x="6263640" y="1463040"/>
            <a:ext cx="5394960" cy="3108960"/>
          </a:xfrm>
          <a:prstGeom prst="roundRect">
            <a:avLst>
              <a:gd name="adj" fmla="val 6000"/>
            </a:avLst>
          </a:prstGeom>
          <a:solidFill>
            <a:srgbClr val="F4F3F1"/>
          </a:solidFill>
          <a:ln w="12700">
            <a:solidFill>
              <a:srgbClr val="2F6F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5029200" cy="822960"/>
          </a:xfrm>
          <a:prstGeom prst="rect">
            <a:avLst/>
          </a:prstGeom>
          <a:noFill/>
        </p:spPr>
        <p:txBody>
          <a:bodyPr wrap="square" anchor="t">
            <a:spAutoFit/>
          </a:bodyPr>
          <a:lstStyle/>
          <a:p>
            <a:pPr algn="l">
              <a:spcAft>
                <a:spcPts val="600"/>
              </a:spcAft>
            </a:pPr>
            <a:r>
              <a:rPr sz="2400" b="1">
                <a:solidFill>
                  <a:srgbClr val="2F6F62"/>
                </a:solidFill>
                <a:latin typeface="Times New Roman"/>
              </a:rPr>
              <a:t>BI and statistics tools</a:t>
            </a:r>
          </a:p>
        </p:txBody>
      </p:sp>
      <p:sp>
        <p:nvSpPr>
          <p:cNvPr id="11" name="TextBox 10"/>
          <p:cNvSpPr txBox="1"/>
          <p:nvPr/>
        </p:nvSpPr>
        <p:spPr>
          <a:xfrm>
            <a:off x="6446520" y="2423160"/>
            <a:ext cx="5029200" cy="2011680"/>
          </a:xfrm>
          <a:prstGeom prst="rect">
            <a:avLst/>
          </a:prstGeom>
          <a:noFill/>
        </p:spPr>
        <p:txBody>
          <a:bodyPr wrap="square" anchor="t">
            <a:spAutoFit/>
          </a:bodyPr>
          <a:lstStyle/>
          <a:p>
            <a:pPr algn="l">
              <a:spcAft>
                <a:spcPts val="600"/>
              </a:spcAft>
            </a:pPr>
            <a:r>
              <a:rPr sz="2200" b="0">
                <a:solidFill>
                  <a:srgbClr val="1F2421"/>
                </a:solidFill>
                <a:latin typeface="Times New Roman"/>
              </a:rPr>
              <a:t>Accurate, but need an analyst to prepare data and choose tests.</a:t>
            </a:r>
          </a:p>
        </p:txBody>
      </p:sp>
      <p:sp>
        <p:nvSpPr>
          <p:cNvPr id="12" name="TextBox 11"/>
          <p:cNvSpPr txBox="1"/>
          <p:nvPr/>
        </p:nvSpPr>
        <p:spPr>
          <a:xfrm>
            <a:off x="502920" y="4846320"/>
            <a:ext cx="11186160" cy="1097280"/>
          </a:xfrm>
          <a:prstGeom prst="rect">
            <a:avLst/>
          </a:prstGeom>
          <a:noFill/>
        </p:spPr>
        <p:txBody>
          <a:bodyPr wrap="square" anchor="t">
            <a:spAutoFit/>
          </a:bodyPr>
          <a:lstStyle/>
          <a:p>
            <a:pPr algn="ctr">
              <a:spcAft>
                <a:spcPts val="600"/>
              </a:spcAft>
            </a:pPr>
            <a:r>
              <a:rPr sz="2400" b="1">
                <a:solidFill>
                  <a:srgbClr val="2F6F62"/>
                </a:solidFill>
                <a:latin typeface="Times New Roman"/>
              </a:rPr>
              <a:t>Can analysing your data be as easy as asking an assistant, and as trustworthy as a careful analyst?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3</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000" b="1">
                <a:solidFill>
                  <a:srgbClr val="1F2421"/>
                </a:solidFill>
                <a:latin typeface="Times New Roman"/>
              </a:rPr>
              <a:t>Our answer: code computes, AI only writes, everything is checked</a:t>
            </a:r>
          </a:p>
        </p:txBody>
      </p:sp>
      <p:sp>
        <p:nvSpPr>
          <p:cNvPr id="6" name="Rounded Rectangle 5"/>
          <p:cNvSpPr/>
          <p:nvPr/>
        </p:nvSpPr>
        <p:spPr>
          <a:xfrm>
            <a:off x="502920" y="1463040"/>
            <a:ext cx="3611880" cy="2926080"/>
          </a:xfrm>
          <a:prstGeom prst="roundRect">
            <a:avLst>
              <a:gd name="adj" fmla="val 6000"/>
            </a:avLst>
          </a:prstGeom>
          <a:solidFill>
            <a:srgbClr val="EAF2EF"/>
          </a:solidFill>
          <a:ln w="12700">
            <a:solidFill>
              <a:srgbClr val="2F6F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45920"/>
            <a:ext cx="3246120" cy="822960"/>
          </a:xfrm>
          <a:prstGeom prst="rect">
            <a:avLst/>
          </a:prstGeom>
          <a:noFill/>
        </p:spPr>
        <p:txBody>
          <a:bodyPr wrap="square" anchor="t">
            <a:spAutoFit/>
          </a:bodyPr>
          <a:lstStyle/>
          <a:p>
            <a:pPr algn="l">
              <a:spcAft>
                <a:spcPts val="600"/>
              </a:spcAft>
            </a:pPr>
            <a:r>
              <a:rPr sz="2400" b="1">
                <a:solidFill>
                  <a:srgbClr val="2F6F62"/>
                </a:solidFill>
                <a:latin typeface="Times New Roman"/>
              </a:rPr>
              <a:t>Code computes</a:t>
            </a:r>
          </a:p>
        </p:txBody>
      </p:sp>
      <p:sp>
        <p:nvSpPr>
          <p:cNvPr id="8" name="TextBox 7"/>
          <p:cNvSpPr txBox="1"/>
          <p:nvPr/>
        </p:nvSpPr>
        <p:spPr>
          <a:xfrm>
            <a:off x="685800" y="2423160"/>
            <a:ext cx="3246120" cy="1828800"/>
          </a:xfrm>
          <a:prstGeom prst="rect">
            <a:avLst/>
          </a:prstGeom>
          <a:noFill/>
        </p:spPr>
        <p:txBody>
          <a:bodyPr wrap="square" anchor="t">
            <a:spAutoFit/>
          </a:bodyPr>
          <a:lstStyle/>
          <a:p>
            <a:pPr algn="l">
              <a:spcAft>
                <a:spcPts val="600"/>
              </a:spcAft>
            </a:pPr>
            <a:r>
              <a:rPr sz="2200" b="0">
                <a:solidFill>
                  <a:srgbClr val="1F2421"/>
                </a:solidFill>
                <a:latin typeface="Times New Roman"/>
              </a:rPr>
              <a:t>Every statistic, chart value and map value.</a:t>
            </a:r>
          </a:p>
        </p:txBody>
      </p:sp>
      <p:sp>
        <p:nvSpPr>
          <p:cNvPr id="9" name="Rounded Rectangle 8"/>
          <p:cNvSpPr/>
          <p:nvPr/>
        </p:nvSpPr>
        <p:spPr>
          <a:xfrm>
            <a:off x="4297680" y="1463040"/>
            <a:ext cx="3611880" cy="2926080"/>
          </a:xfrm>
          <a:prstGeom prst="roundRect">
            <a:avLst>
              <a:gd name="adj" fmla="val 6000"/>
            </a:avLst>
          </a:prstGeom>
          <a:solidFill>
            <a:srgbClr val="EAF2EF"/>
          </a:solidFill>
          <a:ln w="12700">
            <a:solidFill>
              <a:srgbClr val="2F6F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45920"/>
            <a:ext cx="3246120" cy="822960"/>
          </a:xfrm>
          <a:prstGeom prst="rect">
            <a:avLst/>
          </a:prstGeom>
          <a:noFill/>
        </p:spPr>
        <p:txBody>
          <a:bodyPr wrap="square" anchor="t">
            <a:spAutoFit/>
          </a:bodyPr>
          <a:lstStyle/>
          <a:p>
            <a:pPr algn="l">
              <a:spcAft>
                <a:spcPts val="600"/>
              </a:spcAft>
            </a:pPr>
            <a:r>
              <a:rPr sz="2400" b="1">
                <a:solidFill>
                  <a:srgbClr val="2F6F62"/>
                </a:solidFill>
                <a:latin typeface="Times New Roman"/>
              </a:rPr>
              <a:t>AI only writes</a:t>
            </a:r>
          </a:p>
        </p:txBody>
      </p:sp>
      <p:sp>
        <p:nvSpPr>
          <p:cNvPr id="11" name="TextBox 10"/>
          <p:cNvSpPr txBox="1"/>
          <p:nvPr/>
        </p:nvSpPr>
        <p:spPr>
          <a:xfrm>
            <a:off x="4480560" y="2423160"/>
            <a:ext cx="3246120" cy="1828800"/>
          </a:xfrm>
          <a:prstGeom prst="rect">
            <a:avLst/>
          </a:prstGeom>
          <a:noFill/>
        </p:spPr>
        <p:txBody>
          <a:bodyPr wrap="square" anchor="t">
            <a:spAutoFit/>
          </a:bodyPr>
          <a:lstStyle/>
          <a:p>
            <a:pPr algn="l">
              <a:spcAft>
                <a:spcPts val="600"/>
              </a:spcAft>
            </a:pPr>
            <a:r>
              <a:rPr sz="2200" b="0">
                <a:solidFill>
                  <a:srgbClr val="1F2421"/>
                </a:solidFill>
                <a:latin typeface="Times New Roman"/>
              </a:rPr>
              <a:t>It plans and phrases; it never writes a number.</a:t>
            </a:r>
          </a:p>
        </p:txBody>
      </p:sp>
      <p:sp>
        <p:nvSpPr>
          <p:cNvPr id="12" name="Rounded Rectangle 11"/>
          <p:cNvSpPr/>
          <p:nvPr/>
        </p:nvSpPr>
        <p:spPr>
          <a:xfrm>
            <a:off x="8092440" y="1463040"/>
            <a:ext cx="3611880" cy="2926080"/>
          </a:xfrm>
          <a:prstGeom prst="roundRect">
            <a:avLst>
              <a:gd name="adj" fmla="val 6000"/>
            </a:avLst>
          </a:prstGeom>
          <a:solidFill>
            <a:srgbClr val="EAF2EF"/>
          </a:solidFill>
          <a:ln w="12700">
            <a:solidFill>
              <a:srgbClr val="2F6F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0" y="1645920"/>
            <a:ext cx="3246120" cy="822960"/>
          </a:xfrm>
          <a:prstGeom prst="rect">
            <a:avLst/>
          </a:prstGeom>
          <a:noFill/>
        </p:spPr>
        <p:txBody>
          <a:bodyPr wrap="square" anchor="t">
            <a:spAutoFit/>
          </a:bodyPr>
          <a:lstStyle/>
          <a:p>
            <a:pPr algn="l">
              <a:spcAft>
                <a:spcPts val="600"/>
              </a:spcAft>
            </a:pPr>
            <a:r>
              <a:rPr sz="2400" b="1">
                <a:solidFill>
                  <a:srgbClr val="2F6F62"/>
                </a:solidFill>
                <a:latin typeface="Times New Roman"/>
              </a:rPr>
              <a:t>Everything is checked</a:t>
            </a:r>
          </a:p>
        </p:txBody>
      </p:sp>
      <p:sp>
        <p:nvSpPr>
          <p:cNvPr id="14" name="TextBox 13"/>
          <p:cNvSpPr txBox="1"/>
          <p:nvPr/>
        </p:nvSpPr>
        <p:spPr>
          <a:xfrm>
            <a:off x="8275320" y="2423160"/>
            <a:ext cx="3246120" cy="1828800"/>
          </a:xfrm>
          <a:prstGeom prst="rect">
            <a:avLst/>
          </a:prstGeom>
          <a:noFill/>
        </p:spPr>
        <p:txBody>
          <a:bodyPr wrap="square" anchor="t">
            <a:spAutoFit/>
          </a:bodyPr>
          <a:lstStyle/>
          <a:p>
            <a:pPr algn="l">
              <a:spcAft>
                <a:spcPts val="600"/>
              </a:spcAft>
            </a:pPr>
            <a:r>
              <a:rPr sz="2200" b="0">
                <a:solidFill>
                  <a:srgbClr val="1F2421"/>
                </a:solidFill>
                <a:latin typeface="Times New Roman"/>
              </a:rPr>
              <a:t>Every sentence verified; every chart value recomputed.</a:t>
            </a:r>
          </a:p>
        </p:txBody>
      </p:sp>
      <p:sp>
        <p:nvSpPr>
          <p:cNvPr id="15" name="TextBox 14"/>
          <p:cNvSpPr txBox="1"/>
          <p:nvPr/>
        </p:nvSpPr>
        <p:spPr>
          <a:xfrm>
            <a:off x="502920" y="4846320"/>
            <a:ext cx="11186160" cy="822960"/>
          </a:xfrm>
          <a:prstGeom prst="rect">
            <a:avLst/>
          </a:prstGeom>
          <a:noFill/>
        </p:spPr>
        <p:txBody>
          <a:bodyPr wrap="square" anchor="t">
            <a:spAutoFit/>
          </a:bodyPr>
          <a:lstStyle/>
          <a:p>
            <a:pPr algn="ctr">
              <a:spcAft>
                <a:spcPts val="600"/>
              </a:spcAft>
            </a:pPr>
            <a:r>
              <a:rPr sz="2600" b="1">
                <a:solidFill>
                  <a:srgbClr val="2F6F62"/>
                </a:solidFill>
                <a:latin typeface="Times New Roman"/>
              </a:rPr>
              <a:t>Raw rows never reach an AI model. Works fully without 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4</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400" b="1">
                <a:solidFill>
                  <a:srgbClr val="1F2421"/>
                </a:solidFill>
                <a:latin typeface="Times New Roman"/>
              </a:rPr>
              <a:t>How it is built</a:t>
            </a:r>
          </a:p>
        </p:txBody>
      </p:sp>
      <p:pic>
        <p:nvPicPr>
          <p:cNvPr id="6" name="Picture 5" descr="D02.png"/>
          <p:cNvPicPr>
            <a:picLocks noChangeAspect="1"/>
          </p:cNvPicPr>
          <p:nvPr/>
        </p:nvPicPr>
        <p:blipFill>
          <a:blip r:embed="rId2"/>
          <a:stretch>
            <a:fillRect/>
          </a:stretch>
        </p:blipFill>
        <p:spPr>
          <a:xfrm>
            <a:off x="898151" y="1280160"/>
            <a:ext cx="4970257" cy="4754880"/>
          </a:xfrm>
          <a:prstGeom prst="rect">
            <a:avLst/>
          </a:prstGeom>
          <a:ln w="9525">
            <a:solidFill>
              <a:srgbClr val="DEDCD6"/>
            </a:solidFill>
          </a:ln>
        </p:spPr>
      </p:pic>
      <p:sp>
        <p:nvSpPr>
          <p:cNvPr id="7" name="TextBox 6"/>
          <p:cNvSpPr txBox="1"/>
          <p:nvPr/>
        </p:nvSpPr>
        <p:spPr>
          <a:xfrm>
            <a:off x="6583680" y="1554480"/>
            <a:ext cx="5120640" cy="4114800"/>
          </a:xfrm>
          <a:prstGeom prst="rect">
            <a:avLst/>
          </a:prstGeom>
          <a:noFill/>
        </p:spPr>
        <p:txBody>
          <a:bodyPr wrap="square" anchor="t">
            <a:spAutoFit/>
          </a:bodyPr>
          <a:lstStyle/>
          <a:p>
            <a:pPr algn="l">
              <a:spcAft>
                <a:spcPts val="1400"/>
              </a:spcAft>
            </a:pPr>
            <a:r>
              <a:rPr sz="2400" b="0">
                <a:solidFill>
                  <a:srgbClr val="1F2421"/>
                </a:solidFill>
                <a:latin typeface="Times New Roman"/>
              </a:rPr>
              <a:t>•  One codebase, three processes, two stores</a:t>
            </a:r>
          </a:p>
          <a:p>
            <a:pPr algn="l">
              <a:spcAft>
                <a:spcPts val="1400"/>
              </a:spcAft>
            </a:pPr>
            <a:r>
              <a:rPr sz="2400" b="0">
                <a:solidFill>
                  <a:srgbClr val="1F2421"/>
                </a:solidFill>
                <a:latin typeface="Times New Roman"/>
              </a:rPr>
              <a:t>•  Files go straight to storage</a:t>
            </a:r>
          </a:p>
          <a:p>
            <a:pPr algn="l">
              <a:spcAft>
                <a:spcPts val="1400"/>
              </a:spcAft>
            </a:pPr>
            <a:r>
              <a:rPr sz="2400" b="0">
                <a:solidFill>
                  <a:srgbClr val="1F2421"/>
                </a:solidFill>
                <a:latin typeface="Times New Roman"/>
              </a:rPr>
              <a:t>•  The database also runs the job queue</a:t>
            </a:r>
          </a:p>
          <a:p>
            <a:pPr algn="l">
              <a:spcAft>
                <a:spcPts val="1400"/>
              </a:spcAft>
            </a:pPr>
            <a:r>
              <a:rPr sz="2400" b="0">
                <a:solidFill>
                  <a:srgbClr val="1F2421"/>
                </a:solidFill>
                <a:latin typeface="Times New Roman"/>
              </a:rPr>
              <a:t>•  AI optional; sees masked metadata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5</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400" b="1">
                <a:solidFill>
                  <a:srgbClr val="1F2421"/>
                </a:solidFill>
                <a:latin typeface="Times New Roman"/>
              </a:rPr>
              <a:t>What you will see</a:t>
            </a:r>
          </a:p>
        </p:txBody>
      </p:sp>
      <p:sp>
        <p:nvSpPr>
          <p:cNvPr id="6" name="Oval 5"/>
          <p:cNvSpPr/>
          <p:nvPr/>
        </p:nvSpPr>
        <p:spPr>
          <a:xfrm>
            <a:off x="993140" y="1828800"/>
            <a:ext cx="731520" cy="731520"/>
          </a:xfrm>
          <a:prstGeom prst="ellipse">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CFCFA"/>
                </a:solidFill>
                <a:latin typeface="Times New Roman"/>
              </a:rPr>
              <a:t>1</a:t>
            </a:r>
          </a:p>
        </p:txBody>
      </p:sp>
      <p:sp>
        <p:nvSpPr>
          <p:cNvPr id="7" name="TextBox 6"/>
          <p:cNvSpPr txBox="1"/>
          <p:nvPr/>
        </p:nvSpPr>
        <p:spPr>
          <a:xfrm>
            <a:off x="502920" y="2743200"/>
            <a:ext cx="1711960" cy="1828800"/>
          </a:xfrm>
          <a:prstGeom prst="rect">
            <a:avLst/>
          </a:prstGeom>
          <a:noFill/>
        </p:spPr>
        <p:txBody>
          <a:bodyPr wrap="square" anchor="t">
            <a:spAutoFit/>
          </a:bodyPr>
          <a:lstStyle/>
          <a:p>
            <a:pPr algn="ctr">
              <a:spcAft>
                <a:spcPts val="600"/>
              </a:spcAft>
            </a:pPr>
            <a:r>
              <a:rPr sz="2000" b="0">
                <a:solidFill>
                  <a:srgbClr val="1F2421"/>
                </a:solidFill>
                <a:latin typeface="Times New Roman"/>
              </a:rPr>
              <a:t>Upload the Zomato restaurants file</a:t>
            </a:r>
          </a:p>
        </p:txBody>
      </p:sp>
      <p:sp>
        <p:nvSpPr>
          <p:cNvPr id="8" name="Oval 7"/>
          <p:cNvSpPr/>
          <p:nvPr/>
        </p:nvSpPr>
        <p:spPr>
          <a:xfrm>
            <a:off x="2887980" y="1828800"/>
            <a:ext cx="731520" cy="731520"/>
          </a:xfrm>
          <a:prstGeom prst="ellipse">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CFCFA"/>
                </a:solidFill>
                <a:latin typeface="Times New Roman"/>
              </a:rPr>
              <a:t>2</a:t>
            </a:r>
          </a:p>
        </p:txBody>
      </p:sp>
      <p:sp>
        <p:nvSpPr>
          <p:cNvPr id="9" name="TextBox 8"/>
          <p:cNvSpPr txBox="1"/>
          <p:nvPr/>
        </p:nvSpPr>
        <p:spPr>
          <a:xfrm>
            <a:off x="2397760" y="2743200"/>
            <a:ext cx="1711960" cy="1828800"/>
          </a:xfrm>
          <a:prstGeom prst="rect">
            <a:avLst/>
          </a:prstGeom>
          <a:noFill/>
        </p:spPr>
        <p:txBody>
          <a:bodyPr wrap="square" anchor="t">
            <a:spAutoFit/>
          </a:bodyPr>
          <a:lstStyle/>
          <a:p>
            <a:pPr algn="ctr">
              <a:spcAft>
                <a:spcPts val="600"/>
              </a:spcAft>
            </a:pPr>
            <a:r>
              <a:rPr sz="2000" b="0">
                <a:solidFill>
                  <a:srgbClr val="1F2421"/>
                </a:solidFill>
                <a:latin typeface="Times New Roman"/>
              </a:rPr>
              <a:t>Review one cleaning change</a:t>
            </a:r>
          </a:p>
        </p:txBody>
      </p:sp>
      <p:sp>
        <p:nvSpPr>
          <p:cNvPr id="10" name="Oval 9"/>
          <p:cNvSpPr/>
          <p:nvPr/>
        </p:nvSpPr>
        <p:spPr>
          <a:xfrm>
            <a:off x="4782820" y="1828800"/>
            <a:ext cx="731520" cy="731520"/>
          </a:xfrm>
          <a:prstGeom prst="ellipse">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CFCFA"/>
                </a:solidFill>
                <a:latin typeface="Times New Roman"/>
              </a:rPr>
              <a:t>3</a:t>
            </a:r>
          </a:p>
        </p:txBody>
      </p:sp>
      <p:sp>
        <p:nvSpPr>
          <p:cNvPr id="11" name="TextBox 10"/>
          <p:cNvSpPr txBox="1"/>
          <p:nvPr/>
        </p:nvSpPr>
        <p:spPr>
          <a:xfrm>
            <a:off x="4292600" y="2743200"/>
            <a:ext cx="1711960" cy="1828800"/>
          </a:xfrm>
          <a:prstGeom prst="rect">
            <a:avLst/>
          </a:prstGeom>
          <a:noFill/>
        </p:spPr>
        <p:txBody>
          <a:bodyPr wrap="square" anchor="t">
            <a:spAutoFit/>
          </a:bodyPr>
          <a:lstStyle/>
          <a:p>
            <a:pPr algn="ctr">
              <a:spcAft>
                <a:spcPts val="600"/>
              </a:spcAft>
            </a:pPr>
            <a:r>
              <a:rPr sz="2000" b="0">
                <a:solidFill>
                  <a:srgbClr val="1F2421"/>
                </a:solidFill>
                <a:latin typeface="Times New Roman"/>
              </a:rPr>
              <a:t>Watch 12 checked steps live</a:t>
            </a:r>
          </a:p>
        </p:txBody>
      </p:sp>
      <p:sp>
        <p:nvSpPr>
          <p:cNvPr id="12" name="Oval 11"/>
          <p:cNvSpPr/>
          <p:nvPr/>
        </p:nvSpPr>
        <p:spPr>
          <a:xfrm>
            <a:off x="6677660" y="1828800"/>
            <a:ext cx="731520" cy="731520"/>
          </a:xfrm>
          <a:prstGeom prst="ellipse">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CFCFA"/>
                </a:solidFill>
                <a:latin typeface="Times New Roman"/>
              </a:rPr>
              <a:t>4</a:t>
            </a:r>
          </a:p>
        </p:txBody>
      </p:sp>
      <p:sp>
        <p:nvSpPr>
          <p:cNvPr id="13" name="TextBox 12"/>
          <p:cNvSpPr txBox="1"/>
          <p:nvPr/>
        </p:nvSpPr>
        <p:spPr>
          <a:xfrm>
            <a:off x="6187440" y="2743200"/>
            <a:ext cx="1711960" cy="1828800"/>
          </a:xfrm>
          <a:prstGeom prst="rect">
            <a:avLst/>
          </a:prstGeom>
          <a:noFill/>
        </p:spPr>
        <p:txBody>
          <a:bodyPr wrap="square" anchor="t">
            <a:spAutoFit/>
          </a:bodyPr>
          <a:lstStyle/>
          <a:p>
            <a:pPr algn="ctr">
              <a:spcAft>
                <a:spcPts val="600"/>
              </a:spcAft>
            </a:pPr>
            <a:r>
              <a:rPr sz="2000" b="0">
                <a:solidFill>
                  <a:srgbClr val="1F2421"/>
                </a:solidFill>
                <a:latin typeface="Times New Roman"/>
              </a:rPr>
              <a:t>Open a source chip in the report</a:t>
            </a:r>
          </a:p>
        </p:txBody>
      </p:sp>
      <p:sp>
        <p:nvSpPr>
          <p:cNvPr id="14" name="Oval 13"/>
          <p:cNvSpPr/>
          <p:nvPr/>
        </p:nvSpPr>
        <p:spPr>
          <a:xfrm>
            <a:off x="8572500" y="1828800"/>
            <a:ext cx="731520" cy="731520"/>
          </a:xfrm>
          <a:prstGeom prst="ellipse">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CFCFA"/>
                </a:solidFill>
                <a:latin typeface="Times New Roman"/>
              </a:rPr>
              <a:t>5</a:t>
            </a:r>
          </a:p>
        </p:txBody>
      </p:sp>
      <p:sp>
        <p:nvSpPr>
          <p:cNvPr id="15" name="TextBox 14"/>
          <p:cNvSpPr txBox="1"/>
          <p:nvPr/>
        </p:nvSpPr>
        <p:spPr>
          <a:xfrm>
            <a:off x="8082280" y="2743200"/>
            <a:ext cx="1711960" cy="1828800"/>
          </a:xfrm>
          <a:prstGeom prst="rect">
            <a:avLst/>
          </a:prstGeom>
          <a:noFill/>
        </p:spPr>
        <p:txBody>
          <a:bodyPr wrap="square" anchor="t">
            <a:spAutoFit/>
          </a:bodyPr>
          <a:lstStyle/>
          <a:p>
            <a:pPr algn="ctr">
              <a:spcAft>
                <a:spcPts val="600"/>
              </a:spcAft>
            </a:pPr>
            <a:r>
              <a:rPr sz="2000" b="0">
                <a:solidFill>
                  <a:srgbClr val="1F2421"/>
                </a:solidFill>
                <a:latin typeface="Times New Roman"/>
              </a:rPr>
              <a:t>Dashboard, map and See the data</a:t>
            </a:r>
          </a:p>
        </p:txBody>
      </p:sp>
      <p:sp>
        <p:nvSpPr>
          <p:cNvPr id="16" name="Oval 15"/>
          <p:cNvSpPr/>
          <p:nvPr/>
        </p:nvSpPr>
        <p:spPr>
          <a:xfrm>
            <a:off x="10467340" y="1828800"/>
            <a:ext cx="731520" cy="731520"/>
          </a:xfrm>
          <a:prstGeom prst="ellipse">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CFCFA"/>
                </a:solidFill>
                <a:latin typeface="Times New Roman"/>
              </a:rPr>
              <a:t>6</a:t>
            </a:r>
          </a:p>
        </p:txBody>
      </p:sp>
      <p:sp>
        <p:nvSpPr>
          <p:cNvPr id="17" name="TextBox 16"/>
          <p:cNvSpPr txBox="1"/>
          <p:nvPr/>
        </p:nvSpPr>
        <p:spPr>
          <a:xfrm>
            <a:off x="9977120" y="2743200"/>
            <a:ext cx="1711960" cy="1828800"/>
          </a:xfrm>
          <a:prstGeom prst="rect">
            <a:avLst/>
          </a:prstGeom>
          <a:noFill/>
        </p:spPr>
        <p:txBody>
          <a:bodyPr wrap="square" anchor="t">
            <a:spAutoFit/>
          </a:bodyPr>
          <a:lstStyle/>
          <a:p>
            <a:pPr algn="ctr">
              <a:spcAft>
                <a:spcPts val="600"/>
              </a:spcAft>
            </a:pPr>
            <a:r>
              <a:rPr sz="2000" b="0">
                <a:solidFill>
                  <a:srgbClr val="1F2421"/>
                </a:solidFill>
                <a:latin typeface="Times New Roman"/>
              </a:rPr>
              <a:t>Download, dark theme and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6</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400" b="1">
                <a:solidFill>
                  <a:srgbClr val="1F2421"/>
                </a:solidFill>
                <a:latin typeface="Times New Roman"/>
              </a:rPr>
              <a:t>Honest limits and what comes next</a:t>
            </a:r>
          </a:p>
        </p:txBody>
      </p:sp>
      <p:sp>
        <p:nvSpPr>
          <p:cNvPr id="6" name="Rounded Rectangle 5"/>
          <p:cNvSpPr/>
          <p:nvPr/>
        </p:nvSpPr>
        <p:spPr>
          <a:xfrm>
            <a:off x="502920" y="1371600"/>
            <a:ext cx="5486400" cy="4389120"/>
          </a:xfrm>
          <a:prstGeom prst="roundRect">
            <a:avLst>
              <a:gd name="adj" fmla="val 6000"/>
            </a:avLst>
          </a:prstGeom>
          <a:solidFill>
            <a:srgbClr val="EAF2EF"/>
          </a:solidFill>
          <a:ln w="12700">
            <a:solidFill>
              <a:srgbClr val="2F6F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54480"/>
            <a:ext cx="5120640" cy="822960"/>
          </a:xfrm>
          <a:prstGeom prst="rect">
            <a:avLst/>
          </a:prstGeom>
          <a:noFill/>
        </p:spPr>
        <p:txBody>
          <a:bodyPr wrap="square" anchor="t">
            <a:spAutoFit/>
          </a:bodyPr>
          <a:lstStyle/>
          <a:p>
            <a:pPr algn="l">
              <a:spcAft>
                <a:spcPts val="600"/>
              </a:spcAft>
            </a:pPr>
            <a:r>
              <a:rPr sz="2200" b="1">
                <a:solidFill>
                  <a:srgbClr val="2F6F62"/>
                </a:solidFill>
                <a:latin typeface="Times New Roman"/>
              </a:rPr>
              <a:t>Today</a:t>
            </a:r>
          </a:p>
        </p:txBody>
      </p:sp>
      <p:sp>
        <p:nvSpPr>
          <p:cNvPr id="8" name="TextBox 7"/>
          <p:cNvSpPr txBox="1"/>
          <p:nvPr/>
        </p:nvSpPr>
        <p:spPr>
          <a:xfrm>
            <a:off x="685800" y="2331720"/>
            <a:ext cx="5120640" cy="3291840"/>
          </a:xfrm>
          <a:prstGeom prst="rect">
            <a:avLst/>
          </a:prstGeom>
          <a:noFill/>
        </p:spPr>
        <p:txBody>
          <a:bodyPr wrap="square" anchor="t">
            <a:spAutoFit/>
          </a:bodyPr>
          <a:lstStyle/>
          <a:p>
            <a:pPr algn="l">
              <a:spcAft>
                <a:spcPts val="600"/>
              </a:spcAft>
            </a:pPr>
            <a:r>
              <a:rPr sz="2000" b="0">
                <a:solidFill>
                  <a:srgbClr val="1F2421"/>
                </a:solidFill>
                <a:latin typeface="Times New Roman"/>
              </a:rPr>
              <a:t>• Rare formats can trip automatic cleaning: use Manual review
• One small server, one analysis at a time
• No plain-language questions yet</a:t>
            </a:r>
          </a:p>
        </p:txBody>
      </p:sp>
      <p:sp>
        <p:nvSpPr>
          <p:cNvPr id="9" name="Rounded Rectangle 8"/>
          <p:cNvSpPr/>
          <p:nvPr/>
        </p:nvSpPr>
        <p:spPr>
          <a:xfrm>
            <a:off x="6217920" y="1371600"/>
            <a:ext cx="5486400" cy="4389120"/>
          </a:xfrm>
          <a:prstGeom prst="roundRect">
            <a:avLst>
              <a:gd name="adj" fmla="val 6000"/>
            </a:avLst>
          </a:prstGeom>
          <a:solidFill>
            <a:srgbClr val="EAF2EF"/>
          </a:solidFill>
          <a:ln w="12700">
            <a:solidFill>
              <a:srgbClr val="2F6F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554480"/>
            <a:ext cx="5120640" cy="822960"/>
          </a:xfrm>
          <a:prstGeom prst="rect">
            <a:avLst/>
          </a:prstGeom>
          <a:noFill/>
        </p:spPr>
        <p:txBody>
          <a:bodyPr wrap="square" anchor="t">
            <a:spAutoFit/>
          </a:bodyPr>
          <a:lstStyle/>
          <a:p>
            <a:pPr algn="l">
              <a:spcAft>
                <a:spcPts val="600"/>
              </a:spcAft>
            </a:pPr>
            <a:r>
              <a:rPr sz="2200" b="1">
                <a:solidFill>
                  <a:srgbClr val="2F6F62"/>
                </a:solidFill>
                <a:latin typeface="Times New Roman"/>
              </a:rPr>
              <a:t>Next</a:t>
            </a:r>
          </a:p>
        </p:txBody>
      </p:sp>
      <p:sp>
        <p:nvSpPr>
          <p:cNvPr id="11" name="TextBox 10"/>
          <p:cNvSpPr txBox="1"/>
          <p:nvPr/>
        </p:nvSpPr>
        <p:spPr>
          <a:xfrm>
            <a:off x="6400800" y="2331720"/>
            <a:ext cx="5120640" cy="3291840"/>
          </a:xfrm>
          <a:prstGeom prst="rect">
            <a:avLst/>
          </a:prstGeom>
          <a:noFill/>
        </p:spPr>
        <p:txBody>
          <a:bodyPr wrap="square" anchor="t">
            <a:spAutoFit/>
          </a:bodyPr>
          <a:lstStyle/>
          <a:p>
            <a:pPr algn="l">
              <a:spcAft>
                <a:spcPts val="600"/>
              </a:spcAft>
            </a:pPr>
            <a:r>
              <a:rPr sz="2000" b="0">
                <a:solidFill>
                  <a:srgbClr val="1F2421"/>
                </a:solidFill>
                <a:latin typeface="Times New Roman"/>
              </a:rPr>
              <a:t>• Release 1 alpha, 11 Dec 2026: ask questions in plain language; safer cleaning; monitoring
• Release 2 beta, 12 Mar 2027: team workspaces, shared reports
• General availability, 9 Apr 2027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7</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400" b="1">
                <a:solidFill>
                  <a:srgbClr val="1F2421"/>
                </a:solidFill>
                <a:latin typeface="Times New Roman"/>
              </a:rPr>
              <a:t>Thank you</a:t>
            </a:r>
          </a:p>
        </p:txBody>
      </p:sp>
      <p:sp>
        <p:nvSpPr>
          <p:cNvPr id="6" name="TextBox 5"/>
          <p:cNvSpPr txBox="1"/>
          <p:nvPr/>
        </p:nvSpPr>
        <p:spPr>
          <a:xfrm>
            <a:off x="502920" y="1463040"/>
            <a:ext cx="2659380" cy="914400"/>
          </a:xfrm>
          <a:prstGeom prst="rect">
            <a:avLst/>
          </a:prstGeom>
          <a:noFill/>
        </p:spPr>
        <p:txBody>
          <a:bodyPr wrap="square" anchor="t">
            <a:spAutoFit/>
          </a:bodyPr>
          <a:lstStyle/>
          <a:p>
            <a:pPr algn="ctr">
              <a:spcAft>
                <a:spcPts val="600"/>
              </a:spcAft>
            </a:pPr>
            <a:r>
              <a:rPr sz="4000" b="1">
                <a:solidFill>
                  <a:srgbClr val="2F6F62"/>
                </a:solidFill>
                <a:latin typeface="Times New Roman"/>
              </a:rPr>
              <a:t>14 s</a:t>
            </a:r>
          </a:p>
        </p:txBody>
      </p:sp>
      <p:sp>
        <p:nvSpPr>
          <p:cNvPr id="7" name="TextBox 6"/>
          <p:cNvSpPr txBox="1"/>
          <p:nvPr/>
        </p:nvSpPr>
        <p:spPr>
          <a:xfrm>
            <a:off x="502920" y="2377440"/>
            <a:ext cx="2659380" cy="914400"/>
          </a:xfrm>
          <a:prstGeom prst="rect">
            <a:avLst/>
          </a:prstGeom>
          <a:noFill/>
        </p:spPr>
        <p:txBody>
          <a:bodyPr wrap="square" anchor="t">
            <a:spAutoFit/>
          </a:bodyPr>
          <a:lstStyle/>
          <a:p>
            <a:pPr algn="ctr">
              <a:spcAft>
                <a:spcPts val="600"/>
              </a:spcAft>
            </a:pPr>
            <a:r>
              <a:rPr sz="1800" b="0">
                <a:solidFill>
                  <a:srgbClr val="5E625E"/>
                </a:solidFill>
                <a:latin typeface="Times New Roman"/>
              </a:rPr>
              <a:t>upload to report, 5,000 rows</a:t>
            </a:r>
          </a:p>
        </p:txBody>
      </p:sp>
      <p:sp>
        <p:nvSpPr>
          <p:cNvPr id="8" name="TextBox 7"/>
          <p:cNvSpPr txBox="1"/>
          <p:nvPr/>
        </p:nvSpPr>
        <p:spPr>
          <a:xfrm>
            <a:off x="3345180" y="1463040"/>
            <a:ext cx="2659380" cy="914400"/>
          </a:xfrm>
          <a:prstGeom prst="rect">
            <a:avLst/>
          </a:prstGeom>
          <a:noFill/>
        </p:spPr>
        <p:txBody>
          <a:bodyPr wrap="square" anchor="t">
            <a:spAutoFit/>
          </a:bodyPr>
          <a:lstStyle/>
          <a:p>
            <a:pPr algn="ctr">
              <a:spcAft>
                <a:spcPts val="600"/>
              </a:spcAft>
            </a:pPr>
            <a:r>
              <a:rPr sz="4000" b="1">
                <a:solidFill>
                  <a:srgbClr val="2F6F62"/>
                </a:solidFill>
                <a:latin typeface="Times New Roman"/>
              </a:rPr>
              <a:t>0 of 22</a:t>
            </a:r>
          </a:p>
        </p:txBody>
      </p:sp>
      <p:sp>
        <p:nvSpPr>
          <p:cNvPr id="9" name="TextBox 8"/>
          <p:cNvSpPr txBox="1"/>
          <p:nvPr/>
        </p:nvSpPr>
        <p:spPr>
          <a:xfrm>
            <a:off x="3345180" y="2377440"/>
            <a:ext cx="2659380" cy="914400"/>
          </a:xfrm>
          <a:prstGeom prst="rect">
            <a:avLst/>
          </a:prstGeom>
          <a:noFill/>
        </p:spPr>
        <p:txBody>
          <a:bodyPr wrap="square" anchor="t">
            <a:spAutoFit/>
          </a:bodyPr>
          <a:lstStyle/>
          <a:p>
            <a:pPr algn="ctr">
              <a:spcAft>
                <a:spcPts val="600"/>
              </a:spcAft>
            </a:pPr>
            <a:r>
              <a:rPr sz="1800" b="0">
                <a:solidFill>
                  <a:srgbClr val="5E625E"/>
                </a:solidFill>
                <a:latin typeface="Times New Roman"/>
              </a:rPr>
              <a:t>cross-tenant attacks succeeded</a:t>
            </a:r>
          </a:p>
        </p:txBody>
      </p:sp>
      <p:sp>
        <p:nvSpPr>
          <p:cNvPr id="10" name="TextBox 9"/>
          <p:cNvSpPr txBox="1"/>
          <p:nvPr/>
        </p:nvSpPr>
        <p:spPr>
          <a:xfrm>
            <a:off x="6187440" y="1463040"/>
            <a:ext cx="2659380" cy="914400"/>
          </a:xfrm>
          <a:prstGeom prst="rect">
            <a:avLst/>
          </a:prstGeom>
          <a:noFill/>
        </p:spPr>
        <p:txBody>
          <a:bodyPr wrap="square" anchor="t">
            <a:spAutoFit/>
          </a:bodyPr>
          <a:lstStyle/>
          <a:p>
            <a:pPr algn="ctr">
              <a:spcAft>
                <a:spcPts val="600"/>
              </a:spcAft>
            </a:pPr>
            <a:r>
              <a:rPr sz="4000" b="1">
                <a:solidFill>
                  <a:srgbClr val="2F6F62"/>
                </a:solidFill>
                <a:latin typeface="Times New Roman"/>
              </a:rPr>
              <a:t>31 of 31</a:t>
            </a:r>
          </a:p>
        </p:txBody>
      </p:sp>
      <p:sp>
        <p:nvSpPr>
          <p:cNvPr id="11" name="TextBox 10"/>
          <p:cNvSpPr txBox="1"/>
          <p:nvPr/>
        </p:nvSpPr>
        <p:spPr>
          <a:xfrm>
            <a:off x="6187440" y="2377440"/>
            <a:ext cx="2659380" cy="914400"/>
          </a:xfrm>
          <a:prstGeom prst="rect">
            <a:avLst/>
          </a:prstGeom>
          <a:noFill/>
        </p:spPr>
        <p:txBody>
          <a:bodyPr wrap="square" anchor="t">
            <a:spAutoFit/>
          </a:bodyPr>
          <a:lstStyle/>
          <a:p>
            <a:pPr algn="ctr">
              <a:spcAft>
                <a:spcPts val="600"/>
              </a:spcAft>
            </a:pPr>
            <a:r>
              <a:rPr sz="1800" b="0">
                <a:solidFill>
                  <a:srgbClr val="5E625E"/>
                </a:solidFill>
                <a:latin typeface="Times New Roman"/>
              </a:rPr>
              <a:t>planted errors rejected</a:t>
            </a:r>
          </a:p>
        </p:txBody>
      </p:sp>
      <p:sp>
        <p:nvSpPr>
          <p:cNvPr id="12" name="TextBox 11"/>
          <p:cNvSpPr txBox="1"/>
          <p:nvPr/>
        </p:nvSpPr>
        <p:spPr>
          <a:xfrm>
            <a:off x="9029700" y="1463040"/>
            <a:ext cx="2659380" cy="914400"/>
          </a:xfrm>
          <a:prstGeom prst="rect">
            <a:avLst/>
          </a:prstGeom>
          <a:noFill/>
        </p:spPr>
        <p:txBody>
          <a:bodyPr wrap="square" anchor="t">
            <a:spAutoFit/>
          </a:bodyPr>
          <a:lstStyle/>
          <a:p>
            <a:pPr algn="ctr">
              <a:spcAft>
                <a:spcPts val="600"/>
              </a:spcAft>
            </a:pPr>
            <a:r>
              <a:rPr sz="4000" b="1">
                <a:solidFill>
                  <a:srgbClr val="2F6F62"/>
                </a:solidFill>
                <a:latin typeface="Times New Roman"/>
              </a:rPr>
              <a:t>US$0</a:t>
            </a:r>
          </a:p>
        </p:txBody>
      </p:sp>
      <p:sp>
        <p:nvSpPr>
          <p:cNvPr id="13" name="TextBox 12"/>
          <p:cNvSpPr txBox="1"/>
          <p:nvPr/>
        </p:nvSpPr>
        <p:spPr>
          <a:xfrm>
            <a:off x="9029700" y="2377440"/>
            <a:ext cx="2659380" cy="914400"/>
          </a:xfrm>
          <a:prstGeom prst="rect">
            <a:avLst/>
          </a:prstGeom>
          <a:noFill/>
        </p:spPr>
        <p:txBody>
          <a:bodyPr wrap="square" anchor="t">
            <a:spAutoFit/>
          </a:bodyPr>
          <a:lstStyle/>
          <a:p>
            <a:pPr algn="ctr">
              <a:spcAft>
                <a:spcPts val="600"/>
              </a:spcAft>
            </a:pPr>
            <a:r>
              <a:rPr sz="1800" b="0">
                <a:solidFill>
                  <a:srgbClr val="5E625E"/>
                </a:solidFill>
                <a:latin typeface="Times New Roman"/>
              </a:rPr>
              <a:t>model cost on the live site</a:t>
            </a:r>
          </a:p>
        </p:txBody>
      </p:sp>
      <p:sp>
        <p:nvSpPr>
          <p:cNvPr id="14" name="TextBox 13"/>
          <p:cNvSpPr txBox="1"/>
          <p:nvPr/>
        </p:nvSpPr>
        <p:spPr>
          <a:xfrm>
            <a:off x="502920" y="3840480"/>
            <a:ext cx="11186160" cy="1828800"/>
          </a:xfrm>
          <a:prstGeom prst="rect">
            <a:avLst/>
          </a:prstGeom>
          <a:noFill/>
        </p:spPr>
        <p:txBody>
          <a:bodyPr wrap="square" anchor="t">
            <a:spAutoFit/>
          </a:bodyPr>
          <a:lstStyle/>
          <a:p>
            <a:pPr algn="ctr">
              <a:spcAft>
                <a:spcPts val="600"/>
              </a:spcAft>
            </a:pPr>
            <a:r>
              <a:rPr sz="2400" b="0">
                <a:solidFill>
                  <a:srgbClr val="1F2421"/>
                </a:solidFill>
                <a:latin typeface="Times New Roman"/>
              </a:rPr>
              <a:t>Live: app.ic.rgproject.me</a:t>
            </a:r>
          </a:p>
          <a:p>
            <a:pPr algn="ctr">
              <a:spcAft>
                <a:spcPts val="600"/>
              </a:spcAft>
            </a:pPr>
            <a:r>
              <a:rPr sz="2400" b="0">
                <a:solidFill>
                  <a:srgbClr val="1F2421"/>
                </a:solidFill>
                <a:latin typeface="Times New Roman"/>
              </a:rPr>
              <a:t>Code: github.com/rupeshghimire7/InsightfullCell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8</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000" b="1">
                <a:solidFill>
                  <a:srgbClr val="1F2421"/>
                </a:solidFill>
                <a:latin typeface="Times New Roman"/>
              </a:rPr>
              <a:t>Upload once; duplicates are recognised</a:t>
            </a:r>
          </a:p>
        </p:txBody>
      </p:sp>
      <p:pic>
        <p:nvPicPr>
          <p:cNvPr id="6" name="Picture 5" descr="08-duplicate-notice.png"/>
          <p:cNvPicPr>
            <a:picLocks noChangeAspect="1"/>
          </p:cNvPicPr>
          <p:nvPr/>
        </p:nvPicPr>
        <p:blipFill>
          <a:blip r:embed="rId2"/>
          <a:stretch>
            <a:fillRect/>
          </a:stretch>
        </p:blipFill>
        <p:spPr>
          <a:xfrm>
            <a:off x="2731008" y="1280160"/>
            <a:ext cx="6729984" cy="4206240"/>
          </a:xfrm>
          <a:prstGeom prst="rect">
            <a:avLst/>
          </a:prstGeom>
          <a:ln w="9525">
            <a:solidFill>
              <a:srgbClr val="DEDCD6"/>
            </a:solidFill>
          </a:ln>
        </p:spPr>
      </p:pic>
      <p:sp>
        <p:nvSpPr>
          <p:cNvPr id="7" name="TextBox 6"/>
          <p:cNvSpPr txBox="1"/>
          <p:nvPr/>
        </p:nvSpPr>
        <p:spPr>
          <a:xfrm>
            <a:off x="502920" y="5577840"/>
            <a:ext cx="11186160" cy="457200"/>
          </a:xfrm>
          <a:prstGeom prst="rect">
            <a:avLst/>
          </a:prstGeom>
          <a:noFill/>
        </p:spPr>
        <p:txBody>
          <a:bodyPr wrap="square" anchor="t">
            <a:spAutoFit/>
          </a:bodyPr>
          <a:lstStyle/>
          <a:p>
            <a:pPr algn="ctr">
              <a:spcAft>
                <a:spcPts val="600"/>
              </a:spcAft>
            </a:pPr>
            <a:r>
              <a:rPr sz="2000" b="0">
                <a:solidFill>
                  <a:srgbClr val="5E625E"/>
                </a:solidFill>
                <a:latin typeface="Times New Roman"/>
              </a:rPr>
              <a:t>The same bytes again: nothing new is stored.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9</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000" b="1">
                <a:solidFill>
                  <a:srgbClr val="1F2421"/>
                </a:solidFill>
                <a:latin typeface="Times New Roman"/>
              </a:rPr>
              <a:t>Choose Manual and watch the steps</a:t>
            </a:r>
          </a:p>
        </p:txBody>
      </p:sp>
      <p:pic>
        <p:nvPicPr>
          <p:cNvPr id="6" name="Picture 5" descr="12-analysis-running.png"/>
          <p:cNvPicPr>
            <a:picLocks noChangeAspect="1"/>
          </p:cNvPicPr>
          <p:nvPr/>
        </p:nvPicPr>
        <p:blipFill>
          <a:blip r:embed="rId2"/>
          <a:stretch>
            <a:fillRect/>
          </a:stretch>
        </p:blipFill>
        <p:spPr>
          <a:xfrm>
            <a:off x="2731008" y="1280160"/>
            <a:ext cx="6729984" cy="4206240"/>
          </a:xfrm>
          <a:prstGeom prst="rect">
            <a:avLst/>
          </a:prstGeom>
          <a:ln w="9525">
            <a:solidFill>
              <a:srgbClr val="DEDCD6"/>
            </a:solidFill>
          </a:ln>
        </p:spPr>
      </p:pic>
      <p:sp>
        <p:nvSpPr>
          <p:cNvPr id="7" name="TextBox 6"/>
          <p:cNvSpPr txBox="1"/>
          <p:nvPr/>
        </p:nvSpPr>
        <p:spPr>
          <a:xfrm>
            <a:off x="502920" y="5577840"/>
            <a:ext cx="11186160" cy="457200"/>
          </a:xfrm>
          <a:prstGeom prst="rect">
            <a:avLst/>
          </a:prstGeom>
          <a:noFill/>
        </p:spPr>
        <p:txBody>
          <a:bodyPr wrap="square" anchor="t">
            <a:spAutoFit/>
          </a:bodyPr>
          <a:lstStyle/>
          <a:p>
            <a:pPr algn="ctr">
              <a:spcAft>
                <a:spcPts val="600"/>
              </a:spcAft>
            </a:pPr>
            <a:r>
              <a:rPr sz="2000" b="0">
                <a:solidFill>
                  <a:srgbClr val="5E625E"/>
                </a:solidFill>
                <a:latin typeface="Times New Roman"/>
              </a:rPr>
              <a:t>12 checkpointed steps,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10</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000" b="1">
                <a:solidFill>
                  <a:srgbClr val="1F2421"/>
                </a:solidFill>
                <a:latin typeface="Times New Roman"/>
              </a:rPr>
              <a:t>You decide changes that could lose data</a:t>
            </a:r>
          </a:p>
        </p:txBody>
      </p:sp>
      <p:pic>
        <p:nvPicPr>
          <p:cNvPr id="6" name="Picture 5" descr="14b-keep-as-is.png"/>
          <p:cNvPicPr>
            <a:picLocks noChangeAspect="1"/>
          </p:cNvPicPr>
          <p:nvPr/>
        </p:nvPicPr>
        <p:blipFill>
          <a:blip r:embed="rId2"/>
          <a:stretch>
            <a:fillRect/>
          </a:stretch>
        </p:blipFill>
        <p:spPr>
          <a:xfrm>
            <a:off x="502920" y="2550025"/>
            <a:ext cx="11186160" cy="1666509"/>
          </a:xfrm>
          <a:prstGeom prst="rect">
            <a:avLst/>
          </a:prstGeom>
          <a:ln w="9525">
            <a:solidFill>
              <a:srgbClr val="DEDCD6"/>
            </a:solidFill>
          </a:ln>
        </p:spPr>
      </p:pic>
      <p:sp>
        <p:nvSpPr>
          <p:cNvPr id="7" name="TextBox 6"/>
          <p:cNvSpPr txBox="1"/>
          <p:nvPr/>
        </p:nvSpPr>
        <p:spPr>
          <a:xfrm>
            <a:off x="502920" y="5577840"/>
            <a:ext cx="11186160" cy="457200"/>
          </a:xfrm>
          <a:prstGeom prst="rect">
            <a:avLst/>
          </a:prstGeom>
          <a:noFill/>
        </p:spPr>
        <p:txBody>
          <a:bodyPr wrap="square" anchor="t">
            <a:spAutoFit/>
          </a:bodyPr>
          <a:lstStyle/>
          <a:p>
            <a:pPr algn="ctr">
              <a:spcAft>
                <a:spcPts val="600"/>
              </a:spcAft>
            </a:pPr>
            <a:r>
              <a:rPr sz="2000" b="0">
                <a:solidFill>
                  <a:srgbClr val="5E625E"/>
                </a:solidFill>
                <a:latin typeface="Times New Roman"/>
              </a:rPr>
              <a:t>Mangalore and Bangalore are different cities: Keep as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11</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000" b="1">
                <a:solidFill>
                  <a:srgbClr val="1F2421"/>
                </a:solidFill>
                <a:latin typeface="Times New Roman"/>
              </a:rPr>
              <a:t>Every number opens its evidence</a:t>
            </a:r>
          </a:p>
        </p:txBody>
      </p:sp>
      <p:pic>
        <p:nvPicPr>
          <p:cNvPr id="6" name="Picture 5" descr="20-fact-window.png"/>
          <p:cNvPicPr>
            <a:picLocks noChangeAspect="1"/>
          </p:cNvPicPr>
          <p:nvPr/>
        </p:nvPicPr>
        <p:blipFill>
          <a:blip r:embed="rId2"/>
          <a:stretch>
            <a:fillRect/>
          </a:stretch>
        </p:blipFill>
        <p:spPr>
          <a:xfrm>
            <a:off x="2731008" y="1280160"/>
            <a:ext cx="6729984" cy="4206240"/>
          </a:xfrm>
          <a:prstGeom prst="rect">
            <a:avLst/>
          </a:prstGeom>
          <a:ln w="9525">
            <a:solidFill>
              <a:srgbClr val="DEDCD6"/>
            </a:solidFill>
          </a:ln>
        </p:spPr>
      </p:pic>
      <p:sp>
        <p:nvSpPr>
          <p:cNvPr id="7" name="TextBox 6"/>
          <p:cNvSpPr txBox="1"/>
          <p:nvPr/>
        </p:nvSpPr>
        <p:spPr>
          <a:xfrm>
            <a:off x="502920" y="5577840"/>
            <a:ext cx="11186160" cy="457200"/>
          </a:xfrm>
          <a:prstGeom prst="rect">
            <a:avLst/>
          </a:prstGeom>
          <a:noFill/>
        </p:spPr>
        <p:txBody>
          <a:bodyPr wrap="square" anchor="t">
            <a:spAutoFit/>
          </a:bodyPr>
          <a:lstStyle/>
          <a:p>
            <a:pPr algn="ctr">
              <a:spcAft>
                <a:spcPts val="600"/>
              </a:spcAft>
            </a:pPr>
            <a:r>
              <a:rPr sz="2000" b="0">
                <a:solidFill>
                  <a:srgbClr val="5E625E"/>
                </a:solidFill>
                <a:latin typeface="Times New Roman"/>
              </a:rPr>
              <a:t>Test, rows, interval and content hash.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12</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000" b="1">
                <a:solidFill>
                  <a:srgbClr val="1F2421"/>
                </a:solidFill>
                <a:latin typeface="Times New Roman"/>
              </a:rPr>
              <a:t>Dashboards and maps, every value checked</a:t>
            </a:r>
          </a:p>
        </p:txBody>
      </p:sp>
      <p:pic>
        <p:nvPicPr>
          <p:cNvPr id="6" name="Picture 5" descr="21-dashboard.png"/>
          <p:cNvPicPr>
            <a:picLocks noChangeAspect="1"/>
          </p:cNvPicPr>
          <p:nvPr/>
        </p:nvPicPr>
        <p:blipFill>
          <a:blip r:embed="rId2"/>
          <a:stretch>
            <a:fillRect/>
          </a:stretch>
        </p:blipFill>
        <p:spPr>
          <a:xfrm>
            <a:off x="2731008" y="1280160"/>
            <a:ext cx="6729984" cy="4206240"/>
          </a:xfrm>
          <a:prstGeom prst="rect">
            <a:avLst/>
          </a:prstGeom>
          <a:ln w="9525">
            <a:solidFill>
              <a:srgbClr val="DEDCD6"/>
            </a:solidFill>
          </a:ln>
        </p:spPr>
      </p:pic>
      <p:sp>
        <p:nvSpPr>
          <p:cNvPr id="7" name="TextBox 6"/>
          <p:cNvSpPr txBox="1"/>
          <p:nvPr/>
        </p:nvSpPr>
        <p:spPr>
          <a:xfrm>
            <a:off x="502920" y="5577840"/>
            <a:ext cx="11186160" cy="457200"/>
          </a:xfrm>
          <a:prstGeom prst="rect">
            <a:avLst/>
          </a:prstGeom>
          <a:noFill/>
        </p:spPr>
        <p:txBody>
          <a:bodyPr wrap="square" anchor="t">
            <a:spAutoFit/>
          </a:bodyPr>
          <a:lstStyle/>
          <a:p>
            <a:pPr algn="ctr">
              <a:spcAft>
                <a:spcPts val="600"/>
              </a:spcAft>
            </a:pPr>
            <a:r>
              <a:rPr sz="2000" b="0">
                <a:solidFill>
                  <a:srgbClr val="5E625E"/>
                </a:solidFill>
                <a:latin typeface="Times New Roman"/>
              </a:rPr>
              <a:t>1,439 values recomputed, 0 withheld.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13</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3000" b="1">
                <a:solidFill>
                  <a:srgbClr val="1F2421"/>
                </a:solidFill>
                <a:latin typeface="Times New Roman"/>
              </a:rPr>
              <a:t>Check the rows, then share</a:t>
            </a:r>
          </a:p>
        </p:txBody>
      </p:sp>
      <p:pic>
        <p:nvPicPr>
          <p:cNvPr id="6" name="Picture 5" descr="24-see-the-data.png"/>
          <p:cNvPicPr>
            <a:picLocks noChangeAspect="1"/>
          </p:cNvPicPr>
          <p:nvPr/>
        </p:nvPicPr>
        <p:blipFill>
          <a:blip r:embed="rId2"/>
          <a:stretch>
            <a:fillRect/>
          </a:stretch>
        </p:blipFill>
        <p:spPr>
          <a:xfrm>
            <a:off x="2731008" y="1280160"/>
            <a:ext cx="6729984" cy="4206240"/>
          </a:xfrm>
          <a:prstGeom prst="rect">
            <a:avLst/>
          </a:prstGeom>
          <a:ln w="9525">
            <a:solidFill>
              <a:srgbClr val="DEDCD6"/>
            </a:solidFill>
          </a:ln>
        </p:spPr>
      </p:pic>
      <p:sp>
        <p:nvSpPr>
          <p:cNvPr id="7" name="TextBox 6"/>
          <p:cNvSpPr txBox="1"/>
          <p:nvPr/>
        </p:nvSpPr>
        <p:spPr>
          <a:xfrm>
            <a:off x="502920" y="5577840"/>
            <a:ext cx="11186160" cy="457200"/>
          </a:xfrm>
          <a:prstGeom prst="rect">
            <a:avLst/>
          </a:prstGeom>
          <a:noFill/>
        </p:spPr>
        <p:txBody>
          <a:bodyPr wrap="square" anchor="t">
            <a:spAutoFit/>
          </a:bodyPr>
          <a:lstStyle/>
          <a:p>
            <a:pPr algn="ctr">
              <a:spcAft>
                <a:spcPts val="600"/>
              </a:spcAft>
            </a:pPr>
            <a:r>
              <a:rPr sz="2000" b="0">
                <a:solidFill>
                  <a:srgbClr val="5E625E"/>
                </a:solidFill>
                <a:latin typeface="Times New Roman"/>
              </a:rPr>
              <a:t>See the data; download PDF, Word, Markdown or HTML.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14</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800" b="1">
                <a:solidFill>
                  <a:srgbClr val="1F2421"/>
                </a:solidFill>
                <a:latin typeface="Times New Roman"/>
              </a:rPr>
              <a:t>How the analysis works: 12 checked steps</a:t>
            </a:r>
          </a:p>
        </p:txBody>
      </p:sp>
      <p:sp>
        <p:nvSpPr>
          <p:cNvPr id="6" name="TextBox 5"/>
          <p:cNvSpPr txBox="1"/>
          <p:nvPr/>
        </p:nvSpPr>
        <p:spPr>
          <a:xfrm>
            <a:off x="502920" y="1371600"/>
            <a:ext cx="5425440" cy="4572000"/>
          </a:xfrm>
          <a:prstGeom prst="rect">
            <a:avLst/>
          </a:prstGeom>
          <a:noFill/>
        </p:spPr>
        <p:txBody>
          <a:bodyPr wrap="square" anchor="t">
            <a:spAutoFit/>
          </a:bodyPr>
          <a:lstStyle/>
          <a:p>
            <a:pPr algn="l">
              <a:spcAft>
                <a:spcPts val="1000"/>
              </a:spcAft>
            </a:pPr>
            <a:r>
              <a:rPr sz="1800" b="0">
                <a:solidFill>
                  <a:srgbClr val="1F2421"/>
                </a:solidFill>
                <a:latin typeface="Times New Roman"/>
              </a:rPr>
              <a:t>•  Before the review step: read and mask, profile, plan, propose cleaning</a:t>
            </a:r>
          </a:p>
          <a:p>
            <a:pPr algn="l">
              <a:spcAft>
                <a:spcPts val="1000"/>
              </a:spcAft>
            </a:pPr>
            <a:r>
              <a:rPr sz="1800" b="0">
                <a:solidFill>
                  <a:srgbClr val="1F2421"/>
                </a:solidFill>
                <a:latin typeface="Times New Roman"/>
              </a:rPr>
              <a:t>•  After: apply cleaning, places, extra measures, answer questions, re-test, rank, check charts, write</a:t>
            </a:r>
          </a:p>
          <a:p>
            <a:pPr algn="l">
              <a:spcAft>
                <a:spcPts val="1000"/>
              </a:spcAft>
            </a:pPr>
            <a:r>
              <a:rPr sz="1800" b="0">
                <a:solidFill>
                  <a:srgbClr val="1F2421"/>
                </a:solidFill>
                <a:latin typeface="Times New Roman"/>
              </a:rPr>
              <a:t>•  Every step saved; a retry resumes</a:t>
            </a:r>
          </a:p>
          <a:p>
            <a:pPr algn="l">
              <a:spcAft>
                <a:spcPts val="1000"/>
              </a:spcAft>
            </a:pPr>
            <a:r>
              <a:rPr sz="1800" b="0">
                <a:solidFill>
                  <a:srgbClr val="1F2421"/>
                </a:solidFill>
                <a:latin typeface="Times New Roman"/>
              </a:rPr>
              <a:t>•  Status kept apart from step; compare-and-set updates</a:t>
            </a:r>
          </a:p>
        </p:txBody>
      </p:sp>
      <p:pic>
        <p:nvPicPr>
          <p:cNvPr id="7" name="Picture 6" descr="D12.png"/>
          <p:cNvPicPr>
            <a:picLocks noChangeAspect="1"/>
          </p:cNvPicPr>
          <p:nvPr/>
        </p:nvPicPr>
        <p:blipFill>
          <a:blip r:embed="rId2"/>
          <a:stretch>
            <a:fillRect/>
          </a:stretch>
        </p:blipFill>
        <p:spPr>
          <a:xfrm>
            <a:off x="6202680" y="1975104"/>
            <a:ext cx="5486400" cy="3273552"/>
          </a:xfrm>
          <a:prstGeom prst="rect">
            <a:avLst/>
          </a:prstGeom>
          <a:ln w="9525">
            <a:solidFill>
              <a:srgbClr val="DEDCD6"/>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15</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800" b="1">
                <a:solidFill>
                  <a:srgbClr val="1F2421"/>
                </a:solidFill>
                <a:latin typeface="Times New Roman"/>
              </a:rPr>
              <a:t>Numbers come from facts, never from the model</a:t>
            </a:r>
          </a:p>
        </p:txBody>
      </p:sp>
      <p:sp>
        <p:nvSpPr>
          <p:cNvPr id="6" name="TextBox 5"/>
          <p:cNvSpPr txBox="1"/>
          <p:nvPr/>
        </p:nvSpPr>
        <p:spPr>
          <a:xfrm>
            <a:off x="502920" y="1371600"/>
            <a:ext cx="5425440" cy="4572000"/>
          </a:xfrm>
          <a:prstGeom prst="rect">
            <a:avLst/>
          </a:prstGeom>
          <a:noFill/>
        </p:spPr>
        <p:txBody>
          <a:bodyPr wrap="square" anchor="t">
            <a:spAutoFit/>
          </a:bodyPr>
          <a:lstStyle/>
          <a:p>
            <a:pPr algn="l">
              <a:spcAft>
                <a:spcPts val="1000"/>
              </a:spcAft>
            </a:pPr>
            <a:r>
              <a:rPr sz="1800" b="0">
                <a:solidFill>
                  <a:srgbClr val="1F2421"/>
                </a:solidFill>
                <a:latin typeface="Times New Roman"/>
              </a:rPr>
              <a:t>•  Writer leaves slots: {F10.1}</a:t>
            </a:r>
          </a:p>
          <a:p>
            <a:pPr algn="l">
              <a:spcAft>
                <a:spcPts val="1000"/>
              </a:spcAft>
            </a:pPr>
            <a:r>
              <a:rPr sz="1800" b="0">
                <a:solidFill>
                  <a:srgbClr val="1F2421"/>
                </a:solidFill>
                <a:latin typeface="Times New Roman"/>
              </a:rPr>
              <a:t>•  Engine fills them from stored facts</a:t>
            </a:r>
          </a:p>
          <a:p>
            <a:pPr algn="l">
              <a:spcAft>
                <a:spcPts val="1000"/>
              </a:spcAft>
            </a:pPr>
            <a:r>
              <a:rPr sz="1800" b="0">
                <a:solidFill>
                  <a:srgbClr val="1F2421"/>
                </a:solidFill>
                <a:latin typeface="Times New Roman"/>
              </a:rPr>
              <a:t>•  7 checks: sources, stray numbers, direction, strength, cause, conditions, form</a:t>
            </a:r>
          </a:p>
          <a:p>
            <a:pPr algn="l">
              <a:spcAft>
                <a:spcPts val="1000"/>
              </a:spcAft>
            </a:pPr>
            <a:r>
              <a:rPr sz="1800" b="0">
                <a:solidFill>
                  <a:srgbClr val="1F2421"/>
                </a:solidFill>
                <a:latin typeface="Times New Roman"/>
              </a:rPr>
              <a:t>•  One repair, then the fact's own statement</a:t>
            </a:r>
          </a:p>
        </p:txBody>
      </p:sp>
      <p:pic>
        <p:nvPicPr>
          <p:cNvPr id="7" name="Picture 6" descr="C4_verifier.png"/>
          <p:cNvPicPr>
            <a:picLocks noChangeAspect="1"/>
          </p:cNvPicPr>
          <p:nvPr/>
        </p:nvPicPr>
        <p:blipFill>
          <a:blip r:embed="rId2"/>
          <a:stretch>
            <a:fillRect/>
          </a:stretch>
        </p:blipFill>
        <p:spPr>
          <a:xfrm>
            <a:off x="6202680" y="2326005"/>
            <a:ext cx="5486400" cy="2571750"/>
          </a:xfrm>
          <a:prstGeom prst="rect">
            <a:avLst/>
          </a:prstGeom>
          <a:ln w="9525">
            <a:solidFill>
              <a:srgbClr val="DEDCD6"/>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16</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800" b="1">
                <a:solidFill>
                  <a:srgbClr val="1F2421"/>
                </a:solidFill>
                <a:latin typeface="Times New Roman"/>
              </a:rPr>
              <a:t>Statistical rigour, by construction</a:t>
            </a:r>
          </a:p>
        </p:txBody>
      </p:sp>
      <p:sp>
        <p:nvSpPr>
          <p:cNvPr id="6" name="TextBox 5"/>
          <p:cNvSpPr txBox="1"/>
          <p:nvPr/>
        </p:nvSpPr>
        <p:spPr>
          <a:xfrm>
            <a:off x="502920" y="1371600"/>
            <a:ext cx="11186160" cy="4572000"/>
          </a:xfrm>
          <a:prstGeom prst="rect">
            <a:avLst/>
          </a:prstGeom>
          <a:noFill/>
        </p:spPr>
        <p:txBody>
          <a:bodyPr wrap="square" anchor="t">
            <a:spAutoFit/>
          </a:bodyPr>
          <a:lstStyle/>
          <a:p>
            <a:pPr algn="l">
              <a:spcAft>
                <a:spcPts val="1000"/>
              </a:spcAft>
            </a:pPr>
            <a:r>
              <a:rPr sz="1800" b="0">
                <a:solidFill>
                  <a:srgbClr val="1F2421"/>
                </a:solidFill>
                <a:latin typeface="Times New Roman"/>
              </a:rPr>
              <a:t>•  False alarms limited to 5% across the whole analysis (Benjamini–Hochberg)</a:t>
            </a:r>
          </a:p>
          <a:p>
            <a:pPr algn="l">
              <a:spcAft>
                <a:spcPts val="1000"/>
              </a:spcAft>
            </a:pPr>
            <a:r>
              <a:rPr sz="1800" b="0">
                <a:solidFill>
                  <a:srgbClr val="1F2421"/>
                </a:solidFill>
                <a:latin typeface="Times New Roman"/>
              </a:rPr>
              <a:t>•  Extra measures must beat 19 shuffles</a:t>
            </a:r>
          </a:p>
          <a:p>
            <a:pPr algn="l">
              <a:spcAft>
                <a:spcPts val="1000"/>
              </a:spcAft>
            </a:pPr>
            <a:r>
              <a:rPr sz="1800" b="0">
                <a:solidFill>
                  <a:srgbClr val="1F2421"/>
                </a:solidFill>
                <a:latin typeface="Times New Roman"/>
              </a:rPr>
              <a:t>•  Top 10 findings re-tested without data-losing cleaning</a:t>
            </a:r>
          </a:p>
          <a:p>
            <a:pPr algn="l">
              <a:spcAft>
                <a:spcPts val="1000"/>
              </a:spcAft>
            </a:pPr>
            <a:r>
              <a:rPr sz="1800" b="0">
                <a:solidFill>
                  <a:srgbClr val="1F2421"/>
                </a:solidFill>
                <a:latin typeface="Times New Roman"/>
              </a:rPr>
              <a:t>•  4 evidence tiers; groups under 10 rows never reported alone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17</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800" b="1">
                <a:solidFill>
                  <a:srgbClr val="1F2421"/>
                </a:solidFill>
                <a:latin typeface="Times New Roman"/>
              </a:rPr>
              <a:t>Security and privacy, enforced in the database</a:t>
            </a:r>
          </a:p>
        </p:txBody>
      </p:sp>
      <p:sp>
        <p:nvSpPr>
          <p:cNvPr id="6" name="TextBox 5"/>
          <p:cNvSpPr txBox="1"/>
          <p:nvPr/>
        </p:nvSpPr>
        <p:spPr>
          <a:xfrm>
            <a:off x="502920" y="1371600"/>
            <a:ext cx="5425440" cy="4572000"/>
          </a:xfrm>
          <a:prstGeom prst="rect">
            <a:avLst/>
          </a:prstGeom>
          <a:noFill/>
        </p:spPr>
        <p:txBody>
          <a:bodyPr wrap="square" anchor="t">
            <a:spAutoFit/>
          </a:bodyPr>
          <a:lstStyle/>
          <a:p>
            <a:pPr algn="l">
              <a:spcAft>
                <a:spcPts val="1000"/>
              </a:spcAft>
            </a:pPr>
            <a:r>
              <a:rPr sz="1800" b="0">
                <a:solidFill>
                  <a:srgbClr val="1F2421"/>
                </a:solidFill>
                <a:latin typeface="Times New Roman"/>
              </a:rPr>
              <a:t>•  Forced row-level security on every table</a:t>
            </a:r>
          </a:p>
          <a:p>
            <a:pPr algn="l">
              <a:spcAft>
                <a:spcPts val="1000"/>
              </a:spcAft>
            </a:pPr>
            <a:r>
              <a:rPr sz="1800" b="0">
                <a:solidFill>
                  <a:srgbClr val="1F2421"/>
                </a:solidFill>
                <a:latin typeface="Times New Roman"/>
              </a:rPr>
              <a:t>•  API token never reaches the browser; 15-minute expiry</a:t>
            </a:r>
          </a:p>
          <a:p>
            <a:pPr algn="l">
              <a:spcAft>
                <a:spcPts val="1000"/>
              </a:spcAft>
            </a:pPr>
            <a:r>
              <a:rPr sz="1800" b="0">
                <a:solidFill>
                  <a:srgbClr val="1F2421"/>
                </a:solidFill>
                <a:latin typeface="Times New Roman"/>
              </a:rPr>
              <a:t>•  8 kinds of personal data masked at the door</a:t>
            </a:r>
          </a:p>
          <a:p>
            <a:pPr algn="l">
              <a:spcAft>
                <a:spcPts val="1000"/>
              </a:spcAft>
            </a:pPr>
            <a:r>
              <a:rPr sz="1800" b="0">
                <a:solidFill>
                  <a:srgbClr val="1F2421"/>
                </a:solidFill>
                <a:latin typeface="Times New Roman"/>
              </a:rPr>
              <a:t>•  Requests carrying personal values are blocked</a:t>
            </a:r>
          </a:p>
          <a:p>
            <a:pPr algn="l">
              <a:spcAft>
                <a:spcPts val="1000"/>
              </a:spcAft>
            </a:pPr>
            <a:r>
              <a:rPr sz="1800" b="0">
                <a:solidFill>
                  <a:srgbClr val="1F2421"/>
                </a:solidFill>
                <a:latin typeface="Times New Roman"/>
              </a:rPr>
              <a:t>•  Append-only, hashed results</a:t>
            </a:r>
          </a:p>
        </p:txBody>
      </p:sp>
      <p:pic>
        <p:nvPicPr>
          <p:cNvPr id="7" name="Picture 6" descr="C3_security_battery.png"/>
          <p:cNvPicPr>
            <a:picLocks noChangeAspect="1"/>
          </p:cNvPicPr>
          <p:nvPr/>
        </p:nvPicPr>
        <p:blipFill>
          <a:blip r:embed="rId2"/>
          <a:stretch>
            <a:fillRect/>
          </a:stretch>
        </p:blipFill>
        <p:spPr>
          <a:xfrm>
            <a:off x="6202680" y="1811655"/>
            <a:ext cx="5486400" cy="3600450"/>
          </a:xfrm>
          <a:prstGeom prst="rect">
            <a:avLst/>
          </a:prstGeom>
          <a:ln w="9525">
            <a:solidFill>
              <a:srgbClr val="DEDCD6"/>
            </a:solid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18</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800" b="1">
                <a:solidFill>
                  <a:srgbClr val="1F2421"/>
                </a:solidFill>
                <a:latin typeface="Times New Roman"/>
              </a:rPr>
              <a:t>Engineering quality you can measure</a:t>
            </a:r>
          </a:p>
        </p:txBody>
      </p:sp>
      <p:sp>
        <p:nvSpPr>
          <p:cNvPr id="6" name="TextBox 5"/>
          <p:cNvSpPr txBox="1"/>
          <p:nvPr/>
        </p:nvSpPr>
        <p:spPr>
          <a:xfrm>
            <a:off x="502920" y="1371600"/>
            <a:ext cx="5425440" cy="4572000"/>
          </a:xfrm>
          <a:prstGeom prst="rect">
            <a:avLst/>
          </a:prstGeom>
          <a:noFill/>
        </p:spPr>
        <p:txBody>
          <a:bodyPr wrap="square" anchor="t">
            <a:spAutoFit/>
          </a:bodyPr>
          <a:lstStyle/>
          <a:p>
            <a:pPr algn="l">
              <a:spcAft>
                <a:spcPts val="1000"/>
              </a:spcAft>
            </a:pPr>
            <a:r>
              <a:rPr sz="1800" b="0">
                <a:solidFill>
                  <a:srgbClr val="1F2421"/>
                </a:solidFill>
                <a:latin typeface="Times New Roman"/>
              </a:rPr>
              <a:t>•  726 backend tests, 93.04% coverage</a:t>
            </a:r>
          </a:p>
          <a:p>
            <a:pPr algn="l">
              <a:spcAft>
                <a:spcPts val="1000"/>
              </a:spcAft>
            </a:pPr>
            <a:r>
              <a:rPr sz="1800" b="0">
                <a:solidFill>
                  <a:srgbClr val="1F2421"/>
                </a:solidFill>
                <a:latin typeface="Times New Roman"/>
              </a:rPr>
              <a:t>•  537 frontend tests with accessibility checks</a:t>
            </a:r>
          </a:p>
          <a:p>
            <a:pPr algn="l">
              <a:spcAft>
                <a:spcPts val="1000"/>
              </a:spcAft>
            </a:pPr>
            <a:r>
              <a:rPr sz="1800" b="0">
                <a:solidFill>
                  <a:srgbClr val="1F2421"/>
                </a:solidFill>
                <a:latin typeface="Times New Roman"/>
              </a:rPr>
              <a:t>•  12 full-stack browser tests</a:t>
            </a:r>
          </a:p>
          <a:p>
            <a:pPr algn="l">
              <a:spcAft>
                <a:spcPts val="1000"/>
              </a:spcAft>
            </a:pPr>
            <a:r>
              <a:rPr sz="1800" b="0">
                <a:solidFill>
                  <a:srgbClr val="1F2421"/>
                </a:solidFill>
                <a:latin typeface="Times New Roman"/>
              </a:rPr>
              <a:t>•  6 architecture rules enforced</a:t>
            </a:r>
          </a:p>
          <a:p>
            <a:pPr algn="l">
              <a:spcAft>
                <a:spcPts val="1000"/>
              </a:spcAft>
            </a:pPr>
            <a:r>
              <a:rPr sz="1800" b="0">
                <a:solidFill>
                  <a:srgbClr val="1F2421"/>
                </a:solidFill>
                <a:latin typeface="Times New Roman"/>
              </a:rPr>
              <a:t>•  0 accessibility violations on 24 pages</a:t>
            </a:r>
          </a:p>
        </p:txBody>
      </p:sp>
      <p:pic>
        <p:nvPicPr>
          <p:cNvPr id="7" name="Picture 6" descr="C2_tests_by_suite.png"/>
          <p:cNvPicPr>
            <a:picLocks noChangeAspect="1"/>
          </p:cNvPicPr>
          <p:nvPr/>
        </p:nvPicPr>
        <p:blipFill>
          <a:blip r:embed="rId2"/>
          <a:stretch>
            <a:fillRect/>
          </a:stretch>
        </p:blipFill>
        <p:spPr>
          <a:xfrm>
            <a:off x="6202680" y="2497455"/>
            <a:ext cx="5486400" cy="2228850"/>
          </a:xfrm>
          <a:prstGeom prst="rect">
            <a:avLst/>
          </a:prstGeom>
          <a:ln w="9525">
            <a:solidFill>
              <a:srgbClr val="DEDCD6"/>
            </a:solidFill>
          </a:ln>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19</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800" b="1">
                <a:solidFill>
                  <a:srgbClr val="1F2421"/>
                </a:solidFill>
                <a:latin typeface="Times New Roman"/>
              </a:rPr>
              <a:t>Live on AWS: deployment and running cost</a:t>
            </a:r>
          </a:p>
        </p:txBody>
      </p:sp>
      <p:sp>
        <p:nvSpPr>
          <p:cNvPr id="6" name="TextBox 5"/>
          <p:cNvSpPr txBox="1"/>
          <p:nvPr/>
        </p:nvSpPr>
        <p:spPr>
          <a:xfrm>
            <a:off x="502920" y="1371600"/>
            <a:ext cx="5425440" cy="4572000"/>
          </a:xfrm>
          <a:prstGeom prst="rect">
            <a:avLst/>
          </a:prstGeom>
          <a:noFill/>
        </p:spPr>
        <p:txBody>
          <a:bodyPr wrap="square" anchor="t">
            <a:spAutoFit/>
          </a:bodyPr>
          <a:lstStyle/>
          <a:p>
            <a:pPr algn="l">
              <a:spcAft>
                <a:spcPts val="1000"/>
              </a:spcAft>
            </a:pPr>
            <a:r>
              <a:rPr sz="1800" b="0">
                <a:solidFill>
                  <a:srgbClr val="1F2421"/>
                </a:solidFill>
                <a:latin typeface="Times New Roman"/>
              </a:rPr>
              <a:t>•  One EC2 t3.micro, Docker Compose, Caddy HTTPS</a:t>
            </a:r>
          </a:p>
          <a:p>
            <a:pPr algn="l">
              <a:spcAft>
                <a:spcPts val="1000"/>
              </a:spcAft>
            </a:pPr>
            <a:r>
              <a:rPr sz="1800" b="0">
                <a:solidFill>
                  <a:srgbClr val="1F2421"/>
                </a:solidFill>
                <a:latin typeface="Times New Roman"/>
              </a:rPr>
              <a:t>•  Files in private S3 through the server role: no stored keys</a:t>
            </a:r>
          </a:p>
          <a:p>
            <a:pPr algn="l">
              <a:spcAft>
                <a:spcPts val="1000"/>
              </a:spcAft>
            </a:pPr>
            <a:r>
              <a:rPr sz="1800" b="0">
                <a:solidFill>
                  <a:srgbClr val="1F2421"/>
                </a:solidFill>
                <a:latin typeface="Times New Roman"/>
              </a:rPr>
              <a:t>•  Images built by GitHub Actions; one-command deploy and rollback</a:t>
            </a:r>
          </a:p>
          <a:p>
            <a:pPr algn="l">
              <a:spcAft>
                <a:spcPts val="1000"/>
              </a:spcAft>
            </a:pPr>
            <a:r>
              <a:rPr sz="1800" b="0">
                <a:solidFill>
                  <a:srgbClr val="1F2421"/>
                </a:solidFill>
                <a:latin typeface="Times New Roman"/>
              </a:rPr>
              <a:t>•  Nightly database backups</a:t>
            </a:r>
          </a:p>
          <a:p>
            <a:pPr algn="l">
              <a:spcAft>
                <a:spcPts val="1000"/>
              </a:spcAft>
            </a:pPr>
            <a:r>
              <a:rPr sz="1800" b="0">
                <a:solidFill>
                  <a:srgbClr val="1F2421"/>
                </a:solidFill>
                <a:latin typeface="Times New Roman"/>
              </a:rPr>
              <a:t>•  About US$3.60 a month (estimated)</a:t>
            </a:r>
          </a:p>
        </p:txBody>
      </p:sp>
      <p:pic>
        <p:nvPicPr>
          <p:cNvPr id="7" name="Picture 6" descr="D15.png"/>
          <p:cNvPicPr>
            <a:picLocks noChangeAspect="1"/>
          </p:cNvPicPr>
          <p:nvPr/>
        </p:nvPicPr>
        <p:blipFill>
          <a:blip r:embed="rId2"/>
          <a:stretch>
            <a:fillRect/>
          </a:stretch>
        </p:blipFill>
        <p:spPr>
          <a:xfrm>
            <a:off x="6202680" y="2688336"/>
            <a:ext cx="5486400" cy="1847088"/>
          </a:xfrm>
          <a:prstGeom prst="rect">
            <a:avLst/>
          </a:prstGeom>
          <a:ln w="9525">
            <a:solidFill>
              <a:srgbClr val="DEDCD6"/>
            </a:solid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20</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800" b="1">
                <a:solidFill>
                  <a:srgbClr val="1F2421"/>
                </a:solidFill>
                <a:latin typeface="Times New Roman"/>
              </a:rPr>
              <a:t>Who it is for and how it compares</a:t>
            </a:r>
          </a:p>
        </p:txBody>
      </p:sp>
      <p:graphicFrame>
        <p:nvGraphicFramePr>
          <p:cNvPr id="6" name="Table 5"/>
          <p:cNvGraphicFramePr>
            <a:graphicFrameLocks noGrp="1"/>
          </p:cNvGraphicFramePr>
          <p:nvPr/>
        </p:nvGraphicFramePr>
        <p:xfrm>
          <a:off x="502920" y="1371600"/>
          <a:ext cx="11186160" cy="3291840"/>
        </p:xfrm>
        <a:graphic>
          <a:graphicData uri="http://schemas.openxmlformats.org/drawingml/2006/table">
            <a:tbl>
              <a:tblPr firstRow="1" bandRow="1">
                <a:tableStyleId>{5C22544A-7EE6-4342-B048-85BDC9FD1C3A}</a:tableStyleId>
              </a:tblPr>
              <a:tblGrid>
                <a:gridCol w="2796540"/>
                <a:gridCol w="2796540"/>
                <a:gridCol w="2796540"/>
                <a:gridCol w="2796540"/>
              </a:tblGrid>
              <a:tr h="470262">
                <a:tc>
                  <a:txBody>
                    <a:bodyPr/>
                    <a:lstStyle/>
                    <a:p>
                      <a:r>
                        <a:rPr sz="1800" b="1">
                          <a:solidFill>
                            <a:srgbClr val="1F2421"/>
                          </a:solidFill>
                          <a:latin typeface="Times New Roman"/>
                        </a:rPr>
                        <a:t>Need</a:t>
                      </a:r>
                    </a:p>
                  </a:txBody>
                  <a:tcPr>
                    <a:solidFill>
                      <a:srgbClr val="EAF2EF"/>
                    </a:solidFill>
                  </a:tcPr>
                </a:tc>
                <a:tc>
                  <a:txBody>
                    <a:bodyPr/>
                    <a:lstStyle/>
                    <a:p>
                      <a:r>
                        <a:rPr sz="1800" b="1">
                          <a:solidFill>
                            <a:srgbClr val="1F2421"/>
                          </a:solidFill>
                          <a:latin typeface="Times New Roman"/>
                        </a:rPr>
                        <a:t>InsightfulCell</a:t>
                      </a:r>
                    </a:p>
                  </a:txBody>
                  <a:tcPr>
                    <a:solidFill>
                      <a:srgbClr val="EAF2EF"/>
                    </a:solidFill>
                  </a:tcPr>
                </a:tc>
                <a:tc>
                  <a:txBody>
                    <a:bodyPr/>
                    <a:lstStyle/>
                    <a:p>
                      <a:r>
                        <a:rPr sz="1800" b="1">
                          <a:solidFill>
                            <a:srgbClr val="1F2421"/>
                          </a:solidFill>
                          <a:latin typeface="Times New Roman"/>
                        </a:rPr>
                        <a:t>AI assistants</a:t>
                      </a:r>
                    </a:p>
                  </a:txBody>
                  <a:tcPr>
                    <a:solidFill>
                      <a:srgbClr val="EAF2EF"/>
                    </a:solidFill>
                  </a:tcPr>
                </a:tc>
                <a:tc>
                  <a:txBody>
                    <a:bodyPr/>
                    <a:lstStyle/>
                    <a:p>
                      <a:r>
                        <a:rPr sz="1800" b="1">
                          <a:solidFill>
                            <a:srgbClr val="1F2421"/>
                          </a:solidFill>
                          <a:latin typeface="Times New Roman"/>
                        </a:rPr>
                        <a:t>BI / statistics tools</a:t>
                      </a:r>
                    </a:p>
                  </a:txBody>
                  <a:tcPr>
                    <a:solidFill>
                      <a:srgbClr val="EAF2EF"/>
                    </a:solidFill>
                  </a:tcPr>
                </a:tc>
              </a:tr>
              <a:tr h="470262">
                <a:tc>
                  <a:txBody>
                    <a:bodyPr/>
                    <a:lstStyle/>
                    <a:p>
                      <a:r>
                        <a:rPr sz="1800" b="0">
                          <a:solidFill>
                            <a:srgbClr val="1F2421"/>
                          </a:solidFill>
                          <a:latin typeface="Times New Roman"/>
                        </a:rPr>
                        <a:t>Every number traceable</a:t>
                      </a:r>
                    </a:p>
                  </a:txBody>
                  <a:tcPr>
                    <a:solidFill>
                      <a:srgbClr val="FCFCFA"/>
                    </a:solidFill>
                  </a:tcPr>
                </a:tc>
                <a:tc>
                  <a:txBody>
                    <a:bodyPr/>
                    <a:lstStyle/>
                    <a:p>
                      <a:r>
                        <a:rPr sz="1800" b="0">
                          <a:solidFill>
                            <a:srgbClr val="1F2421"/>
                          </a:solidFill>
                          <a:latin typeface="Times New Roman"/>
                        </a:rPr>
                        <a:t>Yes</a:t>
                      </a:r>
                    </a:p>
                  </a:txBody>
                  <a:tcPr>
                    <a:solidFill>
                      <a:srgbClr val="FCFCFA"/>
                    </a:solidFill>
                  </a:tcPr>
                </a:tc>
                <a:tc>
                  <a:txBody>
                    <a:bodyPr/>
                    <a:lstStyle/>
                    <a:p>
                      <a:r>
                        <a:rPr sz="1800" b="0">
                          <a:solidFill>
                            <a:srgbClr val="1F2421"/>
                          </a:solidFill>
                          <a:latin typeface="Times New Roman"/>
                        </a:rPr>
                        <a:t>No</a:t>
                      </a:r>
                    </a:p>
                  </a:txBody>
                  <a:tcPr>
                    <a:solidFill>
                      <a:srgbClr val="FCFCFA"/>
                    </a:solidFill>
                  </a:tcPr>
                </a:tc>
                <a:tc>
                  <a:txBody>
                    <a:bodyPr/>
                    <a:lstStyle/>
                    <a:p>
                      <a:r>
                        <a:rPr sz="1800" b="0">
                          <a:solidFill>
                            <a:srgbClr val="1F2421"/>
                          </a:solidFill>
                          <a:latin typeface="Times New Roman"/>
                        </a:rPr>
                        <a:t>Partly</a:t>
                      </a:r>
                    </a:p>
                  </a:txBody>
                  <a:tcPr>
                    <a:solidFill>
                      <a:srgbClr val="FCFCFA"/>
                    </a:solidFill>
                  </a:tcPr>
                </a:tc>
              </a:tr>
              <a:tr h="470262">
                <a:tc>
                  <a:txBody>
                    <a:bodyPr/>
                    <a:lstStyle/>
                    <a:p>
                      <a:r>
                        <a:rPr sz="1800" b="0">
                          <a:solidFill>
                            <a:srgbClr val="1F2421"/>
                          </a:solidFill>
                          <a:latin typeface="Times New Roman"/>
                        </a:rPr>
                        <a:t>Raw rows stay private</a:t>
                      </a:r>
                    </a:p>
                  </a:txBody>
                  <a:tcPr>
                    <a:solidFill>
                      <a:srgbClr val="FCFCFA"/>
                    </a:solidFill>
                  </a:tcPr>
                </a:tc>
                <a:tc>
                  <a:txBody>
                    <a:bodyPr/>
                    <a:lstStyle/>
                    <a:p>
                      <a:r>
                        <a:rPr sz="1800" b="0">
                          <a:solidFill>
                            <a:srgbClr val="1F2421"/>
                          </a:solidFill>
                          <a:latin typeface="Times New Roman"/>
                        </a:rPr>
                        <a:t>Yes</a:t>
                      </a:r>
                    </a:p>
                  </a:txBody>
                  <a:tcPr>
                    <a:solidFill>
                      <a:srgbClr val="FCFCFA"/>
                    </a:solidFill>
                  </a:tcPr>
                </a:tc>
                <a:tc>
                  <a:txBody>
                    <a:bodyPr/>
                    <a:lstStyle/>
                    <a:p>
                      <a:r>
                        <a:rPr sz="1800" b="0">
                          <a:solidFill>
                            <a:srgbClr val="1F2421"/>
                          </a:solidFill>
                          <a:latin typeface="Times New Roman"/>
                        </a:rPr>
                        <a:t>No</a:t>
                      </a:r>
                    </a:p>
                  </a:txBody>
                  <a:tcPr>
                    <a:solidFill>
                      <a:srgbClr val="FCFCFA"/>
                    </a:solidFill>
                  </a:tcPr>
                </a:tc>
                <a:tc>
                  <a:txBody>
                    <a:bodyPr/>
                    <a:lstStyle/>
                    <a:p>
                      <a:r>
                        <a:rPr sz="1800" b="0">
                          <a:solidFill>
                            <a:srgbClr val="1F2421"/>
                          </a:solidFill>
                          <a:latin typeface="Times New Roman"/>
                        </a:rPr>
                        <a:t>Yes</a:t>
                      </a:r>
                    </a:p>
                  </a:txBody>
                  <a:tcPr>
                    <a:solidFill>
                      <a:srgbClr val="FCFCFA"/>
                    </a:solidFill>
                  </a:tcPr>
                </a:tc>
              </a:tr>
              <a:tr h="470262">
                <a:tc>
                  <a:txBody>
                    <a:bodyPr/>
                    <a:lstStyle/>
                    <a:p>
                      <a:r>
                        <a:rPr sz="1800" b="0">
                          <a:solidFill>
                            <a:srgbClr val="1F2421"/>
                          </a:solidFill>
                          <a:latin typeface="Times New Roman"/>
                        </a:rPr>
                        <a:t>No analyst needed</a:t>
                      </a:r>
                    </a:p>
                  </a:txBody>
                  <a:tcPr>
                    <a:solidFill>
                      <a:srgbClr val="FCFCFA"/>
                    </a:solidFill>
                  </a:tcPr>
                </a:tc>
                <a:tc>
                  <a:txBody>
                    <a:bodyPr/>
                    <a:lstStyle/>
                    <a:p>
                      <a:r>
                        <a:rPr sz="1800" b="0">
                          <a:solidFill>
                            <a:srgbClr val="1F2421"/>
                          </a:solidFill>
                          <a:latin typeface="Times New Roman"/>
                        </a:rPr>
                        <a:t>Yes</a:t>
                      </a:r>
                    </a:p>
                  </a:txBody>
                  <a:tcPr>
                    <a:solidFill>
                      <a:srgbClr val="FCFCFA"/>
                    </a:solidFill>
                  </a:tcPr>
                </a:tc>
                <a:tc>
                  <a:txBody>
                    <a:bodyPr/>
                    <a:lstStyle/>
                    <a:p>
                      <a:r>
                        <a:rPr sz="1800" b="0">
                          <a:solidFill>
                            <a:srgbClr val="1F2421"/>
                          </a:solidFill>
                          <a:latin typeface="Times New Roman"/>
                        </a:rPr>
                        <a:t>Yes</a:t>
                      </a:r>
                    </a:p>
                  </a:txBody>
                  <a:tcPr>
                    <a:solidFill>
                      <a:srgbClr val="FCFCFA"/>
                    </a:solidFill>
                  </a:tcPr>
                </a:tc>
                <a:tc>
                  <a:txBody>
                    <a:bodyPr/>
                    <a:lstStyle/>
                    <a:p>
                      <a:r>
                        <a:rPr sz="1800" b="0">
                          <a:solidFill>
                            <a:srgbClr val="1F2421"/>
                          </a:solidFill>
                          <a:latin typeface="Times New Roman"/>
                        </a:rPr>
                        <a:t>No</a:t>
                      </a:r>
                    </a:p>
                  </a:txBody>
                  <a:tcPr>
                    <a:solidFill>
                      <a:srgbClr val="FCFCFA"/>
                    </a:solidFill>
                  </a:tcPr>
                </a:tc>
              </a:tr>
              <a:tr h="470262">
                <a:tc>
                  <a:txBody>
                    <a:bodyPr/>
                    <a:lstStyle/>
                    <a:p>
                      <a:r>
                        <a:rPr sz="1800" b="0">
                          <a:solidFill>
                            <a:srgbClr val="1F2421"/>
                          </a:solidFill>
                          <a:latin typeface="Times New Roman"/>
                        </a:rPr>
                        <a:t>False discoveries controlled</a:t>
                      </a:r>
                    </a:p>
                  </a:txBody>
                  <a:tcPr>
                    <a:solidFill>
                      <a:srgbClr val="FCFCFA"/>
                    </a:solidFill>
                  </a:tcPr>
                </a:tc>
                <a:tc>
                  <a:txBody>
                    <a:bodyPr/>
                    <a:lstStyle/>
                    <a:p>
                      <a:r>
                        <a:rPr sz="1800" b="0">
                          <a:solidFill>
                            <a:srgbClr val="1F2421"/>
                          </a:solidFill>
                          <a:latin typeface="Times New Roman"/>
                        </a:rPr>
                        <a:t>Yes</a:t>
                      </a:r>
                    </a:p>
                  </a:txBody>
                  <a:tcPr>
                    <a:solidFill>
                      <a:srgbClr val="FCFCFA"/>
                    </a:solidFill>
                  </a:tcPr>
                </a:tc>
                <a:tc>
                  <a:txBody>
                    <a:bodyPr/>
                    <a:lstStyle/>
                    <a:p>
                      <a:r>
                        <a:rPr sz="1800" b="0">
                          <a:solidFill>
                            <a:srgbClr val="1F2421"/>
                          </a:solidFill>
                          <a:latin typeface="Times New Roman"/>
                        </a:rPr>
                        <a:t>No</a:t>
                      </a:r>
                    </a:p>
                  </a:txBody>
                  <a:tcPr>
                    <a:solidFill>
                      <a:srgbClr val="FCFCFA"/>
                    </a:solidFill>
                  </a:tcPr>
                </a:tc>
                <a:tc>
                  <a:txBody>
                    <a:bodyPr/>
                    <a:lstStyle/>
                    <a:p>
                      <a:r>
                        <a:rPr sz="1800" b="0">
                          <a:solidFill>
                            <a:srgbClr val="1F2421"/>
                          </a:solidFill>
                          <a:latin typeface="Times New Roman"/>
                        </a:rPr>
                        <a:t>If the analyst does it</a:t>
                      </a:r>
                    </a:p>
                  </a:txBody>
                  <a:tcPr>
                    <a:solidFill>
                      <a:srgbClr val="FCFCFA"/>
                    </a:solidFill>
                  </a:tcPr>
                </a:tc>
              </a:tr>
              <a:tr h="470262">
                <a:tc>
                  <a:txBody>
                    <a:bodyPr/>
                    <a:lstStyle/>
                    <a:p>
                      <a:r>
                        <a:rPr sz="1800" b="0">
                          <a:solidFill>
                            <a:srgbClr val="1F2421"/>
                          </a:solidFill>
                          <a:latin typeface="Times New Roman"/>
                        </a:rPr>
                        <a:t>Reproducible recipe</a:t>
                      </a:r>
                    </a:p>
                  </a:txBody>
                  <a:tcPr>
                    <a:solidFill>
                      <a:srgbClr val="FCFCFA"/>
                    </a:solidFill>
                  </a:tcPr>
                </a:tc>
                <a:tc>
                  <a:txBody>
                    <a:bodyPr/>
                    <a:lstStyle/>
                    <a:p>
                      <a:r>
                        <a:rPr sz="1800" b="0">
                          <a:solidFill>
                            <a:srgbClr val="1F2421"/>
                          </a:solidFill>
                          <a:latin typeface="Times New Roman"/>
                        </a:rPr>
                        <a:t>Yes</a:t>
                      </a:r>
                    </a:p>
                  </a:txBody>
                  <a:tcPr>
                    <a:solidFill>
                      <a:srgbClr val="FCFCFA"/>
                    </a:solidFill>
                  </a:tcPr>
                </a:tc>
                <a:tc>
                  <a:txBody>
                    <a:bodyPr/>
                    <a:lstStyle/>
                    <a:p>
                      <a:r>
                        <a:rPr sz="1800" b="0">
                          <a:solidFill>
                            <a:srgbClr val="1F2421"/>
                          </a:solidFill>
                          <a:latin typeface="Times New Roman"/>
                        </a:rPr>
                        <a:t>No</a:t>
                      </a:r>
                    </a:p>
                  </a:txBody>
                  <a:tcPr>
                    <a:solidFill>
                      <a:srgbClr val="FCFCFA"/>
                    </a:solidFill>
                  </a:tcPr>
                </a:tc>
                <a:tc>
                  <a:txBody>
                    <a:bodyPr/>
                    <a:lstStyle/>
                    <a:p>
                      <a:r>
                        <a:rPr sz="1800" b="0">
                          <a:solidFill>
                            <a:srgbClr val="1F2421"/>
                          </a:solidFill>
                          <a:latin typeface="Times New Roman"/>
                        </a:rPr>
                        <a:t>Partly</a:t>
                      </a:r>
                    </a:p>
                  </a:txBody>
                  <a:tcPr>
                    <a:solidFill>
                      <a:srgbClr val="FCFCFA"/>
                    </a:solidFill>
                  </a:tcPr>
                </a:tc>
              </a:tr>
              <a:tr h="470268">
                <a:tc>
                  <a:txBody>
                    <a:bodyPr/>
                    <a:lstStyle/>
                    <a:p>
                      <a:r>
                        <a:rPr sz="1800" b="0">
                          <a:solidFill>
                            <a:srgbClr val="1F2421"/>
                          </a:solidFill>
                          <a:latin typeface="Times New Roman"/>
                        </a:rPr>
                        <a:t>Plain-language report</a:t>
                      </a:r>
                    </a:p>
                  </a:txBody>
                  <a:tcPr>
                    <a:solidFill>
                      <a:srgbClr val="FCFCFA"/>
                    </a:solidFill>
                  </a:tcPr>
                </a:tc>
                <a:tc>
                  <a:txBody>
                    <a:bodyPr/>
                    <a:lstStyle/>
                    <a:p>
                      <a:r>
                        <a:rPr sz="1800" b="0">
                          <a:solidFill>
                            <a:srgbClr val="1F2421"/>
                          </a:solidFill>
                          <a:latin typeface="Times New Roman"/>
                        </a:rPr>
                        <a:t>Yes</a:t>
                      </a:r>
                    </a:p>
                  </a:txBody>
                  <a:tcPr>
                    <a:solidFill>
                      <a:srgbClr val="FCFCFA"/>
                    </a:solidFill>
                  </a:tcPr>
                </a:tc>
                <a:tc>
                  <a:txBody>
                    <a:bodyPr/>
                    <a:lstStyle/>
                    <a:p>
                      <a:r>
                        <a:rPr sz="1800" b="0">
                          <a:solidFill>
                            <a:srgbClr val="1F2421"/>
                          </a:solidFill>
                          <a:latin typeface="Times New Roman"/>
                        </a:rPr>
                        <a:t>Yes</a:t>
                      </a:r>
                    </a:p>
                  </a:txBody>
                  <a:tcPr>
                    <a:solidFill>
                      <a:srgbClr val="FCFCFA"/>
                    </a:solidFill>
                  </a:tcPr>
                </a:tc>
                <a:tc>
                  <a:txBody>
                    <a:bodyPr/>
                    <a:lstStyle/>
                    <a:p>
                      <a:r>
                        <a:rPr sz="1800" b="0">
                          <a:solidFill>
                            <a:srgbClr val="1F2421"/>
                          </a:solidFill>
                          <a:latin typeface="Times New Roman"/>
                        </a:rPr>
                        <a:t>No</a:t>
                      </a:r>
                    </a:p>
                  </a:txBody>
                  <a:tcPr>
                    <a:solidFill>
                      <a:srgbClr val="FCFCFA"/>
                    </a:solidFill>
                  </a:tcPr>
                </a:tc>
              </a:tr>
            </a:tbl>
          </a:graphicData>
        </a:graphic>
      </p:graphicFrame>
      <p:sp>
        <p:nvSpPr>
          <p:cNvPr id="7" name="TextBox 6"/>
          <p:cNvSpPr txBox="1"/>
          <p:nvPr/>
        </p:nvSpPr>
        <p:spPr>
          <a:xfrm>
            <a:off x="502920" y="5120640"/>
            <a:ext cx="11186160" cy="731520"/>
          </a:xfrm>
          <a:prstGeom prst="rect">
            <a:avLst/>
          </a:prstGeom>
          <a:noFill/>
        </p:spPr>
        <p:txBody>
          <a:bodyPr wrap="square" anchor="t">
            <a:spAutoFit/>
          </a:bodyPr>
          <a:lstStyle/>
          <a:p>
            <a:pPr algn="l">
              <a:spcAft>
                <a:spcPts val="600"/>
              </a:spcAft>
            </a:pPr>
            <a:r>
              <a:rPr sz="1800" b="0">
                <a:solidFill>
                  <a:srgbClr val="5E625E"/>
                </a:solidFill>
                <a:latin typeface="Times New Roman"/>
              </a:rPr>
              <a:t>For small businesses, NGOs and public sector teams, students and researchers, consultants.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21</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600" b="1">
                <a:solidFill>
                  <a:srgbClr val="1F2421"/>
                </a:solidFill>
                <a:latin typeface="Times New Roman"/>
              </a:rPr>
              <a:t>A proposed business model (Proposed; pricing not yet validated)</a:t>
            </a:r>
          </a:p>
        </p:txBody>
      </p:sp>
      <p:graphicFrame>
        <p:nvGraphicFramePr>
          <p:cNvPr id="6" name="Table 5"/>
          <p:cNvGraphicFramePr>
            <a:graphicFrameLocks noGrp="1"/>
          </p:cNvGraphicFramePr>
          <p:nvPr/>
        </p:nvGraphicFramePr>
        <p:xfrm>
          <a:off x="502920" y="1463040"/>
          <a:ext cx="11186160" cy="2560320"/>
        </p:xfrm>
        <a:graphic>
          <a:graphicData uri="http://schemas.openxmlformats.org/drawingml/2006/table">
            <a:tbl>
              <a:tblPr firstRow="1" bandRow="1">
                <a:tableStyleId>{5C22544A-7EE6-4342-B048-85BDC9FD1C3A}</a:tableStyleId>
              </a:tblPr>
              <a:tblGrid>
                <a:gridCol w="3728720"/>
                <a:gridCol w="3728720"/>
                <a:gridCol w="3728720"/>
              </a:tblGrid>
              <a:tr h="640080">
                <a:tc>
                  <a:txBody>
                    <a:bodyPr/>
                    <a:lstStyle/>
                    <a:p>
                      <a:r>
                        <a:rPr sz="1800" b="1">
                          <a:solidFill>
                            <a:srgbClr val="1F2421"/>
                          </a:solidFill>
                          <a:latin typeface="Times New Roman"/>
                        </a:rPr>
                        <a:t>Tier</a:t>
                      </a:r>
                    </a:p>
                  </a:txBody>
                  <a:tcPr>
                    <a:solidFill>
                      <a:srgbClr val="EAF2EF"/>
                    </a:solidFill>
                  </a:tcPr>
                </a:tc>
                <a:tc>
                  <a:txBody>
                    <a:bodyPr/>
                    <a:lstStyle/>
                    <a:p>
                      <a:r>
                        <a:rPr sz="1800" b="1">
                          <a:solidFill>
                            <a:srgbClr val="1F2421"/>
                          </a:solidFill>
                          <a:latin typeface="Times New Roman"/>
                        </a:rPr>
                        <a:t>Offer</a:t>
                      </a:r>
                    </a:p>
                  </a:txBody>
                  <a:tcPr>
                    <a:solidFill>
                      <a:srgbClr val="EAF2EF"/>
                    </a:solidFill>
                  </a:tcPr>
                </a:tc>
                <a:tc>
                  <a:txBody>
                    <a:bodyPr/>
                    <a:lstStyle/>
                    <a:p>
                      <a:r>
                        <a:rPr sz="1800" b="1">
                          <a:solidFill>
                            <a:srgbClr val="1F2421"/>
                          </a:solidFill>
                          <a:latin typeface="Times New Roman"/>
                        </a:rPr>
                        <a:t>Model cost per analysis</a:t>
                      </a:r>
                    </a:p>
                  </a:txBody>
                  <a:tcPr>
                    <a:solidFill>
                      <a:srgbClr val="EAF2EF"/>
                    </a:solidFill>
                  </a:tcPr>
                </a:tc>
              </a:tr>
              <a:tr h="640080">
                <a:tc>
                  <a:txBody>
                    <a:bodyPr/>
                    <a:lstStyle/>
                    <a:p>
                      <a:r>
                        <a:rPr sz="1800" b="0">
                          <a:solidFill>
                            <a:srgbClr val="1F2421"/>
                          </a:solidFill>
                          <a:latin typeface="Times New Roman"/>
                        </a:rPr>
                        <a:t>Community</a:t>
                      </a:r>
                    </a:p>
                  </a:txBody>
                  <a:tcPr>
                    <a:solidFill>
                      <a:srgbClr val="FCFCFA"/>
                    </a:solidFill>
                  </a:tcPr>
                </a:tc>
                <a:tc>
                  <a:txBody>
                    <a:bodyPr/>
                    <a:lstStyle/>
                    <a:p>
                      <a:r>
                        <a:rPr sz="1800" b="0">
                          <a:solidFill>
                            <a:srgbClr val="1F2421"/>
                          </a:solidFill>
                          <a:latin typeface="Times New Roman"/>
                        </a:rPr>
                        <a:t>Free; rules plan, the engine writes</a:t>
                      </a:r>
                    </a:p>
                  </a:txBody>
                  <a:tcPr>
                    <a:solidFill>
                      <a:srgbClr val="FCFCFA"/>
                    </a:solidFill>
                  </a:tcPr>
                </a:tc>
                <a:tc>
                  <a:txBody>
                    <a:bodyPr/>
                    <a:lstStyle/>
                    <a:p>
                      <a:r>
                        <a:rPr sz="1800" b="0">
                          <a:solidFill>
                            <a:srgbClr val="1F2421"/>
                          </a:solidFill>
                          <a:latin typeface="Times New Roman"/>
                        </a:rPr>
                        <a:t>US$0</a:t>
                      </a:r>
                    </a:p>
                  </a:txBody>
                  <a:tcPr>
                    <a:solidFill>
                      <a:srgbClr val="FCFCFA"/>
                    </a:solidFill>
                  </a:tcPr>
                </a:tc>
              </a:tr>
              <a:tr h="640080">
                <a:tc>
                  <a:txBody>
                    <a:bodyPr/>
                    <a:lstStyle/>
                    <a:p>
                      <a:r>
                        <a:rPr sz="1800" b="0">
                          <a:solidFill>
                            <a:srgbClr val="1F2421"/>
                          </a:solidFill>
                          <a:latin typeface="Times New Roman"/>
                        </a:rPr>
                        <a:t>Pro</a:t>
                      </a:r>
                    </a:p>
                  </a:txBody>
                  <a:tcPr>
                    <a:solidFill>
                      <a:srgbClr val="FCFCFA"/>
                    </a:solidFill>
                  </a:tcPr>
                </a:tc>
                <a:tc>
                  <a:txBody>
                    <a:bodyPr/>
                    <a:lstStyle/>
                    <a:p>
                      <a:r>
                        <a:rPr sz="1800" b="0">
                          <a:solidFill>
                            <a:srgbClr val="1F2421"/>
                          </a:solidFill>
                          <a:latin typeface="Times New Roman"/>
                        </a:rPr>
                        <a:t>Per seat; AI planning and writing, per-person cap</a:t>
                      </a:r>
                    </a:p>
                  </a:txBody>
                  <a:tcPr>
                    <a:solidFill>
                      <a:srgbClr val="FCFCFA"/>
                    </a:solidFill>
                  </a:tcPr>
                </a:tc>
                <a:tc>
                  <a:txBody>
                    <a:bodyPr/>
                    <a:lstStyle/>
                    <a:p>
                      <a:r>
                        <a:rPr sz="1800" b="0">
                          <a:solidFill>
                            <a:srgbClr val="1F2421"/>
                          </a:solidFill>
                          <a:latin typeface="Times New Roman"/>
                        </a:rPr>
                        <a:t>About US$0.02 (default) to US$0.26 (premium)</a:t>
                      </a:r>
                    </a:p>
                  </a:txBody>
                  <a:tcPr>
                    <a:solidFill>
                      <a:srgbClr val="FCFCFA"/>
                    </a:solidFill>
                  </a:tcPr>
                </a:tc>
              </a:tr>
              <a:tr h="640080">
                <a:tc>
                  <a:txBody>
                    <a:bodyPr/>
                    <a:lstStyle/>
                    <a:p>
                      <a:r>
                        <a:rPr sz="1800" b="0">
                          <a:solidFill>
                            <a:srgbClr val="1F2421"/>
                          </a:solidFill>
                          <a:latin typeface="Times New Roman"/>
                        </a:rPr>
                        <a:t>Team / private</a:t>
                      </a:r>
                    </a:p>
                  </a:txBody>
                  <a:tcPr>
                    <a:solidFill>
                      <a:srgbClr val="FCFCFA"/>
                    </a:solidFill>
                  </a:tcPr>
                </a:tc>
                <a:tc>
                  <a:txBody>
                    <a:bodyPr/>
                    <a:lstStyle/>
                    <a:p>
                      <a:r>
                        <a:rPr sz="1800" b="0">
                          <a:solidFill>
                            <a:srgbClr val="1F2421"/>
                          </a:solidFill>
                          <a:latin typeface="Times New Roman"/>
                        </a:rPr>
                        <a:t>Per organisation; workspaces, roles, self-hosting</a:t>
                      </a:r>
                    </a:p>
                  </a:txBody>
                  <a:tcPr>
                    <a:solidFill>
                      <a:srgbClr val="FCFCFA"/>
                    </a:solidFill>
                  </a:tcPr>
                </a:tc>
                <a:tc>
                  <a:txBody>
                    <a:bodyPr/>
                    <a:lstStyle/>
                    <a:p>
                      <a:r>
                        <a:rPr sz="1800" b="0">
                          <a:solidFill>
                            <a:srgbClr val="1F2421"/>
                          </a:solidFill>
                          <a:latin typeface="Times New Roman"/>
                        </a:rPr>
                        <a:t>As Pro, or own model</a:t>
                      </a:r>
                    </a:p>
                  </a:txBody>
                  <a:tcPr>
                    <a:solidFill>
                      <a:srgbClr val="FCFCFA"/>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22</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800" b="1">
                <a:solidFill>
                  <a:srgbClr val="1F2421"/>
                </a:solidFill>
                <a:latin typeface="Times New Roman"/>
              </a:rPr>
              <a:t>Team contributions and how we built it</a:t>
            </a:r>
          </a:p>
        </p:txBody>
      </p:sp>
      <p:sp>
        <p:nvSpPr>
          <p:cNvPr id="6" name="TextBox 5"/>
          <p:cNvSpPr txBox="1"/>
          <p:nvPr/>
        </p:nvSpPr>
        <p:spPr>
          <a:xfrm>
            <a:off x="502920" y="1371600"/>
            <a:ext cx="11186160" cy="4572000"/>
          </a:xfrm>
          <a:prstGeom prst="rect">
            <a:avLst/>
          </a:prstGeom>
          <a:noFill/>
        </p:spPr>
        <p:txBody>
          <a:bodyPr wrap="square" anchor="t">
            <a:spAutoFit/>
          </a:bodyPr>
          <a:lstStyle/>
          <a:p>
            <a:pPr algn="l">
              <a:spcAft>
                <a:spcPts val="1000"/>
              </a:spcAft>
            </a:pPr>
            <a:r>
              <a:rPr sz="1800" b="0">
                <a:solidFill>
                  <a:srgbClr val="1F2421"/>
                </a:solidFill>
                <a:latin typeface="Times New Roman"/>
              </a:rPr>
              <a:t>•  Rupesh Ghimire, Product Owner and Lead Engineer: conceived the product; designed the architecture; built the web app, API, worker and analysis engine</a:t>
            </a:r>
          </a:p>
          <a:p>
            <a:pPr algn="l">
              <a:spcAft>
                <a:spcPts val="1000"/>
              </a:spcAft>
            </a:pPr>
            <a:r>
              <a:rPr sz="1800" b="0">
                <a:solidFill>
                  <a:srgbClr val="1F2421"/>
                </a:solidFill>
                <a:latin typeface="Times New Roman"/>
              </a:rPr>
              <a:t>•  Sandesh Prasad Paudel, Quality Assurance and Deployment Engineer: end-to-end, regression, mobile and acceptance testing; AWS hosting, domain, HTTPS, deployment and operations</a:t>
            </a:r>
          </a:p>
          <a:p>
            <a:pPr algn="l">
              <a:spcAft>
                <a:spcPts val="1000"/>
              </a:spcAft>
            </a:pPr>
            <a:r>
              <a:rPr sz="1800" b="0">
                <a:solidFill>
                  <a:srgbClr val="1F2421"/>
                </a:solidFill>
                <a:latin typeface="Times New Roman"/>
              </a:rPr>
              <a:t>•  Requirements and design first; 20 recorded design decisions; CI on every push</a:t>
            </a:r>
          </a:p>
          <a:p>
            <a:pPr algn="l">
              <a:spcAft>
                <a:spcPts val="1000"/>
              </a:spcAft>
            </a:pPr>
            <a:r>
              <a:rPr sz="1800" b="0">
                <a:solidFill>
                  <a:srgbClr val="1F2421"/>
                </a:solidFill>
                <a:latin typeface="Times New Roman"/>
              </a:rPr>
              <a:t>•  AI coding assistants helped draft code; every decision, review and test was ours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F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277600" y="6400800"/>
            <a:ext cx="640080" cy="320040"/>
          </a:xfrm>
          <a:prstGeom prst="rect">
            <a:avLst/>
          </a:prstGeom>
          <a:noFill/>
        </p:spPr>
        <p:txBody>
          <a:bodyPr wrap="square" anchor="t">
            <a:spAutoFit/>
          </a:bodyPr>
          <a:lstStyle/>
          <a:p>
            <a:pPr algn="r">
              <a:spcAft>
                <a:spcPts val="600"/>
              </a:spcAft>
            </a:pPr>
            <a:r>
              <a:rPr sz="1200" b="0">
                <a:solidFill>
                  <a:srgbClr val="5E625E"/>
                </a:solidFill>
                <a:latin typeface="Times New Roman"/>
              </a:rPr>
              <a:t>23</a:t>
            </a:r>
          </a:p>
        </p:txBody>
      </p:sp>
      <p:sp>
        <p:nvSpPr>
          <p:cNvPr id="4" name="TextBox 3"/>
          <p:cNvSpPr txBox="1"/>
          <p:nvPr/>
        </p:nvSpPr>
        <p:spPr>
          <a:xfrm>
            <a:off x="457200" y="6400800"/>
            <a:ext cx="5486400" cy="320040"/>
          </a:xfrm>
          <a:prstGeom prst="rect">
            <a:avLst/>
          </a:prstGeom>
          <a:noFill/>
        </p:spPr>
        <p:txBody>
          <a:bodyPr wrap="square" anchor="t">
            <a:spAutoFit/>
          </a:bodyPr>
          <a:lstStyle/>
          <a:p>
            <a:pPr algn="l">
              <a:spcAft>
                <a:spcPts val="600"/>
              </a:spcAft>
            </a:pPr>
            <a:r>
              <a:rPr sz="1200" b="0">
                <a:solidFill>
                  <a:srgbClr val="5E625E"/>
                </a:solidFill>
                <a:latin typeface="Times New Roman"/>
              </a:rPr>
              <a:t>InsightfulCell · CDU IT Code Fair Sydney 2026</a:t>
            </a:r>
          </a:p>
        </p:txBody>
      </p:sp>
      <p:sp>
        <p:nvSpPr>
          <p:cNvPr id="5" name="TextBox 4"/>
          <p:cNvSpPr txBox="1"/>
          <p:nvPr/>
        </p:nvSpPr>
        <p:spPr>
          <a:xfrm>
            <a:off x="502920" y="320040"/>
            <a:ext cx="11186160" cy="1005840"/>
          </a:xfrm>
          <a:prstGeom prst="rect">
            <a:avLst/>
          </a:prstGeom>
          <a:noFill/>
        </p:spPr>
        <p:txBody>
          <a:bodyPr wrap="square" anchor="ctr">
            <a:spAutoFit/>
          </a:bodyPr>
          <a:lstStyle/>
          <a:p>
            <a:pPr algn="l">
              <a:spcAft>
                <a:spcPts val="600"/>
              </a:spcAft>
            </a:pPr>
            <a:r>
              <a:rPr sz="2800" b="1">
                <a:solidFill>
                  <a:srgbClr val="1F2421"/>
                </a:solidFill>
                <a:latin typeface="Times New Roman"/>
              </a:rPr>
              <a:t>Roadmap</a:t>
            </a:r>
          </a:p>
        </p:txBody>
      </p:sp>
      <p:graphicFrame>
        <p:nvGraphicFramePr>
          <p:cNvPr id="6" name="Table 5"/>
          <p:cNvGraphicFramePr>
            <a:graphicFrameLocks noGrp="1"/>
          </p:cNvGraphicFramePr>
          <p:nvPr/>
        </p:nvGraphicFramePr>
        <p:xfrm>
          <a:off x="502920" y="1463040"/>
          <a:ext cx="11186160" cy="2743200"/>
        </p:xfrm>
        <a:graphic>
          <a:graphicData uri="http://schemas.openxmlformats.org/drawingml/2006/table">
            <a:tbl>
              <a:tblPr firstRow="1" bandRow="1">
                <a:tableStyleId>{5C22544A-7EE6-4342-B048-85BDC9FD1C3A}</a:tableStyleId>
              </a:tblPr>
              <a:tblGrid>
                <a:gridCol w="2743200"/>
                <a:gridCol w="2011680"/>
                <a:gridCol w="6431280"/>
              </a:tblGrid>
              <a:tr h="685800">
                <a:tc>
                  <a:txBody>
                    <a:bodyPr/>
                    <a:lstStyle/>
                    <a:p>
                      <a:r>
                        <a:rPr sz="1800" b="1">
                          <a:solidFill>
                            <a:srgbClr val="1F2421"/>
                          </a:solidFill>
                          <a:latin typeface="Times New Roman"/>
                        </a:rPr>
                        <a:t>Release</a:t>
                      </a:r>
                    </a:p>
                  </a:txBody>
                  <a:tcPr>
                    <a:solidFill>
                      <a:srgbClr val="EAF2EF"/>
                    </a:solidFill>
                  </a:tcPr>
                </a:tc>
                <a:tc>
                  <a:txBody>
                    <a:bodyPr/>
                    <a:lstStyle/>
                    <a:p>
                      <a:r>
                        <a:rPr sz="1800" b="1">
                          <a:solidFill>
                            <a:srgbClr val="1F2421"/>
                          </a:solidFill>
                          <a:latin typeface="Times New Roman"/>
                        </a:rPr>
                        <a:t>Target</a:t>
                      </a:r>
                    </a:p>
                  </a:txBody>
                  <a:tcPr>
                    <a:solidFill>
                      <a:srgbClr val="EAF2EF"/>
                    </a:solidFill>
                  </a:tcPr>
                </a:tc>
                <a:tc>
                  <a:txBody>
                    <a:bodyPr/>
                    <a:lstStyle/>
                    <a:p>
                      <a:r>
                        <a:rPr sz="1800" b="1">
                          <a:solidFill>
                            <a:srgbClr val="1F2421"/>
                          </a:solidFill>
                          <a:latin typeface="Times New Roman"/>
                        </a:rPr>
                        <a:t>What users get</a:t>
                      </a:r>
                    </a:p>
                  </a:txBody>
                  <a:tcPr>
                    <a:solidFill>
                      <a:srgbClr val="EAF2EF"/>
                    </a:solidFill>
                  </a:tcPr>
                </a:tc>
              </a:tr>
              <a:tr h="685800">
                <a:tc>
                  <a:txBody>
                    <a:bodyPr/>
                    <a:lstStyle/>
                    <a:p>
                      <a:r>
                        <a:rPr sz="1800" b="0">
                          <a:solidFill>
                            <a:srgbClr val="1F2421"/>
                          </a:solidFill>
                          <a:latin typeface="Times New Roman"/>
                        </a:rPr>
                        <a:t>Release 1 alpha</a:t>
                      </a:r>
                    </a:p>
                  </a:txBody>
                  <a:tcPr>
                    <a:solidFill>
                      <a:srgbClr val="FCFCFA"/>
                    </a:solidFill>
                  </a:tcPr>
                </a:tc>
                <a:tc>
                  <a:txBody>
                    <a:bodyPr/>
                    <a:lstStyle/>
                    <a:p>
                      <a:r>
                        <a:rPr sz="1800" b="0">
                          <a:solidFill>
                            <a:srgbClr val="1F2421"/>
                          </a:solidFill>
                          <a:latin typeface="Times New Roman"/>
                        </a:rPr>
                        <a:t>11 Dec 2026</a:t>
                      </a:r>
                    </a:p>
                  </a:txBody>
                  <a:tcPr>
                    <a:solidFill>
                      <a:srgbClr val="FCFCFA"/>
                    </a:solidFill>
                  </a:tcPr>
                </a:tc>
                <a:tc>
                  <a:txBody>
                    <a:bodyPr/>
                    <a:lstStyle/>
                    <a:p>
                      <a:r>
                        <a:rPr sz="1800" b="0">
                          <a:solidFill>
                            <a:srgbClr val="1F2421"/>
                          </a:solidFill>
                          <a:latin typeface="Times New Roman"/>
                        </a:rPr>
                        <a:t>Plain-language questions; safer cleaning; staging, monitoring, audit log, rate limits</a:t>
                      </a:r>
                    </a:p>
                  </a:txBody>
                  <a:tcPr>
                    <a:solidFill>
                      <a:srgbClr val="FCFCFA"/>
                    </a:solidFill>
                  </a:tcPr>
                </a:tc>
              </a:tr>
              <a:tr h="685800">
                <a:tc>
                  <a:txBody>
                    <a:bodyPr/>
                    <a:lstStyle/>
                    <a:p>
                      <a:r>
                        <a:rPr sz="1800" b="0">
                          <a:solidFill>
                            <a:srgbClr val="1F2421"/>
                          </a:solidFill>
                          <a:latin typeface="Times New Roman"/>
                        </a:rPr>
                        <a:t>Release 2 beta</a:t>
                      </a:r>
                    </a:p>
                  </a:txBody>
                  <a:tcPr>
                    <a:solidFill>
                      <a:srgbClr val="FCFCFA"/>
                    </a:solidFill>
                  </a:tcPr>
                </a:tc>
                <a:tc>
                  <a:txBody>
                    <a:bodyPr/>
                    <a:lstStyle/>
                    <a:p>
                      <a:r>
                        <a:rPr sz="1800" b="0">
                          <a:solidFill>
                            <a:srgbClr val="1F2421"/>
                          </a:solidFill>
                          <a:latin typeface="Times New Roman"/>
                        </a:rPr>
                        <a:t>12 Mar 2027</a:t>
                      </a:r>
                    </a:p>
                  </a:txBody>
                  <a:tcPr>
                    <a:solidFill>
                      <a:srgbClr val="FCFCFA"/>
                    </a:solidFill>
                  </a:tcPr>
                </a:tc>
                <a:tc>
                  <a:txBody>
                    <a:bodyPr/>
                    <a:lstStyle/>
                    <a:p>
                      <a:r>
                        <a:rPr sz="1800" b="0">
                          <a:solidFill>
                            <a:srgbClr val="1F2421"/>
                          </a:solidFill>
                          <a:latin typeface="Times New Roman"/>
                        </a:rPr>
                        <a:t>Team workspaces, roles and invitations; shared reports; search by meaning</a:t>
                      </a:r>
                    </a:p>
                  </a:txBody>
                  <a:tcPr>
                    <a:solidFill>
                      <a:srgbClr val="FCFCFA"/>
                    </a:solidFill>
                  </a:tcPr>
                </a:tc>
              </a:tr>
              <a:tr h="685800">
                <a:tc>
                  <a:txBody>
                    <a:bodyPr/>
                    <a:lstStyle/>
                    <a:p>
                      <a:r>
                        <a:rPr sz="1800" b="0">
                          <a:solidFill>
                            <a:srgbClr val="1F2421"/>
                          </a:solidFill>
                          <a:latin typeface="Times New Roman"/>
                        </a:rPr>
                        <a:t>General availability</a:t>
                      </a:r>
                    </a:p>
                  </a:txBody>
                  <a:tcPr>
                    <a:solidFill>
                      <a:srgbClr val="FCFCFA"/>
                    </a:solidFill>
                  </a:tcPr>
                </a:tc>
                <a:tc>
                  <a:txBody>
                    <a:bodyPr/>
                    <a:lstStyle/>
                    <a:p>
                      <a:r>
                        <a:rPr sz="1800" b="0">
                          <a:solidFill>
                            <a:srgbClr val="1F2421"/>
                          </a:solidFill>
                          <a:latin typeface="Times New Roman"/>
                        </a:rPr>
                        <a:t>9 Apr 2027</a:t>
                      </a:r>
                    </a:p>
                  </a:txBody>
                  <a:tcPr>
                    <a:solidFill>
                      <a:srgbClr val="FCFCFA"/>
                    </a:solidFill>
                  </a:tcPr>
                </a:tc>
                <a:tc>
                  <a:txBody>
                    <a:bodyPr/>
                    <a:lstStyle/>
                    <a:p>
                      <a:r>
                        <a:rPr sz="1800" b="0">
                          <a:solidFill>
                            <a:srgbClr val="1F2421"/>
                          </a:solidFill>
                          <a:latin typeface="Times New Roman"/>
                        </a:rPr>
                        <a:t>99.5% API availability, 98% successful analyses; compliance documentation</a:t>
                      </a:r>
                    </a:p>
                  </a:txBody>
                  <a:tcPr>
                    <a:solidFill>
                      <a:srgbClr val="FCFCFA"/>
                    </a:solidFill>
                  </a:tcPr>
                </a:tc>
              </a:tr>
            </a:tbl>
          </a:graphicData>
        </a:graphic>
      </p:graphicFrame>
    </p:spTree>
  </p:cSld>
  <p:clrMapOvr>
    <a:masterClrMapping/>
  </p:clrMapOvr>
</p:sld>
</file>

<file path=ppt/theme/theme1.xml><?xml version="1.0" encoding="utf-8"?>
<a:theme xmlns:a="http://schemas.openxmlformats.org/drawingml/2006/main" name="InsightfulCell">
  <a:themeElements>
    <a:clrScheme name="InsightfulCell">
      <a:dk1>
        <a:srgbClr val="1F2421"/>
      </a:dk1>
      <a:lt1>
        <a:srgbClr val="FCFCFA"/>
      </a:lt1>
      <a:dk2>
        <a:srgbClr val="17302A"/>
      </a:dk2>
      <a:lt2>
        <a:srgbClr val="F4F3F1"/>
      </a:lt2>
      <a:accent1>
        <a:srgbClr val="2F6F62"/>
      </a:accent1>
      <a:accent2>
        <a:srgbClr val="1A8A6F"/>
      </a:accent2>
      <a:accent3>
        <a:srgbClr val="86621F"/>
      </a:accent3>
      <a:accent4>
        <a:srgbClr val="A3402C"/>
      </a:accent4>
      <a:accent5>
        <a:srgbClr val="5E625E"/>
      </a:accent5>
      <a:accent6>
        <a:srgbClr val="DEDCD6"/>
      </a:accent6>
      <a:hlink>
        <a:srgbClr val="2F6F62"/>
      </a:hlink>
      <a:folHlink>
        <a:srgbClr val="5E625E"/>
      </a:folHlink>
    </a:clrScheme>
    <a:fontScheme name="InsightfulCel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InsightfulCell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InsightfulCell</dc:title>
  <dc:subject>PptxGenJS Presentation</dc:subject>
  <dc:creator>Rupesh Ghimire and Sandesh Prasad Paudel</dc:creator>
  <cp:lastModifiedBy>Rupesh Ghimire</cp:lastModifiedBy>
  <cp:revision>1</cp:revision>
  <dcterms:created xsi:type="dcterms:W3CDTF">2026-10-22T02:17:01Z</dcterms:created>
  <dcterms:modified xsi:type="dcterms:W3CDTF">2026-10-22T02:17:01Z</dcterms:modified>
</cp:coreProperties>
</file>