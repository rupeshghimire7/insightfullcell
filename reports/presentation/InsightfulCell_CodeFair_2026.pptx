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6619e0-99d3-e52a-2dc4-e0f83e13df42}">
          <p14:sldIdLst>
            <p14:sldId id="256"/>
            <p14:sldId id="257"/>
            <p14:sldId id="258"/>
          </p14:sldIdLst>
        </p14:section>
        <p14:section name="The product" id="{4988836a-8fdb-bf40-e2f1-d04ba4528843}">
          <p14:sldIdLst>
            <p14:sldId id="259"/>
            <p14:sldId id="260"/>
            <p14:sldId id="261"/>
            <p14:sldId id="262"/>
            <p14:sldId id="263"/>
            <p14:sldId id="264"/>
            <p14:sldId id="265"/>
            <p14:sldId id="266"/>
          </p14:sldIdLst>
        </p14:section>
        <p14:section name="How it works" id="{3d93205c-c4cf-2a1f-67ce-5b834204174e}">
          <p14:sldIdLst>
            <p14:sldId id="267"/>
            <p14:sldId id="268"/>
            <p14:sldId id="269"/>
            <p14:sldId id="270"/>
            <p14:sldId id="271"/>
            <p14:sldId id="272"/>
            <p14:sldId id="273"/>
            <p14:sldId id="274"/>
          </p14:sldIdLst>
        </p14:section>
        <p14:section name="Business prospect" id="{e842266a-5593-3938-bf1f-dc500040fdbc}">
          <p14:sldIdLst>
            <p14:sldId id="275"/>
            <p14:sldId id="276"/>
            <p14:sldId id="277"/>
            <p14:sldId id="278"/>
            <p14:sldId id="279"/>
          </p14:sldIdLst>
        </p14:section>
        <p14:section name="Close" id="{b63b6521-def3-435e-608d-f58c847dbe41}">
          <p14:sldIdLst>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promise in the title. InsightfulCell is a web platform: you upload a table and get back a cleaned dataset, statistically tested findings, checked charts and maps, and a report in plain language. The phrase 'every number shows its work' is literal: every figure in the product links to a stored, unchangeable fact you can inspect. It is live today on AWS at app.ic.rgproject.me. Introduce the team: Rupesh built the product end to end; Sandesh took it from local to the hosted AWS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People who own a spreadsheet want answers, not a statistics course. Today they choose between two imperfect options. General-purpose AI assistants are fluent but their numbers can be made up, their cleaning is invisible, and sending customer rows to a model is unacceptable for sensitive data. Traditional BI and statistics tools are accurate but need a skilled analyst. Our project started from one question, which is also our academic research question: can analysis be as easy as an assistant and as trustworthy as a careful 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design idea. Code computes; the language model only plans and writes; everything is checked. When two goals conflict we follow a fixed priority: correctness beats fluency, then traceability, then privacy, then simplicity of operation. So a plain, exact sentence always wins over a smooth, wrong one. These tenets are enforced in code and in tests, not just written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SCREEN NOW. Demo script, about 5 minutes: 1) Sign in to app.ic.rgproject.me and upload sample_data/4_analysis/01_ecommerce_orders.csv. 2) Click 'Analyse newest version' in Automatic mode and let the steps stream live. 3) Upload sample_data/3_complex/field_service_jobs.csv, choose Manual, and show the review page: each change with rows affected and before/after values. 4) Open the report: click a source chip such as F13 to show the test, interval, q-value and content hash. 5) Open the dashboard, the Australia map, then 'Show the numbers and explore a region' to start a drill-down. 6) Open 'See the data' and the Download menu. If the network fails, the following slides are the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the messy field-service file on the live site: 25 rows, 50 columns. Notice the columns marked 'Masked': customer name, email, phone, licence number and street address were detected as personal data before any analysis. Uploads never pass through our API: the browser computes the SHA-256 in a Web Worker and sends parts directly to S3 through presigned URLs, so the API stays small and fast. If you upload the same bytes again, nothing new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preparation is where silent errors usually creep in, so the person stays in charge. Automatic mode is the default for speed. Manual mode stops at a review gate: here 13 changes could remove or replace values, for example reading dates written as text, where 4 values could not be read. Each card shows exactly how many rows change and the before/after values. Nothing is applied until you approve, the original upload is never modified, and a downloadable Python recipe reproduces the cleaning outside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analysis is a run of twelve stages. Each stage is checkpointed by a hash of its inputs, configuration and code version, so a retry resumes where it stopped and an identical re-run reuses earlier work. On the live AWS server, a t3.micro with 1 GB of memory, the 5,000-row e-commerce file went from upload to finished report in 14 seconds, and 1,444 chart and map values were recomputed from the data with none withheld.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trust story. The report's 'In short' section and every answer cite facts like F13. Clicking a chip opens the fact inspector: the statement, an evidence badge (Strong evidence), the columns and 5,000 rows used, the method (Spearman rank correlation), the 95% interval, the p-value before and after false-discovery control, and a content hash. Facts are append-only in the database; updates and deletes are rejected by triggers.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puts the strongest findings first, each with an evidence badge: Strong evidence, Supported, Not reliable or Descriptive. Charts are not drawn from model output: every value is recomputed from the data by its own query, and a chart with any mismatch is withheld rather than shown wrong. Place columns are resolved offline against a packaged, digest-pinned reference set, so no data leaves the server for geocoding.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go further. 'See the data' opens a resizable panel with the rows as read from the file, one page at a time, with personal-data columns never read. A drill-down explores one group, for example Queensland, as a sub-run that reuses the approved plan and is clearly labelled exploratory, because the group was chosen after seeing results. The report downloads as PDF, Word, Markdown or HTML with no scripts. And the interface is accessible: every component has automated axe tests, with dark scheme and phone layouts.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is tenet three. The recipe page shows, word for word, the description a planning model would be sent: flagged 'personal_data_masked: true', with no rows, no personal values and rounded ranges only. A single gateway is the only code allowed to call a model; it blocks any payload containing personal data, enforces budgets and a hard spend cap, and records every call without prompt text. Importantly, the model is optional: the deployed site currently has none configured, and everything you saw was planned by our rules engine and written from templates.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engineering behind it: architecture, pipeline, statistics, security and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modular monolith shipped as three processes. The browser talks to the Next.js web app, which handles sign-in with Better Auth and proxies API calls as a backend-for-frontend, minting a 15-minute EdDSA token on the server so the browser never holds it. File bytes go straight to S3 through presigned URLs. The API and the worker are the same Python package; the worker does all heavy work and the only model calls. PostgreSQL holds business data, the job queue, the event log and the auth tables: one fewer system to run. Layering is enforced by six import-linter contracts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analysis runs as two jobs on the queue, split at the review gate. Phase A ingests and re-hashes the bytes, profiles every column, plans which questions to ask, and proposes typed cleaning operations. Phase B applies the approved cleaning, resolves places, keeps derived features only if they carry signal, mines the questions with nine statistical miners, re-tests the strongest findings without lossy cleaning, ranks them, recomputes every chart value and finally writes and verifies the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mechanism is what makes hallucinated numbers structurally impossible. The engine stores each finding as a fact. The writer, model or template, can only refer to numbers through slots. The engine fills them from the fact. Then a verifier checks every sentence for missing citations, stray numbers, wrong direction, wording that overstates the effect size, causal language and missing conditions. A failing sentence gets one rewrite, then falls back to the fact's own plain statement. Our evaluation suite plants 31 deliberate errors in narration; all 31 are rejected while 11 clean sentences are kept.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an academic audience: testing many hypotheses on one table inflates false positives. We control the false-discovery rate at 5% across the whole run with Benjamini–Hochberg, using every test in a persistent test log. Derived features must beat 19 random permutations, which is a 5% level permutation test. The ten strongest findings are re-tested on data with only lossless cleaning, to rule out findings created by our own cleaning. Findings are tiered honestly, and the verifier rejects causal language because correlational analysis cannot support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designed into the data layer, not bolted on. Every tenant query runs in a transaction that sets the organisation from the verified token, and every tenant table has forced row-level security, so even a bug in our service code cannot read another organisation's rows. In our 18 October system test, all 22 cross-tenant attacks failed. Tokens are short-lived and never reach page scripts. Results are tamper-evident. Uploads are treated as hostile. And because this runs as a public demo, a hard spend cap reserves the worst-case cost of each model call before it is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is deployed, not just a local demo. One free-tier EC2 instance runs PostgreSQL, the API, the worker and the web app under Docker Compose. A shared Caddy proxy provides automatic HTTPS. GitHub Actions builds the images on every push, because a 1 GB server cannot build the web app; the server only pulls them, and rolling back is deploying an earlier commit's images. Uploads go straight to a private S3 bucket using the instance role, so there are no keys in config files, and the database is dumped to a backups bucket every night. The only code change needed for AWS was signing upload links for the bucket's regional host. Credit to Sandesh for the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is measured, not claimed. 719 backend tests including integration tests on a real PostgreSQL with row-level security and real S3; 93% line coverage on the last full gate on 21 October; 422 frontend tests, each component with an automated accessibility check; and six architecture contracts so the analysis engine can never import web or database code. The same script runs locally and in CI. Plus two evaluation suites: planted statistical effects that must be found, and planted narration errors that must be rejected.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business side: market, positioning, a proposed model, and an honest view of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positioning is trust. Compared with general AI assistants, we keep raw data private and make every number traceable. Compared with BI and statistics tools, we remove the need for an analyst while keeping statistical control and reproducibility. The segments where this matters most: small and medium businesses without an analyst, NGOs and the public sector holding sensitive records, students and researchers who need auditable statistics, and consultants who need evidence they can hand to a client. This comparison is our qualitative assessment, not a measured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model for discussion, not validated pricing. Because the product works fully without a language model, the free tier can be served at near-zero marginal cost. Pro adds model planning and narration, protected by the per-person spend cap we already built. A team or private tier serves organisations that must keep data in their own cloud; our AWS deployment kit is the starting point. Our baseline design targets about 26 US cents of model cost per run, and rules-only runs cost nothing in model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academic spirit, we state our limitations. Our own system test found that automatic cleaning heuristics can change data silently in some cases, such as percentage columns on a 0 to 100 scale, decimal commas and close-sounding category names; manual review avoids this until the heuristics are fixed. Natural-language Q&amp;A is the next phase. Production is a single small server without monitoring. Our lessons: trust is won or lost in data preparation; building AI as optional made the product cheaper and more robust; and a real deployment surfaced a bug local tests could not, the S3 regional 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and where we are going. Phases 0 to 6 are built and tested, and on 22 October the product went live on AWS. Next come natural-language questions over the data, Phase 7, and production operations, Phase 8. The planned milestones are a Release 1 alpha on 11 December 2026, a beta in March 2027 and general availability in April 2027. These dates come from the baseline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recap: every number traces to an immutable, hashed fact; raw rows never reach a language model; false discoveries are controlled across the whole run; and the product works fully without AI and is live on AWS today. Invite the audience to try app.ic.rgproject.me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730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48840"/>
            <a:ext cx="6766560" cy="1737360"/>
          </a:xfrm>
          <a:prstGeom prst="rect">
            <a:avLst/>
          </a:prstGeom>
          <a:noFill/>
          <a:ln/>
        </p:spPr>
        <p:txBody>
          <a:bodyPr wrap="square" rtlCol="0"/>
          <a:lstStyle>
            <a:lvl1pPr algn="l" indent="0" marL="0">
              <a:buNone/>
              <a:defRPr lang="en-US" sz="4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600" dirty="0"/>
          </a:p>
        </p:txBody>
      </p:sp>
      <p:sp>
        <p:nvSpPr>
          <p:cNvPr id="3" name="Text 0"/>
          <p:cNvSpPr/>
          <p:nvPr>
            <p:ph idx="101" type="body" hasCustomPrompt="1"/>
          </p:nvPr>
        </p:nvSpPr>
        <p:spPr>
          <a:xfrm>
            <a:off x="548640" y="3977640"/>
            <a:ext cx="6309360" cy="109728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2F6F6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694944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548640" y="3703320"/>
            <a:ext cx="6949440" cy="128016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pic>
        <p:nvPicPr>
          <p:cNvPr id="4" name="Image 0" descr="/tmp/claude-1000/-home-contra-Desktop-CDU-CodeFair-InsightfullCell-coding-competition/3f3dfe39-544b-44e9-ace5-535ebf7acd3f/scratchpad/deck/logo.png">    </p:cNvPr>
          <p:cNvPicPr>
            <a:picLocks noChangeAspect="1"/>
          </p:cNvPicPr>
          <p:nvPr/>
        </p:nvPicPr>
        <p:blipFill>
          <a:blip r:embed="rId1"/>
          <a:stretch>
            <a:fillRect/>
          </a:stretch>
        </p:blipFill>
        <p:spPr>
          <a:xfrm>
            <a:off x="548640" y="502920"/>
            <a:ext cx="457200" cy="457200"/>
          </a:xfrm>
          <a:prstGeom prst="rect">
            <a:avLst/>
          </a:prstGeom>
        </p:spPr>
      </p:pic>
      <p:sp>
        <p:nvSpPr>
          <p:cNvPr id="5" name="Text 0"/>
          <p:cNvSpPr/>
          <p:nvPr/>
        </p:nvSpPr>
        <p:spPr>
          <a:xfrm>
            <a:off x="1115568" y="548640"/>
            <a:ext cx="2743200" cy="365760"/>
          </a:xfrm>
          <a:prstGeom prst="rect">
            <a:avLst/>
          </a:prstGeom>
          <a:noFill/>
          <a:ln/>
        </p:spPr>
        <p:txBody>
          <a:bodyPr wrap="square" lIns="0" tIns="0" rIns="0" bIns="0" rtlCol="0" anchor="ctr"/>
          <a:lstStyle/>
          <a:p>
            <a:pPr indent="0" marL="0">
              <a:buNone/>
            </a:pPr>
            <a:r>
              <a:rPr lang="en-US" sz="1400" b="1" dirty="0">
                <a:solidFill>
                  <a:schemeClr val="bg1"/>
                </a:solidFill>
                <a:latin typeface="Calibri" pitchFamily="34" charset="0"/>
                <a:ea typeface="Calibri" pitchFamily="34" charset="-122"/>
                <a:cs typeface="Calibri" pitchFamily="34" charset="-120"/>
              </a:rPr>
              <a:t>InsightfulCell</a:t>
            </a: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4F3F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pic>
        <p:nvPicPr>
          <p:cNvPr id="3" name="Image 0" descr="/tmp/claude-1000/-home-contra-Desktop-CDU-CodeFair-InsightfullCell-coding-competition/3f3dfe39-544b-44e9-ace5-535ebf7acd3f/scratchpad/deck/logo.png">    </p:cNvPr>
          <p:cNvPicPr>
            <a:picLocks noChangeAspect="1"/>
          </p:cNvPicPr>
          <p:nvPr/>
        </p:nvPicPr>
        <p:blipFill>
          <a:blip r:embed="rId1"/>
          <a:stretch>
            <a:fillRect/>
          </a:stretch>
        </p:blipFill>
        <p:spPr>
          <a:xfrm>
            <a:off x="548640" y="6400800"/>
            <a:ext cx="237744" cy="237744"/>
          </a:xfrm>
          <a:prstGeom prst="rect">
            <a:avLst/>
          </a:prstGeom>
        </p:spPr>
      </p:pic>
      <p:sp>
        <p:nvSpPr>
          <p:cNvPr id="4" name="Text 0"/>
          <p:cNvSpPr/>
          <p:nvPr/>
        </p:nvSpPr>
        <p:spPr>
          <a:xfrm>
            <a:off x="859536" y="6400800"/>
            <a:ext cx="4572000" cy="237744"/>
          </a:xfrm>
          <a:prstGeom prst="rect">
            <a:avLst/>
          </a:prstGeom>
          <a:noFill/>
          <a:ln/>
        </p:spPr>
        <p:txBody>
          <a:bodyPr wrap="square" lIns="0" tIns="0" rIns="0" bIns="0" rtlCol="0" anchor="ctr"/>
          <a:lstStyle/>
          <a:p>
            <a:pPr indent="0" marL="0">
              <a:buNone/>
            </a:pPr>
            <a:r>
              <a:rPr lang="en-US" sz="1000" dirty="0">
                <a:solidFill>
                  <a:schemeClr val="accent5"/>
                </a:solidFill>
                <a:latin typeface="Calibri" pitchFamily="34" charset="0"/>
                <a:ea typeface="Calibri" pitchFamily="34" charset="-122"/>
                <a:cs typeface="Calibri" pitchFamily="34" charset="-120"/>
              </a:rPr>
              <a:t>InsightfulCell  ·  CDU IT Code Fair 2026</a:t>
            </a:r>
            <a:endParaRPr lang="en-US" sz="1000" dirty="0"/>
          </a:p>
        </p:txBody>
      </p:sp>
      <p:sp>
        <p:nvSpPr>
          <p:cNvPr id="5" name="Shape 1"/>
          <p:cNvSpPr/>
          <p:nvPr/>
        </p:nvSpPr>
        <p:spPr>
          <a:xfrm>
            <a:off x="11076127" y="6391656"/>
            <a:ext cx="566928" cy="256032"/>
          </a:xfrm>
          <a:prstGeom prst="rect">
            <a:avLst>
              <a:gd name="adj" fmla="val 21429"/>
            </a:avLst>
          </a:prstGeom>
          <a:solidFill>
            <a:srgbClr val="E7F0EC"/>
          </a:solidFill>
          <a:ln w="9525">
            <a:solidFill>
              <a:srgbClr val="2F6F62"/>
            </a:solidFill>
            <a:prstDash val="solid"/>
          </a:ln>
        </p:spPr>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mp/claude-1000/-home-contra-Desktop-CDU-CodeFair-InsightfullCell-coding-competition/3f3dfe39-544b-44e9-ace5-535ebf7acd3f/scratchpad/deck/logo.png">    </p:cNvPr>
          <p:cNvPicPr>
            <a:picLocks noChangeAspect="1"/>
          </p:cNvPicPr>
          <p:nvPr/>
        </p:nvPicPr>
        <p:blipFill>
          <a:blip r:embed="rId1"/>
          <a:stretch>
            <a:fillRect/>
          </a:stretch>
        </p:blipFill>
        <p:spPr>
          <a:xfrm>
            <a:off x="548640" y="548640"/>
            <a:ext cx="566928" cy="566928"/>
          </a:xfrm>
          <a:prstGeom prst="rect">
            <a:avLst/>
          </a:prstGeom>
        </p:spPr>
      </p:pic>
      <p:sp>
        <p:nvSpPr>
          <p:cNvPr id="3" name="brand"/>
          <p:cNvSpPr txBox="1"/>
          <p:nvPr/>
        </p:nvSpPr>
        <p:spPr>
          <a:xfrm>
            <a:off x="1234440" y="621792"/>
            <a:ext cx="3657600" cy="411480"/>
          </a:xfrm>
          <a:prstGeom prst="rect">
            <a:avLst/>
          </a:prstGeom>
          <a:noFill/>
          <a:ln/>
        </p:spPr>
        <p:txBody>
          <a:bodyPr wrap="square" lIns="0" tIns="0" rIns="0" bIns="0" rtlCol="0" anchor="ctr"/>
          <a:lstStyle/>
          <a:p>
            <a:pPr indent="0" marL="0">
              <a:buNone/>
            </a:pPr>
            <a:r>
              <a:rPr lang="en-US" sz="1800" b="1" dirty="0">
                <a:solidFill>
                  <a:schemeClr val="bg1"/>
                </a:solidFill>
              </a:rPr>
              <a:t>InsightfulCell</a:t>
            </a:r>
            <a:endParaRPr lang="en-US" sz="1800" dirty="0"/>
          </a:p>
        </p:txBody>
      </p:sp>
      <p:sp>
        <p:nvSpPr>
          <p:cNvPr id="4" name="Text 0"/>
          <p:cNvSpPr/>
          <p:nvPr>
            <p:ph idx="100" type="title" hasCustomPrompt="1"/>
          </p:nvPr>
        </p:nvSpPr>
        <p:spPr>
          <a:xfrm>
            <a:off x="548640" y="2148840"/>
            <a:ext cx="6766560" cy="1737360"/>
          </a:xfrm>
          <a:prstGeom prst="rect">
            <a:avLst/>
          </a:prstGeom>
          <a:noFill/>
          <a:ln/>
        </p:spPr>
        <p:txBody>
          <a:bodyPr wrap="square" lIns="0" tIns="0" rIns="0" bIns="0"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Every number shows its work</a:t>
            </a:r>
            <a:endParaRPr lang="en-US" sz="4600" dirty="0"/>
          </a:p>
        </p:txBody>
      </p:sp>
      <p:sp>
        <p:nvSpPr>
          <p:cNvPr id="5" name="Text 0"/>
          <p:cNvSpPr/>
          <p:nvPr>
            <p:ph idx="101" type="body" hasCustomPrompt="1"/>
          </p:nvPr>
        </p:nvSpPr>
        <p:spPr>
          <a:xfrm>
            <a:off x="548640" y="3977640"/>
            <a:ext cx="6309360" cy="109728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A verified, privacy-first platform that turns a spreadsheet into tested findings, checked charts and a plain-language report.</a:t>
            </a:r>
            <a:endParaRPr lang="en-US" sz="1800" dirty="0"/>
          </a:p>
        </p:txBody>
      </p:sp>
      <p:sp>
        <p:nvSpPr>
          <p:cNvPr id="6" name="chip-1"/>
          <p:cNvSpPr/>
          <p:nvPr/>
        </p:nvSpPr>
        <p:spPr>
          <a:xfrm>
            <a:off x="548640" y="5257800"/>
            <a:ext cx="2743200" cy="274320"/>
          </a:xfrm>
          <a:prstGeom prst="roundRect">
            <a:avLst>
              <a:gd name="adj" fmla="val 20000"/>
            </a:avLst>
          </a:prstGeom>
          <a:solidFill>
            <a:srgbClr val="17302A"/>
          </a:solidFill>
          <a:ln w="9525">
            <a:solidFill>
              <a:srgbClr val="4FA391"/>
            </a:solidFill>
            <a:prstDash val="solid"/>
          </a:ln>
        </p:spPr>
      </p:sp>
      <p:sp>
        <p:nvSpPr>
          <p:cNvPr id="7" name="chip-text-2"/>
          <p:cNvSpPr txBox="1"/>
          <p:nvPr/>
        </p:nvSpPr>
        <p:spPr>
          <a:xfrm>
            <a:off x="548640" y="5257800"/>
            <a:ext cx="2743200" cy="274320"/>
          </a:xfrm>
          <a:prstGeom prst="rect">
            <a:avLst/>
          </a:prstGeom>
          <a:noFill/>
          <a:ln/>
        </p:spPr>
        <p:txBody>
          <a:bodyPr wrap="square" lIns="0" tIns="0" rIns="0" bIns="0" rtlCol="0" anchor="ctr"/>
          <a:lstStyle/>
          <a:p>
            <a:pPr algn="ctr" indent="0" marL="0">
              <a:buNone/>
            </a:pPr>
            <a:r>
              <a:rPr lang="en-US" sz="1000" dirty="0">
                <a:solidFill>
                  <a:srgbClr val="4FA391"/>
                </a:solidFill>
                <a:latin typeface="Courier New" pitchFamily="34" charset="0"/>
                <a:ea typeface="Courier New" pitchFamily="34" charset="-122"/>
                <a:cs typeface="Courier New" pitchFamily="34" charset="-120"/>
              </a:rPr>
              <a:t>LIVE · app.ic.rgproject.me</a:t>
            </a:r>
            <a:endParaRPr lang="en-US" sz="1000" dirty="0"/>
          </a:p>
        </p:txBody>
      </p:sp>
      <p:sp>
        <p:nvSpPr>
          <p:cNvPr id="8" name="team"/>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200" dirty="0">
                <a:solidFill>
                  <a:srgbClr val="E8E6E1"/>
                </a:solidFill>
              </a:rPr>
              <a:t>CDU IT Code Fair 2026  ·  Rupesh Ghimire (product and engineering)  ·  Sandesh Prasad Paudel (deployment)</a:t>
            </a:r>
            <a:endParaRPr lang="en-US" sz="1200" dirty="0"/>
          </a:p>
        </p:txBody>
      </p:sp>
      <p:sp>
        <p:nvSpPr>
          <p:cNvPr id="9" name="hero-frame"/>
          <p:cNvSpPr/>
          <p:nvPr/>
        </p:nvSpPr>
        <p:spPr>
          <a:xfrm>
            <a:off x="7726680" y="1234440"/>
            <a:ext cx="4206240" cy="4389120"/>
          </a:xfrm>
          <a:prstGeom prst="roundRect">
            <a:avLst>
              <a:gd name="adj" fmla="val 2609"/>
            </a:avLst>
          </a:prstGeom>
          <a:solidFill>
            <a:srgbClr val="F4F3F1"/>
          </a:solidFill>
          <a:ln w="9525">
            <a:solidFill>
              <a:srgbClr val="4FA391"/>
            </a:solidFill>
            <a:prstDash val="solid"/>
          </a:ln>
        </p:spPr>
      </p:sp>
      <p:pic>
        <p:nvPicPr>
          <p:cNvPr id="10" name="hero-shot" descr="Dashboard on a phone">    </p:cNvPr>
          <p:cNvPicPr>
            <a:picLocks noChangeAspect="1"/>
          </p:cNvPicPr>
          <p:nvPr/>
        </p:nvPicPr>
        <p:blipFill>
          <a:blip r:embed="rId2"/>
          <a:stretch>
            <a:fillRect/>
          </a:stretch>
        </p:blipFill>
        <p:spPr>
          <a:xfrm>
            <a:off x="8879106" y="1371600"/>
            <a:ext cx="1901389"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Spreadsheet owners face a trust gap</a:t>
            </a:r>
            <a:endParaRPr lang="en-US" sz="3000" dirty="0"/>
          </a:p>
        </p:txBody>
      </p:sp>
      <p:sp>
        <p:nvSpPr>
          <p:cNvPr id="3" name="card-3"/>
          <p:cNvSpPr/>
          <p:nvPr/>
        </p:nvSpPr>
        <p:spPr>
          <a:xfrm>
            <a:off x="548640" y="1325880"/>
            <a:ext cx="5440680" cy="3200400"/>
          </a:xfrm>
          <a:prstGeom prst="roundRect">
            <a:avLst>
              <a:gd name="adj" fmla="val 2857"/>
            </a:avLst>
          </a:prstGeom>
          <a:solidFill>
            <a:schemeClr val="bg1"/>
          </a:solidFill>
          <a:ln w="9525">
            <a:solidFill>
              <a:srgbClr val="DEDCD6"/>
            </a:solidFill>
            <a:prstDash val="solid"/>
          </a:ln>
        </p:spPr>
      </p:sp>
      <p:sp>
        <p:nvSpPr>
          <p:cNvPr id="4" name="icon-dot-4"/>
          <p:cNvSpPr/>
          <p:nvPr/>
        </p:nvSpPr>
        <p:spPr>
          <a:xfrm>
            <a:off x="868680" y="1600200"/>
            <a:ext cx="566928" cy="566928"/>
          </a:xfrm>
          <a:prstGeom prst="ellipse">
            <a:avLst/>
          </a:prstGeom>
          <a:solidFill>
            <a:srgbClr val="E7F0EC"/>
          </a:solidFill>
          <a:ln w="12700">
            <a:solidFill>
              <a:srgbClr val="E7F0EC"/>
            </a:solidFill>
            <a:prstDash val="solid"/>
          </a:ln>
        </p:spPr>
      </p:sp>
      <p:pic>
        <p:nvPicPr>
          <p:cNvPr id="5" name="icon-5" descr="preencoded.png">    </p:cNvPr>
          <p:cNvPicPr>
            <a:picLocks noChangeAspect="1"/>
          </p:cNvPicPr>
          <p:nvPr/>
        </p:nvPicPr>
        <p:blipFill>
          <a:blip r:embed="rId1"/>
          <a:stretch>
            <a:fillRect/>
          </a:stretch>
        </p:blipFill>
        <p:spPr>
          <a:xfrm>
            <a:off x="1004743" y="1736263"/>
            <a:ext cx="294803" cy="294803"/>
          </a:xfrm>
          <a:prstGeom prst="rect">
            <a:avLst/>
          </a:prstGeom>
        </p:spPr>
      </p:pic>
      <p:sp>
        <p:nvSpPr>
          <p:cNvPr id="6" name="text-6"/>
          <p:cNvSpPr txBox="1"/>
          <p:nvPr/>
        </p:nvSpPr>
        <p:spPr>
          <a:xfrm>
            <a:off x="1600200" y="1673352"/>
            <a:ext cx="41148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General AI assistants</a:t>
            </a:r>
            <a:endParaRPr lang="en-US" sz="2000" dirty="0"/>
          </a:p>
        </p:txBody>
      </p:sp>
      <p:sp>
        <p:nvSpPr>
          <p:cNvPr id="7" name="text-7"/>
          <p:cNvSpPr txBox="1"/>
          <p:nvPr/>
        </p:nvSpPr>
        <p:spPr>
          <a:xfrm>
            <a:off x="868680" y="2377440"/>
            <a:ext cx="4846320" cy="365760"/>
          </a:xfrm>
          <a:prstGeom prst="rect">
            <a:avLst/>
          </a:prstGeom>
          <a:noFill/>
          <a:ln/>
        </p:spPr>
        <p:txBody>
          <a:bodyPr wrap="square" lIns="0" tIns="0" rIns="0" bIns="0" rtlCol="0" anchor="t"/>
          <a:lstStyle/>
          <a:p>
            <a:pPr indent="0" marL="0">
              <a:buNone/>
            </a:pPr>
            <a:r>
              <a:rPr lang="en-US" sz="1500" b="1" dirty="0">
                <a:solidFill>
                  <a:schemeClr val="accent1"/>
                </a:solidFill>
              </a:rPr>
              <a:t>✓  Fluent, fast, no expertise needed</a:t>
            </a:r>
            <a:endParaRPr lang="en-US" sz="1500" dirty="0"/>
          </a:p>
        </p:txBody>
      </p:sp>
      <p:sp>
        <p:nvSpPr>
          <p:cNvPr id="8" name="bullets-8"/>
          <p:cNvSpPr txBox="1"/>
          <p:nvPr/>
        </p:nvSpPr>
        <p:spPr>
          <a:xfrm>
            <a:off x="868680" y="2926080"/>
            <a:ext cx="4846320" cy="155448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  Numbers can be invented, with no way to check</a:t>
            </a:r>
            <a:endParaRPr lang="en-US" sz="1600" dirty="0"/>
          </a:p>
          <a:p>
            <a:pPr indent="0" marL="0">
              <a:spcAft>
                <a:spcPts val="800"/>
              </a:spcAft>
              <a:buNone/>
            </a:pPr>
            <a:r>
              <a:rPr lang="en-US" sz="1600" dirty="0">
                <a:solidFill>
                  <a:schemeClr val="tx1"/>
                </a:solidFill>
              </a:rPr>
              <a:t>✗  Data cleaning happens invisibly</a:t>
            </a:r>
            <a:endParaRPr lang="en-US" sz="1600" dirty="0"/>
          </a:p>
          <a:p>
            <a:pPr indent="0" marL="0">
              <a:spcAft>
                <a:spcPts val="800"/>
              </a:spcAft>
              <a:buNone/>
            </a:pPr>
            <a:r>
              <a:rPr lang="en-US" sz="1600" dirty="0">
                <a:solidFill>
                  <a:schemeClr val="tx1"/>
                </a:solidFill>
              </a:rPr>
              <a:t>✗  Raw rows are sent to a third-party model</a:t>
            </a:r>
            <a:endParaRPr lang="en-US" sz="1600" dirty="0"/>
          </a:p>
        </p:txBody>
      </p:sp>
      <p:sp>
        <p:nvSpPr>
          <p:cNvPr id="9" name="card-9"/>
          <p:cNvSpPr/>
          <p:nvPr/>
        </p:nvSpPr>
        <p:spPr>
          <a:xfrm>
            <a:off x="6172200" y="1325880"/>
            <a:ext cx="5440680" cy="3200400"/>
          </a:xfrm>
          <a:prstGeom prst="roundRect">
            <a:avLst>
              <a:gd name="adj" fmla="val 2857"/>
            </a:avLst>
          </a:prstGeom>
          <a:solidFill>
            <a:schemeClr val="bg1"/>
          </a:solidFill>
          <a:ln w="9525">
            <a:solidFill>
              <a:srgbClr val="DEDCD6"/>
            </a:solidFill>
            <a:prstDash val="solid"/>
          </a:ln>
        </p:spPr>
      </p:sp>
      <p:sp>
        <p:nvSpPr>
          <p:cNvPr id="10" name="icon-dot-10"/>
          <p:cNvSpPr/>
          <p:nvPr/>
        </p:nvSpPr>
        <p:spPr>
          <a:xfrm>
            <a:off x="6492240" y="1600200"/>
            <a:ext cx="566928" cy="566928"/>
          </a:xfrm>
          <a:prstGeom prst="ellipse">
            <a:avLst/>
          </a:prstGeom>
          <a:solidFill>
            <a:srgbClr val="E7F0EC"/>
          </a:solidFill>
          <a:ln w="12700">
            <a:solidFill>
              <a:srgbClr val="E7F0EC"/>
            </a:solidFill>
            <a:prstDash val="solid"/>
          </a:ln>
        </p:spPr>
      </p:sp>
      <p:pic>
        <p:nvPicPr>
          <p:cNvPr id="11" name="icon-11" descr="preencoded.png">    </p:cNvPr>
          <p:cNvPicPr>
            <a:picLocks noChangeAspect="1"/>
          </p:cNvPicPr>
          <p:nvPr/>
        </p:nvPicPr>
        <p:blipFill>
          <a:blip r:embed="rId2"/>
          <a:stretch>
            <a:fillRect/>
          </a:stretch>
        </p:blipFill>
        <p:spPr>
          <a:xfrm>
            <a:off x="6628303" y="1736263"/>
            <a:ext cx="294803" cy="294803"/>
          </a:xfrm>
          <a:prstGeom prst="rect">
            <a:avLst/>
          </a:prstGeom>
        </p:spPr>
      </p:pic>
      <p:sp>
        <p:nvSpPr>
          <p:cNvPr id="12" name="text-12"/>
          <p:cNvSpPr txBox="1"/>
          <p:nvPr/>
        </p:nvSpPr>
        <p:spPr>
          <a:xfrm>
            <a:off x="7223760" y="1673352"/>
            <a:ext cx="411480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BI and statistics tools</a:t>
            </a:r>
            <a:endParaRPr lang="en-US" sz="2000" dirty="0"/>
          </a:p>
        </p:txBody>
      </p:sp>
      <p:sp>
        <p:nvSpPr>
          <p:cNvPr id="13" name="text-13"/>
          <p:cNvSpPr txBox="1"/>
          <p:nvPr/>
        </p:nvSpPr>
        <p:spPr>
          <a:xfrm>
            <a:off x="6492240" y="2377440"/>
            <a:ext cx="4846320" cy="365760"/>
          </a:xfrm>
          <a:prstGeom prst="rect">
            <a:avLst/>
          </a:prstGeom>
          <a:noFill/>
          <a:ln/>
        </p:spPr>
        <p:txBody>
          <a:bodyPr wrap="square" lIns="0" tIns="0" rIns="0" bIns="0" rtlCol="0" anchor="t"/>
          <a:lstStyle/>
          <a:p>
            <a:pPr indent="0" marL="0">
              <a:buNone/>
            </a:pPr>
            <a:r>
              <a:rPr lang="en-US" sz="1500" b="1" dirty="0">
                <a:solidFill>
                  <a:schemeClr val="accent1"/>
                </a:solidFill>
              </a:rPr>
              <a:t>✓  Accurate and reproducible</a:t>
            </a:r>
            <a:endParaRPr lang="en-US" sz="1500" dirty="0"/>
          </a:p>
        </p:txBody>
      </p:sp>
      <p:sp>
        <p:nvSpPr>
          <p:cNvPr id="14" name="bullets-14"/>
          <p:cNvSpPr txBox="1"/>
          <p:nvPr/>
        </p:nvSpPr>
        <p:spPr>
          <a:xfrm>
            <a:off x="6492240" y="2926080"/>
            <a:ext cx="4846320" cy="155448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  Need an analyst to prepare the data</a:t>
            </a:r>
            <a:endParaRPr lang="en-US" sz="1600" dirty="0"/>
          </a:p>
          <a:p>
            <a:pPr indent="0" marL="0">
              <a:spcAft>
                <a:spcPts val="800"/>
              </a:spcAft>
              <a:buNone/>
            </a:pPr>
            <a:r>
              <a:rPr lang="en-US" sz="1600" dirty="0">
                <a:solidFill>
                  <a:schemeClr val="tx1"/>
                </a:solidFill>
              </a:rPr>
              <a:t>✗  You must already know which questions to ask</a:t>
            </a:r>
            <a:endParaRPr lang="en-US" sz="1600" dirty="0"/>
          </a:p>
          <a:p>
            <a:pPr indent="0" marL="0">
              <a:spcAft>
                <a:spcPts val="800"/>
              </a:spcAft>
              <a:buNone/>
            </a:pPr>
            <a:r>
              <a:rPr lang="en-US" sz="1600" dirty="0">
                <a:solidFill>
                  <a:schemeClr val="tx1"/>
                </a:solidFill>
              </a:rPr>
              <a:t>✗  Weeks of set-up before the first answer</a:t>
            </a:r>
            <a:endParaRPr lang="en-US" sz="1600" dirty="0"/>
          </a:p>
        </p:txBody>
      </p:sp>
      <p:sp>
        <p:nvSpPr>
          <p:cNvPr id="15" name="question"/>
          <p:cNvSpPr/>
          <p:nvPr/>
        </p:nvSpPr>
        <p:spPr>
          <a:xfrm>
            <a:off x="548640" y="4846320"/>
            <a:ext cx="11064240" cy="1097280"/>
          </a:xfrm>
          <a:prstGeom prst="roundRect">
            <a:avLst>
              <a:gd name="adj" fmla="val 8333"/>
            </a:avLst>
          </a:prstGeom>
          <a:solidFill>
            <a:srgbClr val="E7F0EC"/>
          </a:solidFill>
          <a:ln w="12700">
            <a:solidFill>
              <a:srgbClr val="E7F0EC"/>
            </a:solidFill>
            <a:prstDash val="solid"/>
          </a:ln>
        </p:spPr>
      </p:sp>
      <p:sp>
        <p:nvSpPr>
          <p:cNvPr id="16" name="text-15"/>
          <p:cNvSpPr txBox="1"/>
          <p:nvPr/>
        </p:nvSpPr>
        <p:spPr>
          <a:xfrm>
            <a:off x="868680" y="4983480"/>
            <a:ext cx="10424160" cy="822960"/>
          </a:xfrm>
          <a:prstGeom prst="rect">
            <a:avLst/>
          </a:prstGeom>
          <a:noFill/>
          <a:ln/>
        </p:spPr>
        <p:txBody>
          <a:bodyPr wrap="square" lIns="0" tIns="0" rIns="0" bIns="0" rtlCol="0" anchor="ctr"/>
          <a:lstStyle/>
          <a:p>
            <a:pPr indent="0" marL="0">
              <a:buNone/>
            </a:pPr>
            <a:r>
              <a:rPr lang="en-US" sz="1700" b="1" dirty="0">
                <a:solidFill>
                  <a:schemeClr val="accent1"/>
                </a:solidFill>
              </a:rPr>
              <a:t>Our research question  </a:t>
            </a:r>
            <a:pPr indent="0" marL="0">
              <a:buNone/>
            </a:pPr>
            <a:r>
              <a:rPr lang="en-US" sz="1700" i="1" dirty="0">
                <a:solidFill>
                  <a:schemeClr val="tx1"/>
                </a:solidFill>
              </a:rPr>
              <a:t>Can analysing your own data be as easy as asking an assistant, and as trustworthy as the work of a careful analyst?</a:t>
            </a:r>
            <a:endParaRPr lang="en-US" sz="17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Our answer: a strict division of labour</a:t>
            </a:r>
            <a:endParaRPr lang="en-US" sz="3000" dirty="0"/>
          </a:p>
        </p:txBody>
      </p:sp>
      <p:sp>
        <p:nvSpPr>
          <p:cNvPr id="3" name="card-16"/>
          <p:cNvSpPr/>
          <p:nvPr/>
        </p:nvSpPr>
        <p:spPr>
          <a:xfrm>
            <a:off x="548640" y="1325880"/>
            <a:ext cx="3566160" cy="2971800"/>
          </a:xfrm>
          <a:prstGeom prst="roundRect">
            <a:avLst>
              <a:gd name="adj" fmla="val 3077"/>
            </a:avLst>
          </a:prstGeom>
          <a:solidFill>
            <a:schemeClr val="bg1"/>
          </a:solidFill>
          <a:ln w="9525">
            <a:solidFill>
              <a:srgbClr val="DEDCD6"/>
            </a:solidFill>
            <a:prstDash val="solid"/>
          </a:ln>
        </p:spPr>
      </p:sp>
      <p:sp>
        <p:nvSpPr>
          <p:cNvPr id="4" name="card-17"/>
          <p:cNvSpPr/>
          <p:nvPr/>
        </p:nvSpPr>
        <p:spPr>
          <a:xfrm>
            <a:off x="4297680" y="1325880"/>
            <a:ext cx="3566160" cy="2971800"/>
          </a:xfrm>
          <a:prstGeom prst="roundRect">
            <a:avLst>
              <a:gd name="adj" fmla="val 3077"/>
            </a:avLst>
          </a:prstGeom>
          <a:solidFill>
            <a:schemeClr val="bg1"/>
          </a:solidFill>
          <a:ln w="9525">
            <a:solidFill>
              <a:srgbClr val="DEDCD6"/>
            </a:solidFill>
            <a:prstDash val="solid"/>
          </a:ln>
        </p:spPr>
      </p:sp>
      <p:sp>
        <p:nvSpPr>
          <p:cNvPr id="5" name="card-18"/>
          <p:cNvSpPr/>
          <p:nvPr/>
        </p:nvSpPr>
        <p:spPr>
          <a:xfrm>
            <a:off x="8046720" y="1325880"/>
            <a:ext cx="3566160" cy="2971800"/>
          </a:xfrm>
          <a:prstGeom prst="roundRect">
            <a:avLst>
              <a:gd name="adj" fmla="val 3077"/>
            </a:avLst>
          </a:prstGeom>
          <a:solidFill>
            <a:schemeClr val="bg1"/>
          </a:solidFill>
          <a:ln w="9525">
            <a:solidFill>
              <a:srgbClr val="DEDCD6"/>
            </a:solidFill>
            <a:prstDash val="solid"/>
          </a:ln>
        </p:spPr>
      </p:sp>
      <p:sp>
        <p:nvSpPr>
          <p:cNvPr id="6" name="icon-dot-19"/>
          <p:cNvSpPr/>
          <p:nvPr/>
        </p:nvSpPr>
        <p:spPr>
          <a:xfrm>
            <a:off x="868680" y="1600200"/>
            <a:ext cx="640080" cy="640080"/>
          </a:xfrm>
          <a:prstGeom prst="ellipse">
            <a:avLst/>
          </a:prstGeom>
          <a:solidFill>
            <a:srgbClr val="E7F0EC"/>
          </a:solidFill>
          <a:ln w="12700">
            <a:solidFill>
              <a:srgbClr val="E7F0EC"/>
            </a:solidFill>
            <a:prstDash val="solid"/>
          </a:ln>
        </p:spPr>
      </p:sp>
      <p:pic>
        <p:nvPicPr>
          <p:cNvPr id="7" name="icon-20" descr="preencoded.png">    </p:cNvPr>
          <p:cNvPicPr>
            <a:picLocks noChangeAspect="1"/>
          </p:cNvPicPr>
          <p:nvPr/>
        </p:nvPicPr>
        <p:blipFill>
          <a:blip r:embed="rId1"/>
          <a:stretch>
            <a:fillRect/>
          </a:stretch>
        </p:blipFill>
        <p:spPr>
          <a:xfrm>
            <a:off x="1022299" y="1753819"/>
            <a:ext cx="332842" cy="332842"/>
          </a:xfrm>
          <a:prstGeom prst="rect">
            <a:avLst/>
          </a:prstGeom>
        </p:spPr>
      </p:pic>
      <p:sp>
        <p:nvSpPr>
          <p:cNvPr id="8" name="text-21"/>
          <p:cNvSpPr txBox="1"/>
          <p:nvPr/>
        </p:nvSpPr>
        <p:spPr>
          <a:xfrm>
            <a:off x="868680" y="2377440"/>
            <a:ext cx="3017520" cy="6858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Code computes</a:t>
            </a:r>
            <a:endParaRPr lang="en-US" sz="1900" dirty="0"/>
          </a:p>
        </p:txBody>
      </p:sp>
      <p:sp>
        <p:nvSpPr>
          <p:cNvPr id="9" name="text-22"/>
          <p:cNvSpPr txBox="1"/>
          <p:nvPr/>
        </p:nvSpPr>
        <p:spPr>
          <a:xfrm>
            <a:off x="868680" y="3108960"/>
            <a:ext cx="2971800" cy="1097280"/>
          </a:xfrm>
          <a:prstGeom prst="rect">
            <a:avLst/>
          </a:prstGeom>
          <a:noFill/>
          <a:ln/>
        </p:spPr>
        <p:txBody>
          <a:bodyPr wrap="square" lIns="0" tIns="0" rIns="0" bIns="0" rtlCol="0" anchor="t"/>
          <a:lstStyle/>
          <a:p>
            <a:pPr indent="0" marL="0">
              <a:buNone/>
            </a:pPr>
            <a:r>
              <a:rPr lang="en-US" sz="1400" dirty="0">
                <a:solidFill>
                  <a:schemeClr val="accent5"/>
                </a:solidFill>
              </a:rPr>
              <a:t>Every statistic, test, chart value and map value is calculated by deterministic code (DuckDB, SciPy).</a:t>
            </a:r>
            <a:endParaRPr lang="en-US" sz="1400" dirty="0"/>
          </a:p>
        </p:txBody>
      </p:sp>
      <p:sp>
        <p:nvSpPr>
          <p:cNvPr id="10" name="icon-dot-23"/>
          <p:cNvSpPr/>
          <p:nvPr/>
        </p:nvSpPr>
        <p:spPr>
          <a:xfrm>
            <a:off x="4617720" y="1600200"/>
            <a:ext cx="640080" cy="640080"/>
          </a:xfrm>
          <a:prstGeom prst="ellipse">
            <a:avLst/>
          </a:prstGeom>
          <a:solidFill>
            <a:srgbClr val="E7F0EC"/>
          </a:solidFill>
          <a:ln w="12700">
            <a:solidFill>
              <a:srgbClr val="E7F0EC"/>
            </a:solidFill>
            <a:prstDash val="solid"/>
          </a:ln>
        </p:spPr>
      </p:sp>
      <p:pic>
        <p:nvPicPr>
          <p:cNvPr id="11" name="icon-24" descr="preencoded.png">    </p:cNvPr>
          <p:cNvPicPr>
            <a:picLocks noChangeAspect="1"/>
          </p:cNvPicPr>
          <p:nvPr/>
        </p:nvPicPr>
        <p:blipFill>
          <a:blip r:embed="rId2"/>
          <a:stretch>
            <a:fillRect/>
          </a:stretch>
        </p:blipFill>
        <p:spPr>
          <a:xfrm>
            <a:off x="4771339" y="1753819"/>
            <a:ext cx="332842" cy="332842"/>
          </a:xfrm>
          <a:prstGeom prst="rect">
            <a:avLst/>
          </a:prstGeom>
        </p:spPr>
      </p:pic>
      <p:sp>
        <p:nvSpPr>
          <p:cNvPr id="12" name="text-25"/>
          <p:cNvSpPr txBox="1"/>
          <p:nvPr/>
        </p:nvSpPr>
        <p:spPr>
          <a:xfrm>
            <a:off x="4617720" y="2377440"/>
            <a:ext cx="3017520" cy="6858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The model only plans and writes</a:t>
            </a:r>
            <a:endParaRPr lang="en-US" sz="1900" dirty="0"/>
          </a:p>
        </p:txBody>
      </p:sp>
      <p:sp>
        <p:nvSpPr>
          <p:cNvPr id="13" name="text-26"/>
          <p:cNvSpPr txBox="1"/>
          <p:nvPr/>
        </p:nvSpPr>
        <p:spPr>
          <a:xfrm>
            <a:off x="4617720" y="3108960"/>
            <a:ext cx="2971800" cy="1097280"/>
          </a:xfrm>
          <a:prstGeom prst="rect">
            <a:avLst/>
          </a:prstGeom>
          <a:noFill/>
          <a:ln/>
        </p:spPr>
        <p:txBody>
          <a:bodyPr wrap="square" lIns="0" tIns="0" rIns="0" bIns="0" rtlCol="0" anchor="t"/>
          <a:lstStyle/>
          <a:p>
            <a:pPr indent="0" marL="0">
              <a:buNone/>
            </a:pPr>
            <a:r>
              <a:rPr lang="en-US" sz="1400" dirty="0">
                <a:solidFill>
                  <a:schemeClr val="accent5"/>
                </a:solidFill>
              </a:rPr>
              <a:t>A language model may suggest questions and phrase sentences. It never writes a number: it writes slots the engine fills.</a:t>
            </a:r>
            <a:endParaRPr lang="en-US" sz="1400" dirty="0"/>
          </a:p>
        </p:txBody>
      </p:sp>
      <p:sp>
        <p:nvSpPr>
          <p:cNvPr id="14" name="icon-dot-27"/>
          <p:cNvSpPr/>
          <p:nvPr/>
        </p:nvSpPr>
        <p:spPr>
          <a:xfrm>
            <a:off x="8366760" y="1600200"/>
            <a:ext cx="640080" cy="640080"/>
          </a:xfrm>
          <a:prstGeom prst="ellipse">
            <a:avLst/>
          </a:prstGeom>
          <a:solidFill>
            <a:srgbClr val="E7F0EC"/>
          </a:solidFill>
          <a:ln w="12700">
            <a:solidFill>
              <a:srgbClr val="E7F0EC"/>
            </a:solidFill>
            <a:prstDash val="solid"/>
          </a:ln>
        </p:spPr>
      </p:sp>
      <p:pic>
        <p:nvPicPr>
          <p:cNvPr id="15" name="icon-28" descr="preencoded.png">    </p:cNvPr>
          <p:cNvPicPr>
            <a:picLocks noChangeAspect="1"/>
          </p:cNvPicPr>
          <p:nvPr/>
        </p:nvPicPr>
        <p:blipFill>
          <a:blip r:embed="rId3"/>
          <a:stretch>
            <a:fillRect/>
          </a:stretch>
        </p:blipFill>
        <p:spPr>
          <a:xfrm>
            <a:off x="8520379" y="1753819"/>
            <a:ext cx="332842" cy="332842"/>
          </a:xfrm>
          <a:prstGeom prst="rect">
            <a:avLst/>
          </a:prstGeom>
        </p:spPr>
      </p:pic>
      <p:sp>
        <p:nvSpPr>
          <p:cNvPr id="16" name="text-29"/>
          <p:cNvSpPr txBox="1"/>
          <p:nvPr/>
        </p:nvSpPr>
        <p:spPr>
          <a:xfrm>
            <a:off x="8366760" y="2377440"/>
            <a:ext cx="3017520" cy="68580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Everything is checked</a:t>
            </a:r>
            <a:endParaRPr lang="en-US" sz="1900" dirty="0"/>
          </a:p>
        </p:txBody>
      </p:sp>
      <p:sp>
        <p:nvSpPr>
          <p:cNvPr id="17" name="text-30"/>
          <p:cNvSpPr txBox="1"/>
          <p:nvPr/>
        </p:nvSpPr>
        <p:spPr>
          <a:xfrm>
            <a:off x="8366760" y="3108960"/>
            <a:ext cx="2971800" cy="1097280"/>
          </a:xfrm>
          <a:prstGeom prst="rect">
            <a:avLst/>
          </a:prstGeom>
          <a:noFill/>
          <a:ln/>
        </p:spPr>
        <p:txBody>
          <a:bodyPr wrap="square" lIns="0" tIns="0" rIns="0" bIns="0" rtlCol="0" anchor="t"/>
          <a:lstStyle/>
          <a:p>
            <a:pPr indent="0" marL="0">
              <a:buNone/>
            </a:pPr>
            <a:r>
              <a:rPr lang="en-US" sz="1400" dirty="0">
                <a:solidFill>
                  <a:schemeClr val="accent5"/>
                </a:solidFill>
              </a:rPr>
              <a:t>Plans are validated, charts recomputed and every sentence verified against its facts before anyone sees it.</a:t>
            </a:r>
            <a:endParaRPr lang="en-US" sz="1400" dirty="0"/>
          </a:p>
        </p:txBody>
      </p:sp>
      <p:sp>
        <p:nvSpPr>
          <p:cNvPr id="18" name="text-31"/>
          <p:cNvSpPr txBox="1"/>
          <p:nvPr/>
        </p:nvSpPr>
        <p:spPr>
          <a:xfrm>
            <a:off x="548640" y="4526280"/>
            <a:ext cx="10972800" cy="320040"/>
          </a:xfrm>
          <a:prstGeom prst="rect">
            <a:avLst/>
          </a:prstGeom>
          <a:noFill/>
          <a:ln/>
        </p:spPr>
        <p:txBody>
          <a:bodyPr wrap="square" lIns="0" tIns="0" rIns="0" bIns="0" rtlCol="0" anchor="t"/>
          <a:lstStyle/>
          <a:p>
            <a:pPr indent="0" marL="0">
              <a:buNone/>
            </a:pPr>
            <a:r>
              <a:rPr lang="en-US" sz="1300" dirty="0">
                <a:solidFill>
                  <a:schemeClr val="accent5"/>
                </a:solidFill>
              </a:rPr>
              <a:t>Tenets, in priority order: when two goals conflict, the higher one wins</a:t>
            </a:r>
            <a:endParaRPr lang="en-US" sz="1300" dirty="0"/>
          </a:p>
        </p:txBody>
      </p:sp>
      <p:sp>
        <p:nvSpPr>
          <p:cNvPr id="19" name="tenet-32"/>
          <p:cNvSpPr/>
          <p:nvPr/>
        </p:nvSpPr>
        <p:spPr>
          <a:xfrm>
            <a:off x="548640" y="4937760"/>
            <a:ext cx="2633472" cy="502920"/>
          </a:xfrm>
          <a:prstGeom prst="roundRect">
            <a:avLst>
              <a:gd name="adj" fmla="val 18182"/>
            </a:avLst>
          </a:prstGeom>
          <a:solidFill>
            <a:srgbClr val="2F6F62"/>
          </a:solidFill>
          <a:ln w="9525">
            <a:solidFill>
              <a:srgbClr val="2F6F62"/>
            </a:solidFill>
            <a:prstDash val="solid"/>
          </a:ln>
        </p:spPr>
      </p:sp>
      <p:sp>
        <p:nvSpPr>
          <p:cNvPr id="20" name="tenet-text-33"/>
          <p:cNvSpPr txBox="1"/>
          <p:nvPr/>
        </p:nvSpPr>
        <p:spPr>
          <a:xfrm>
            <a:off x="548640" y="4937760"/>
            <a:ext cx="2633472" cy="502920"/>
          </a:xfrm>
          <a:prstGeom prst="rect">
            <a:avLst/>
          </a:prstGeom>
          <a:noFill/>
          <a:ln/>
        </p:spPr>
        <p:txBody>
          <a:bodyPr wrap="square" lIns="0" tIns="0" rIns="0" bIns="0" rtlCol="0" anchor="ctr"/>
          <a:lstStyle/>
          <a:p>
            <a:pPr algn="ctr" indent="0" marL="0">
              <a:buNone/>
            </a:pPr>
            <a:r>
              <a:rPr lang="en-US" sz="1400" b="1" dirty="0">
                <a:solidFill>
                  <a:schemeClr val="bg1"/>
                </a:solidFill>
              </a:rPr>
              <a:t>1  Correctness over fluency</a:t>
            </a:r>
            <a:endParaRPr lang="en-US" sz="1400" dirty="0"/>
          </a:p>
        </p:txBody>
      </p:sp>
      <p:sp>
        <p:nvSpPr>
          <p:cNvPr id="21" name="gt-34"/>
          <p:cNvSpPr txBox="1"/>
          <p:nvPr/>
        </p:nvSpPr>
        <p:spPr>
          <a:xfrm>
            <a:off x="3182112" y="4937760"/>
            <a:ext cx="256032" cy="50292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22" name="tenet-35"/>
          <p:cNvSpPr/>
          <p:nvPr/>
        </p:nvSpPr>
        <p:spPr>
          <a:xfrm>
            <a:off x="3456432" y="4937760"/>
            <a:ext cx="1645920" cy="502920"/>
          </a:xfrm>
          <a:prstGeom prst="roundRect">
            <a:avLst>
              <a:gd name="adj" fmla="val 18182"/>
            </a:avLst>
          </a:prstGeom>
          <a:solidFill>
            <a:srgbClr val="FCFCFA"/>
          </a:solidFill>
          <a:ln w="9525">
            <a:solidFill>
              <a:srgbClr val="2F6F62"/>
            </a:solidFill>
            <a:prstDash val="solid"/>
          </a:ln>
        </p:spPr>
      </p:sp>
      <p:sp>
        <p:nvSpPr>
          <p:cNvPr id="23" name="tenet-text-36"/>
          <p:cNvSpPr txBox="1"/>
          <p:nvPr/>
        </p:nvSpPr>
        <p:spPr>
          <a:xfrm>
            <a:off x="3456432" y="4937760"/>
            <a:ext cx="1645920" cy="502920"/>
          </a:xfrm>
          <a:prstGeom prst="rect">
            <a:avLst/>
          </a:prstGeom>
          <a:noFill/>
          <a:ln/>
        </p:spPr>
        <p:txBody>
          <a:bodyPr wrap="square" lIns="0" tIns="0" rIns="0" bIns="0" rtlCol="0" anchor="ctr"/>
          <a:lstStyle/>
          <a:p>
            <a:pPr algn="ctr" indent="0" marL="0">
              <a:buNone/>
            </a:pPr>
            <a:r>
              <a:rPr lang="en-US" sz="1400" b="1" dirty="0">
                <a:solidFill>
                  <a:schemeClr val="accent1"/>
                </a:solidFill>
              </a:rPr>
              <a:t>2  Traceability</a:t>
            </a:r>
            <a:endParaRPr lang="en-US" sz="1400" dirty="0"/>
          </a:p>
        </p:txBody>
      </p:sp>
      <p:sp>
        <p:nvSpPr>
          <p:cNvPr id="24" name="gt-37"/>
          <p:cNvSpPr txBox="1"/>
          <p:nvPr/>
        </p:nvSpPr>
        <p:spPr>
          <a:xfrm>
            <a:off x="5102352" y="4937760"/>
            <a:ext cx="256032" cy="50292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25" name="tenet-38"/>
          <p:cNvSpPr/>
          <p:nvPr/>
        </p:nvSpPr>
        <p:spPr>
          <a:xfrm>
            <a:off x="5376672" y="4937760"/>
            <a:ext cx="3374136" cy="502920"/>
          </a:xfrm>
          <a:prstGeom prst="roundRect">
            <a:avLst>
              <a:gd name="adj" fmla="val 18182"/>
            </a:avLst>
          </a:prstGeom>
          <a:solidFill>
            <a:srgbClr val="FCFCFA"/>
          </a:solidFill>
          <a:ln w="9525">
            <a:solidFill>
              <a:srgbClr val="2F6F62"/>
            </a:solidFill>
            <a:prstDash val="solid"/>
          </a:ln>
        </p:spPr>
      </p:sp>
      <p:sp>
        <p:nvSpPr>
          <p:cNvPr id="26" name="tenet-text-39"/>
          <p:cNvSpPr txBox="1"/>
          <p:nvPr/>
        </p:nvSpPr>
        <p:spPr>
          <a:xfrm>
            <a:off x="5376672" y="4937760"/>
            <a:ext cx="3374136" cy="502920"/>
          </a:xfrm>
          <a:prstGeom prst="rect">
            <a:avLst/>
          </a:prstGeom>
          <a:noFill/>
          <a:ln/>
        </p:spPr>
        <p:txBody>
          <a:bodyPr wrap="square" lIns="0" tIns="0" rIns="0" bIns="0" rtlCol="0" anchor="ctr"/>
          <a:lstStyle/>
          <a:p>
            <a:pPr algn="ctr" indent="0" marL="0">
              <a:buNone/>
            </a:pPr>
            <a:r>
              <a:rPr lang="en-US" sz="1400" b="1" dirty="0">
                <a:solidFill>
                  <a:schemeClr val="accent1"/>
                </a:solidFill>
              </a:rPr>
              <a:t>3  Privacy: rows never reach a model</a:t>
            </a:r>
            <a:endParaRPr lang="en-US" sz="1400" dirty="0"/>
          </a:p>
        </p:txBody>
      </p:sp>
      <p:sp>
        <p:nvSpPr>
          <p:cNvPr id="27" name="gt-40"/>
          <p:cNvSpPr txBox="1"/>
          <p:nvPr/>
        </p:nvSpPr>
        <p:spPr>
          <a:xfrm>
            <a:off x="8750808" y="4937760"/>
            <a:ext cx="256032" cy="502920"/>
          </a:xfrm>
          <a:prstGeom prst="rect">
            <a:avLst/>
          </a:prstGeom>
          <a:noFill/>
          <a:ln/>
        </p:spPr>
        <p:txBody>
          <a:bodyPr wrap="square" lIns="0" tIns="0" rIns="0" bIns="0" rtlCol="0" anchor="ctr"/>
          <a:lstStyle/>
          <a:p>
            <a:pPr algn="ctr" indent="0" marL="0">
              <a:buNone/>
            </a:pPr>
            <a:r>
              <a:rPr lang="en-US" sz="2000" dirty="0">
                <a:solidFill>
                  <a:schemeClr val="accent5"/>
                </a:solidFill>
              </a:rPr>
              <a:t>›</a:t>
            </a:r>
            <a:endParaRPr lang="en-US" sz="2000" dirty="0"/>
          </a:p>
        </p:txBody>
      </p:sp>
      <p:sp>
        <p:nvSpPr>
          <p:cNvPr id="28" name="tenet-41"/>
          <p:cNvSpPr/>
          <p:nvPr/>
        </p:nvSpPr>
        <p:spPr>
          <a:xfrm>
            <a:off x="9025128" y="4937760"/>
            <a:ext cx="2057400" cy="502920"/>
          </a:xfrm>
          <a:prstGeom prst="roundRect">
            <a:avLst>
              <a:gd name="adj" fmla="val 18182"/>
            </a:avLst>
          </a:prstGeom>
          <a:solidFill>
            <a:srgbClr val="FCFCFA"/>
          </a:solidFill>
          <a:ln w="9525">
            <a:solidFill>
              <a:srgbClr val="2F6F62"/>
            </a:solidFill>
            <a:prstDash val="solid"/>
          </a:ln>
        </p:spPr>
      </p:sp>
      <p:sp>
        <p:nvSpPr>
          <p:cNvPr id="29" name="tenet-text-42"/>
          <p:cNvSpPr txBox="1"/>
          <p:nvPr/>
        </p:nvSpPr>
        <p:spPr>
          <a:xfrm>
            <a:off x="9025128" y="4937760"/>
            <a:ext cx="2057400" cy="502920"/>
          </a:xfrm>
          <a:prstGeom prst="rect">
            <a:avLst/>
          </a:prstGeom>
          <a:noFill/>
          <a:ln/>
        </p:spPr>
        <p:txBody>
          <a:bodyPr wrap="square" lIns="0" tIns="0" rIns="0" bIns="0" rtlCol="0" anchor="ctr"/>
          <a:lstStyle/>
          <a:p>
            <a:pPr algn="ctr" indent="0" marL="0">
              <a:buNone/>
            </a:pPr>
            <a:r>
              <a:rPr lang="en-US" sz="1400" b="1" dirty="0">
                <a:solidFill>
                  <a:schemeClr val="accent1"/>
                </a:solidFill>
              </a:rPr>
              <a:t>4  Simple to operate</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694944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Live demo</a:t>
            </a:r>
            <a:endParaRPr lang="en-US" sz="4400" dirty="0"/>
          </a:p>
        </p:txBody>
      </p:sp>
      <p:sp>
        <p:nvSpPr>
          <p:cNvPr id="3" name="Text 0"/>
          <p:cNvSpPr/>
          <p:nvPr>
            <p:ph idx="101" type="body" hasCustomPrompt="1"/>
          </p:nvPr>
        </p:nvSpPr>
        <p:spPr>
          <a:xfrm>
            <a:off x="548640" y="3703320"/>
            <a:ext cx="6949440" cy="128016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We now switch to the deployed site, app.ic.rgproject.me. The next slides show the same journey, captured on the live site on 22 October 2026.</a:t>
            </a:r>
            <a:endParaRPr lang="en-US" sz="1800" dirty="0"/>
          </a:p>
        </p:txBody>
      </p:sp>
      <p:sp>
        <p:nvSpPr>
          <p:cNvPr id="4" name="step-dot-43"/>
          <p:cNvSpPr/>
          <p:nvPr/>
        </p:nvSpPr>
        <p:spPr>
          <a:xfrm>
            <a:off x="7955280" y="1417320"/>
            <a:ext cx="384048" cy="384048"/>
          </a:xfrm>
          <a:prstGeom prst="ellipse">
            <a:avLst/>
          </a:prstGeom>
          <a:solidFill>
            <a:srgbClr val="17302A"/>
          </a:solidFill>
          <a:ln w="9525">
            <a:solidFill>
              <a:srgbClr val="4FA391"/>
            </a:solidFill>
            <a:prstDash val="solid"/>
          </a:ln>
        </p:spPr>
      </p:sp>
      <p:sp>
        <p:nvSpPr>
          <p:cNvPr id="5" name="step-n-44"/>
          <p:cNvSpPr txBox="1"/>
          <p:nvPr/>
        </p:nvSpPr>
        <p:spPr>
          <a:xfrm>
            <a:off x="7955280" y="14173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1</a:t>
            </a:r>
            <a:endParaRPr lang="en-US" sz="1200" dirty="0"/>
          </a:p>
        </p:txBody>
      </p:sp>
      <p:sp>
        <p:nvSpPr>
          <p:cNvPr id="6" name="step-t-45"/>
          <p:cNvSpPr txBox="1"/>
          <p:nvPr/>
        </p:nvSpPr>
        <p:spPr>
          <a:xfrm>
            <a:off x="8503920" y="1417320"/>
            <a:ext cx="3200400" cy="384048"/>
          </a:xfrm>
          <a:prstGeom prst="rect">
            <a:avLst/>
          </a:prstGeom>
          <a:noFill/>
          <a:ln/>
        </p:spPr>
        <p:txBody>
          <a:bodyPr wrap="square" lIns="0" tIns="0" rIns="0" bIns="0" rtlCol="0" anchor="ctr"/>
          <a:lstStyle/>
          <a:p>
            <a:pPr indent="0" marL="0">
              <a:buNone/>
            </a:pPr>
            <a:r>
              <a:rPr lang="en-US" sz="1400" dirty="0">
                <a:solidFill>
                  <a:schemeClr val="bg1"/>
                </a:solidFill>
              </a:rPr>
              <a:t>Sign in and upload a spreadsheet</a:t>
            </a:r>
            <a:endParaRPr lang="en-US" sz="1400" dirty="0"/>
          </a:p>
        </p:txBody>
      </p:sp>
      <p:sp>
        <p:nvSpPr>
          <p:cNvPr id="7" name="step-dot-46"/>
          <p:cNvSpPr/>
          <p:nvPr/>
        </p:nvSpPr>
        <p:spPr>
          <a:xfrm>
            <a:off x="7955280" y="2103120"/>
            <a:ext cx="384048" cy="384048"/>
          </a:xfrm>
          <a:prstGeom prst="ellipse">
            <a:avLst/>
          </a:prstGeom>
          <a:solidFill>
            <a:srgbClr val="17302A"/>
          </a:solidFill>
          <a:ln w="9525">
            <a:solidFill>
              <a:srgbClr val="4FA391"/>
            </a:solidFill>
            <a:prstDash val="solid"/>
          </a:ln>
        </p:spPr>
      </p:sp>
      <p:sp>
        <p:nvSpPr>
          <p:cNvPr id="8" name="step-n-47"/>
          <p:cNvSpPr txBox="1"/>
          <p:nvPr/>
        </p:nvSpPr>
        <p:spPr>
          <a:xfrm>
            <a:off x="7955280" y="21031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2</a:t>
            </a:r>
            <a:endParaRPr lang="en-US" sz="1200" dirty="0"/>
          </a:p>
        </p:txBody>
      </p:sp>
      <p:sp>
        <p:nvSpPr>
          <p:cNvPr id="9" name="step-t-48"/>
          <p:cNvSpPr txBox="1"/>
          <p:nvPr/>
        </p:nvSpPr>
        <p:spPr>
          <a:xfrm>
            <a:off x="8503920" y="2103120"/>
            <a:ext cx="3200400" cy="384048"/>
          </a:xfrm>
          <a:prstGeom prst="rect">
            <a:avLst/>
          </a:prstGeom>
          <a:noFill/>
          <a:ln/>
        </p:spPr>
        <p:txBody>
          <a:bodyPr wrap="square" lIns="0" tIns="0" rIns="0" bIns="0" rtlCol="0" anchor="ctr"/>
          <a:lstStyle/>
          <a:p>
            <a:pPr indent="0" marL="0">
              <a:buNone/>
            </a:pPr>
            <a:r>
              <a:rPr lang="en-US" sz="1400" dirty="0">
                <a:solidFill>
                  <a:schemeClr val="bg1"/>
                </a:solidFill>
              </a:rPr>
              <a:t>Watch the analysis run live</a:t>
            </a:r>
            <a:endParaRPr lang="en-US" sz="1400" dirty="0"/>
          </a:p>
        </p:txBody>
      </p:sp>
      <p:sp>
        <p:nvSpPr>
          <p:cNvPr id="10" name="step-dot-49"/>
          <p:cNvSpPr/>
          <p:nvPr/>
        </p:nvSpPr>
        <p:spPr>
          <a:xfrm>
            <a:off x="7955280" y="2788920"/>
            <a:ext cx="384048" cy="384048"/>
          </a:xfrm>
          <a:prstGeom prst="ellipse">
            <a:avLst/>
          </a:prstGeom>
          <a:solidFill>
            <a:srgbClr val="17302A"/>
          </a:solidFill>
          <a:ln w="9525">
            <a:solidFill>
              <a:srgbClr val="4FA391"/>
            </a:solidFill>
            <a:prstDash val="solid"/>
          </a:ln>
        </p:spPr>
      </p:sp>
      <p:sp>
        <p:nvSpPr>
          <p:cNvPr id="11" name="step-n-50"/>
          <p:cNvSpPr txBox="1"/>
          <p:nvPr/>
        </p:nvSpPr>
        <p:spPr>
          <a:xfrm>
            <a:off x="7955280" y="27889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3</a:t>
            </a:r>
            <a:endParaRPr lang="en-US" sz="1200" dirty="0"/>
          </a:p>
        </p:txBody>
      </p:sp>
      <p:sp>
        <p:nvSpPr>
          <p:cNvPr id="12" name="step-t-51"/>
          <p:cNvSpPr txBox="1"/>
          <p:nvPr/>
        </p:nvSpPr>
        <p:spPr>
          <a:xfrm>
            <a:off x="8503920" y="2788920"/>
            <a:ext cx="3200400" cy="384048"/>
          </a:xfrm>
          <a:prstGeom prst="rect">
            <a:avLst/>
          </a:prstGeom>
          <a:noFill/>
          <a:ln/>
        </p:spPr>
        <p:txBody>
          <a:bodyPr wrap="square" lIns="0" tIns="0" rIns="0" bIns="0" rtlCol="0" anchor="ctr"/>
          <a:lstStyle/>
          <a:p>
            <a:pPr indent="0" marL="0">
              <a:buNone/>
            </a:pPr>
            <a:r>
              <a:rPr lang="en-US" sz="1400" dirty="0">
                <a:solidFill>
                  <a:schemeClr val="bg1"/>
                </a:solidFill>
              </a:rPr>
              <a:t>Review the cleaning (manual mode)</a:t>
            </a:r>
            <a:endParaRPr lang="en-US" sz="1400" dirty="0"/>
          </a:p>
        </p:txBody>
      </p:sp>
      <p:sp>
        <p:nvSpPr>
          <p:cNvPr id="13" name="step-dot-52"/>
          <p:cNvSpPr/>
          <p:nvPr/>
        </p:nvSpPr>
        <p:spPr>
          <a:xfrm>
            <a:off x="7955280" y="3474720"/>
            <a:ext cx="384048" cy="384048"/>
          </a:xfrm>
          <a:prstGeom prst="ellipse">
            <a:avLst/>
          </a:prstGeom>
          <a:solidFill>
            <a:srgbClr val="17302A"/>
          </a:solidFill>
          <a:ln w="9525">
            <a:solidFill>
              <a:srgbClr val="4FA391"/>
            </a:solidFill>
            <a:prstDash val="solid"/>
          </a:ln>
        </p:spPr>
      </p:sp>
      <p:sp>
        <p:nvSpPr>
          <p:cNvPr id="14" name="step-n-53"/>
          <p:cNvSpPr txBox="1"/>
          <p:nvPr/>
        </p:nvSpPr>
        <p:spPr>
          <a:xfrm>
            <a:off x="7955280" y="34747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4</a:t>
            </a:r>
            <a:endParaRPr lang="en-US" sz="1200" dirty="0"/>
          </a:p>
        </p:txBody>
      </p:sp>
      <p:sp>
        <p:nvSpPr>
          <p:cNvPr id="15" name="step-t-54"/>
          <p:cNvSpPr txBox="1"/>
          <p:nvPr/>
        </p:nvSpPr>
        <p:spPr>
          <a:xfrm>
            <a:off x="8503920" y="3474720"/>
            <a:ext cx="3200400" cy="384048"/>
          </a:xfrm>
          <a:prstGeom prst="rect">
            <a:avLst/>
          </a:prstGeom>
          <a:noFill/>
          <a:ln/>
        </p:spPr>
        <p:txBody>
          <a:bodyPr wrap="square" lIns="0" tIns="0" rIns="0" bIns="0" rtlCol="0" anchor="ctr"/>
          <a:lstStyle/>
          <a:p>
            <a:pPr indent="0" marL="0">
              <a:buNone/>
            </a:pPr>
            <a:r>
              <a:rPr lang="en-US" sz="1400" dirty="0">
                <a:solidFill>
                  <a:schemeClr val="bg1"/>
                </a:solidFill>
              </a:rPr>
              <a:t>Read the report; open a fact</a:t>
            </a:r>
            <a:endParaRPr lang="en-US" sz="1400" dirty="0"/>
          </a:p>
        </p:txBody>
      </p:sp>
      <p:sp>
        <p:nvSpPr>
          <p:cNvPr id="16" name="step-dot-55"/>
          <p:cNvSpPr/>
          <p:nvPr/>
        </p:nvSpPr>
        <p:spPr>
          <a:xfrm>
            <a:off x="7955280" y="4160520"/>
            <a:ext cx="384048" cy="384048"/>
          </a:xfrm>
          <a:prstGeom prst="ellipse">
            <a:avLst/>
          </a:prstGeom>
          <a:solidFill>
            <a:srgbClr val="17302A"/>
          </a:solidFill>
          <a:ln w="9525">
            <a:solidFill>
              <a:srgbClr val="4FA391"/>
            </a:solidFill>
            <a:prstDash val="solid"/>
          </a:ln>
        </p:spPr>
      </p:sp>
      <p:sp>
        <p:nvSpPr>
          <p:cNvPr id="17" name="step-n-56"/>
          <p:cNvSpPr txBox="1"/>
          <p:nvPr/>
        </p:nvSpPr>
        <p:spPr>
          <a:xfrm>
            <a:off x="7955280" y="41605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5</a:t>
            </a:r>
            <a:endParaRPr lang="en-US" sz="1200" dirty="0"/>
          </a:p>
        </p:txBody>
      </p:sp>
      <p:sp>
        <p:nvSpPr>
          <p:cNvPr id="18" name="step-t-57"/>
          <p:cNvSpPr txBox="1"/>
          <p:nvPr/>
        </p:nvSpPr>
        <p:spPr>
          <a:xfrm>
            <a:off x="8503920" y="4160520"/>
            <a:ext cx="3200400" cy="384048"/>
          </a:xfrm>
          <a:prstGeom prst="rect">
            <a:avLst/>
          </a:prstGeom>
          <a:noFill/>
          <a:ln/>
        </p:spPr>
        <p:txBody>
          <a:bodyPr wrap="square" lIns="0" tIns="0" rIns="0" bIns="0" rtlCol="0" anchor="ctr"/>
          <a:lstStyle/>
          <a:p>
            <a:pPr indent="0" marL="0">
              <a:buNone/>
            </a:pPr>
            <a:r>
              <a:rPr lang="en-US" sz="1400" dirty="0">
                <a:solidFill>
                  <a:schemeClr val="bg1"/>
                </a:solidFill>
              </a:rPr>
              <a:t>Dashboard, maps and a drill-down</a:t>
            </a:r>
            <a:endParaRPr lang="en-US" sz="1400" dirty="0"/>
          </a:p>
        </p:txBody>
      </p:sp>
      <p:sp>
        <p:nvSpPr>
          <p:cNvPr id="19" name="step-dot-58"/>
          <p:cNvSpPr/>
          <p:nvPr/>
        </p:nvSpPr>
        <p:spPr>
          <a:xfrm>
            <a:off x="7955280" y="4846320"/>
            <a:ext cx="384048" cy="384048"/>
          </a:xfrm>
          <a:prstGeom prst="ellipse">
            <a:avLst/>
          </a:prstGeom>
          <a:solidFill>
            <a:srgbClr val="17302A"/>
          </a:solidFill>
          <a:ln w="9525">
            <a:solidFill>
              <a:srgbClr val="4FA391"/>
            </a:solidFill>
            <a:prstDash val="solid"/>
          </a:ln>
        </p:spPr>
      </p:sp>
      <p:sp>
        <p:nvSpPr>
          <p:cNvPr id="20" name="step-n-59"/>
          <p:cNvSpPr txBox="1"/>
          <p:nvPr/>
        </p:nvSpPr>
        <p:spPr>
          <a:xfrm>
            <a:off x="7955280" y="4846320"/>
            <a:ext cx="384048" cy="384048"/>
          </a:xfrm>
          <a:prstGeom prst="rect">
            <a:avLst/>
          </a:prstGeom>
          <a:noFill/>
          <a:ln/>
        </p:spPr>
        <p:txBody>
          <a:bodyPr wrap="square" lIns="0" tIns="0" rIns="0" bIns="0" rtlCol="0" anchor="ctr"/>
          <a:lstStyle/>
          <a:p>
            <a:pPr algn="ctr" indent="0" marL="0">
              <a:buNone/>
            </a:pPr>
            <a:r>
              <a:rPr lang="en-US" sz="1200" b="1" dirty="0">
                <a:solidFill>
                  <a:srgbClr val="4FA391"/>
                </a:solidFill>
                <a:latin typeface="Courier New" pitchFamily="34" charset="0"/>
                <a:ea typeface="Courier New" pitchFamily="34" charset="-122"/>
                <a:cs typeface="Courier New" pitchFamily="34" charset="-120"/>
              </a:rPr>
              <a:t>6</a:t>
            </a:r>
            <a:endParaRPr lang="en-US" sz="1200" dirty="0"/>
          </a:p>
        </p:txBody>
      </p:sp>
      <p:sp>
        <p:nvSpPr>
          <p:cNvPr id="21" name="step-t-60"/>
          <p:cNvSpPr txBox="1"/>
          <p:nvPr/>
        </p:nvSpPr>
        <p:spPr>
          <a:xfrm>
            <a:off x="8503920" y="4846320"/>
            <a:ext cx="3200400" cy="384048"/>
          </a:xfrm>
          <a:prstGeom prst="rect">
            <a:avLst/>
          </a:prstGeom>
          <a:noFill/>
          <a:ln/>
        </p:spPr>
        <p:txBody>
          <a:bodyPr wrap="square" lIns="0" tIns="0" rIns="0" bIns="0" rtlCol="0" anchor="ctr"/>
          <a:lstStyle/>
          <a:p>
            <a:pPr indent="0" marL="0">
              <a:buNone/>
            </a:pPr>
            <a:r>
              <a:rPr lang="en-US" sz="1400" dirty="0">
                <a:solidFill>
                  <a:schemeClr val="bg1"/>
                </a:solidFill>
              </a:rPr>
              <a:t>See the data, download the report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Upload once; every column is understood</a:t>
            </a:r>
            <a:endParaRPr lang="en-US" sz="3000" dirty="0"/>
          </a:p>
        </p:txBody>
      </p:sp>
      <p:sp>
        <p:nvSpPr>
          <p:cNvPr id="3" name="frame-61"/>
          <p:cNvSpPr/>
          <p:nvPr/>
        </p:nvSpPr>
        <p:spPr>
          <a:xfrm>
            <a:off x="5568696" y="1271016"/>
            <a:ext cx="6099048" cy="3853053"/>
          </a:xfrm>
          <a:prstGeom prst="roundRect">
            <a:avLst>
              <a:gd name="adj" fmla="val 1899"/>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62" descr="columns">    </p:cNvPr>
          <p:cNvPicPr>
            <a:picLocks noChangeAspect="1"/>
          </p:cNvPicPr>
          <p:nvPr/>
        </p:nvPicPr>
        <p:blipFill>
          <a:blip r:embed="rId1"/>
          <a:stretch>
            <a:fillRect/>
          </a:stretch>
        </p:blipFill>
        <p:spPr>
          <a:xfrm>
            <a:off x="5623560" y="1325880"/>
            <a:ext cx="5989320" cy="3743325"/>
          </a:xfrm>
          <a:prstGeom prst="rect">
            <a:avLst/>
          </a:prstGeom>
        </p:spPr>
      </p:pic>
      <p:sp>
        <p:nvSpPr>
          <p:cNvPr id="5" name="bullets-63"/>
          <p:cNvSpPr txBox="1"/>
          <p:nvPr/>
        </p:nvSpPr>
        <p:spPr>
          <a:xfrm>
            <a:off x="548640" y="1417320"/>
            <a:ext cx="4800600" cy="420624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Five formats, </a:t>
            </a:r>
            <a:pPr indent="0" marL="0">
              <a:spcAft>
                <a:spcPts val="800"/>
              </a:spcAft>
              <a:buNone/>
            </a:pPr>
            <a:r>
              <a:rPr lang="en-US" sz="1500" dirty="0">
                <a:solidFill>
                  <a:schemeClr val="tx1"/>
                </a:solidFill>
              </a:rPr>
              <a:t>CSV, TSV, Excel, Parquet and JSON, up to 250 MB</a:t>
            </a:r>
            <a:endParaRPr lang="en-US" sz="1500" dirty="0"/>
          </a:p>
          <a:p>
            <a:pPr marL="203200" indent="-203200">
              <a:spcAft>
                <a:spcPts val="800"/>
              </a:spcAft>
              <a:buSzPct val="100000"/>
              <a:buChar char="•"/>
            </a:pPr>
            <a:r>
              <a:rPr lang="en-US" sz="1500" b="1" dirty="0">
                <a:solidFill>
                  <a:schemeClr val="tx1"/>
                </a:solidFill>
              </a:rPr>
              <a:t>Straight to storage: </a:t>
            </a:r>
            <a:pPr indent="0" marL="0">
              <a:spcAft>
                <a:spcPts val="800"/>
              </a:spcAft>
              <a:buNone/>
            </a:pPr>
            <a:r>
              <a:rPr lang="en-US" sz="1500" dirty="0">
                <a:solidFill>
                  <a:schemeClr val="tx1"/>
                </a:solidFill>
              </a:rPr>
              <a:t>the browser hashes the file (SHA-256) and uploads it in parallel parts to S3</a:t>
            </a:r>
            <a:endParaRPr lang="en-US" sz="1500" dirty="0"/>
          </a:p>
          <a:p>
            <a:pPr marL="203200" indent="-203200">
              <a:spcAft>
                <a:spcPts val="800"/>
              </a:spcAft>
              <a:buSzPct val="100000"/>
              <a:buChar char="•"/>
            </a:pPr>
            <a:r>
              <a:rPr lang="en-US" sz="1500" b="1" dirty="0">
                <a:solidFill>
                  <a:schemeClr val="tx1"/>
                </a:solidFill>
              </a:rPr>
              <a:t>Duplicates caught: </a:t>
            </a:r>
            <a:pPr indent="0" marL="0">
              <a:spcAft>
                <a:spcPts val="800"/>
              </a:spcAft>
              <a:buNone/>
            </a:pPr>
            <a:r>
              <a:rPr lang="en-US" sz="1500" dirty="0">
                <a:solidFill>
                  <a:schemeClr val="tx1"/>
                </a:solidFill>
              </a:rPr>
              <a:t>the same bytes are stored once, and you are told</a:t>
            </a:r>
            <a:endParaRPr lang="en-US" sz="1500" dirty="0"/>
          </a:p>
          <a:p>
            <a:pPr marL="203200" indent="-203200">
              <a:spcAft>
                <a:spcPts val="800"/>
              </a:spcAft>
              <a:buSzPct val="100000"/>
              <a:buChar char="•"/>
            </a:pPr>
            <a:r>
              <a:rPr lang="en-US" sz="1500" b="1" dirty="0">
                <a:solidFill>
                  <a:schemeClr val="tx1"/>
                </a:solidFill>
              </a:rPr>
              <a:t>Meaning, not just type: </a:t>
            </a:r>
            <a:pPr indent="0" marL="0">
              <a:spcAft>
                <a:spcPts val="800"/>
              </a:spcAft>
              <a:buNone/>
            </a:pPr>
            <a:r>
              <a:rPr lang="en-US" sz="1500" dirty="0">
                <a:solidFill>
                  <a:schemeClr val="tx1"/>
                </a:solidFill>
              </a:rPr>
              <a:t>amount, category, date, place, identifier…</a:t>
            </a:r>
            <a:endParaRPr lang="en-US" sz="1500" dirty="0"/>
          </a:p>
          <a:p>
            <a:pPr marL="203200" indent="-203200">
              <a:spcAft>
                <a:spcPts val="800"/>
              </a:spcAft>
              <a:buSzPct val="100000"/>
              <a:buChar char="•"/>
            </a:pPr>
            <a:r>
              <a:rPr lang="en-US" sz="1500" b="1" dirty="0">
                <a:solidFill>
                  <a:schemeClr val="tx1"/>
                </a:solidFill>
              </a:rPr>
              <a:t>Personal data found first: </a:t>
            </a:r>
            <a:pPr indent="0" marL="0">
              <a:spcAft>
                <a:spcPts val="800"/>
              </a:spcAft>
              <a:buNone/>
            </a:pPr>
            <a:r>
              <a:rPr lang="en-US" sz="1500" dirty="0">
                <a:solidFill>
                  <a:schemeClr val="tx1"/>
                </a:solidFill>
              </a:rPr>
              <a:t>names, emails, phones and licence numbers are masked before anything else happens</a:t>
            </a:r>
            <a:endParaRPr lang="en-US" sz="1500" dirty="0"/>
          </a:p>
        </p:txBody>
      </p:sp>
      <p:sp>
        <p:nvSpPr>
          <p:cNvPr id="6" name="chip-64"/>
          <p:cNvSpPr/>
          <p:nvPr/>
        </p:nvSpPr>
        <p:spPr>
          <a:xfrm>
            <a:off x="548640" y="5715000"/>
            <a:ext cx="4023360" cy="274320"/>
          </a:xfrm>
          <a:prstGeom prst="roundRect">
            <a:avLst>
              <a:gd name="adj" fmla="val 20000"/>
            </a:avLst>
          </a:prstGeom>
          <a:solidFill>
            <a:srgbClr val="E7F0EC"/>
          </a:solidFill>
          <a:ln w="9525">
            <a:solidFill>
              <a:srgbClr val="2F6F62"/>
            </a:solidFill>
            <a:prstDash val="solid"/>
          </a:ln>
        </p:spPr>
      </p:sp>
      <p:sp>
        <p:nvSpPr>
          <p:cNvPr id="7" name="chip-text-65"/>
          <p:cNvSpPr txBox="1"/>
          <p:nvPr/>
        </p:nvSpPr>
        <p:spPr>
          <a:xfrm>
            <a:off x="548640" y="5715000"/>
            <a:ext cx="4023360" cy="274320"/>
          </a:xfrm>
          <a:prstGeom prst="rect">
            <a:avLst/>
          </a:prstGeom>
          <a:noFill/>
          <a:ln/>
        </p:spPr>
        <p:txBody>
          <a:bodyPr wrap="square" lIns="0" tIns="0" rIns="0" bIns="0" rtlCol="0" anchor="ctr"/>
          <a:lstStyle/>
          <a:p>
            <a:pPr algn="ctr" indent="0" marL="0">
              <a:buNone/>
            </a:pPr>
            <a:r>
              <a:rPr lang="en-US" sz="1000" dirty="0">
                <a:solidFill>
                  <a:srgbClr val="2F6F62"/>
                </a:solidFill>
                <a:latin typeface="Courier New" pitchFamily="34" charset="0"/>
                <a:ea typeface="Courier New" pitchFamily="34" charset="-122"/>
                <a:cs typeface="Courier New" pitchFamily="34" charset="-120"/>
              </a:rPr>
              <a:t>live · field_service_jobs.csv · 5 columns masked</a:t>
            </a:r>
            <a:endParaRPr lang="en-US" sz="10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 stay in control of every change to your data</a:t>
            </a:r>
            <a:endParaRPr lang="en-US" sz="3000" dirty="0"/>
          </a:p>
        </p:txBody>
      </p:sp>
      <p:sp>
        <p:nvSpPr>
          <p:cNvPr id="3" name="frame-66"/>
          <p:cNvSpPr/>
          <p:nvPr/>
        </p:nvSpPr>
        <p:spPr>
          <a:xfrm>
            <a:off x="5020056" y="1271016"/>
            <a:ext cx="6647688" cy="4195953"/>
          </a:xfrm>
          <a:prstGeom prst="roundRect">
            <a:avLst>
              <a:gd name="adj" fmla="val 1743"/>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67" descr="review decisions">    </p:cNvPr>
          <p:cNvPicPr>
            <a:picLocks noChangeAspect="1"/>
          </p:cNvPicPr>
          <p:nvPr/>
        </p:nvPicPr>
        <p:blipFill>
          <a:blip r:embed="rId1"/>
          <a:stretch>
            <a:fillRect/>
          </a:stretch>
        </p:blipFill>
        <p:spPr>
          <a:xfrm>
            <a:off x="5074920" y="1325880"/>
            <a:ext cx="6537960" cy="4086225"/>
          </a:xfrm>
          <a:prstGeom prst="rect">
            <a:avLst/>
          </a:prstGeom>
        </p:spPr>
      </p:pic>
      <p:sp>
        <p:nvSpPr>
          <p:cNvPr id="5" name="card-68"/>
          <p:cNvSpPr/>
          <p:nvPr/>
        </p:nvSpPr>
        <p:spPr>
          <a:xfrm>
            <a:off x="548640" y="1325880"/>
            <a:ext cx="4206240" cy="1325880"/>
          </a:xfrm>
          <a:prstGeom prst="roundRect">
            <a:avLst>
              <a:gd name="adj" fmla="val 6897"/>
            </a:avLst>
          </a:prstGeom>
          <a:solidFill>
            <a:schemeClr val="bg1"/>
          </a:solidFill>
          <a:ln w="9525">
            <a:solidFill>
              <a:srgbClr val="DEDCD6"/>
            </a:solidFill>
            <a:prstDash val="solid"/>
          </a:ln>
        </p:spPr>
      </p:sp>
      <p:sp>
        <p:nvSpPr>
          <p:cNvPr id="6" name="text-69"/>
          <p:cNvSpPr txBox="1"/>
          <p:nvPr/>
        </p:nvSpPr>
        <p:spPr>
          <a:xfrm>
            <a:off x="777240" y="1463040"/>
            <a:ext cx="3794760" cy="1097280"/>
          </a:xfrm>
          <a:prstGeom prst="rect">
            <a:avLst/>
          </a:prstGeom>
          <a:noFill/>
          <a:ln/>
        </p:spPr>
        <p:txBody>
          <a:bodyPr wrap="square" lIns="0" tIns="0" rIns="0" bIns="0" rtlCol="0" anchor="t"/>
          <a:lstStyle/>
          <a:p>
            <a:pPr indent="0" marL="0">
              <a:buNone/>
            </a:pPr>
            <a:r>
              <a:rPr lang="en-US" sz="1400" b="1" dirty="0">
                <a:solidFill>
                  <a:schemeClr val="accent1"/>
                </a:solidFill>
              </a:rPr>
              <a:t>Automatic</a:t>
            </a:r>
            <a:endParaRPr lang="en-US" sz="1400" dirty="0"/>
          </a:p>
          <a:p>
            <a:pPr indent="0" marL="0">
              <a:buNone/>
            </a:pPr>
            <a:r>
              <a:rPr lang="en-US" sz="1400" dirty="0">
                <a:solidFill>
                  <a:schemeClr val="tx1"/>
                </a:solidFill>
              </a:rPr>
              <a:t>Default. Suggested cleaning is applied and the run goes straight to the report.</a:t>
            </a:r>
            <a:endParaRPr lang="en-US" sz="1400" dirty="0"/>
          </a:p>
        </p:txBody>
      </p:sp>
      <p:sp>
        <p:nvSpPr>
          <p:cNvPr id="7" name="card-70"/>
          <p:cNvSpPr/>
          <p:nvPr/>
        </p:nvSpPr>
        <p:spPr>
          <a:xfrm>
            <a:off x="548640" y="2788920"/>
            <a:ext cx="4206240" cy="1325880"/>
          </a:xfrm>
          <a:prstGeom prst="roundRect">
            <a:avLst>
              <a:gd name="adj" fmla="val 6897"/>
            </a:avLst>
          </a:prstGeom>
          <a:solidFill>
            <a:schemeClr val="bg1"/>
          </a:solidFill>
          <a:ln w="9525">
            <a:solidFill>
              <a:srgbClr val="DEDCD6"/>
            </a:solidFill>
            <a:prstDash val="solid"/>
          </a:ln>
        </p:spPr>
      </p:sp>
      <p:sp>
        <p:nvSpPr>
          <p:cNvPr id="8" name="text-71"/>
          <p:cNvSpPr txBox="1"/>
          <p:nvPr/>
        </p:nvSpPr>
        <p:spPr>
          <a:xfrm>
            <a:off x="777240" y="2926080"/>
            <a:ext cx="3794760" cy="1097280"/>
          </a:xfrm>
          <a:prstGeom prst="rect">
            <a:avLst/>
          </a:prstGeom>
          <a:noFill/>
          <a:ln/>
        </p:spPr>
        <p:txBody>
          <a:bodyPr wrap="square" lIns="0" tIns="0" rIns="0" bIns="0" rtlCol="0" anchor="t"/>
          <a:lstStyle/>
          <a:p>
            <a:pPr indent="0" marL="0">
              <a:buNone/>
            </a:pPr>
            <a:r>
              <a:rPr lang="en-US" sz="1400" b="1" dirty="0">
                <a:solidFill>
                  <a:schemeClr val="accent1"/>
                </a:solidFill>
              </a:rPr>
              <a:t>Manual</a:t>
            </a:r>
            <a:endParaRPr lang="en-US" sz="1400" dirty="0"/>
          </a:p>
          <a:p>
            <a:pPr indent="0" marL="0">
              <a:buNone/>
            </a:pPr>
            <a:r>
              <a:rPr lang="en-US" sz="1400" dirty="0">
                <a:solidFill>
                  <a:schemeClr val="tx1"/>
                </a:solidFill>
              </a:rPr>
              <a:t>The run stops at a review gate. Apply or keep each change, or ask for a different plan in your own words.</a:t>
            </a:r>
            <a:endParaRPr lang="en-US" sz="1400" dirty="0"/>
          </a:p>
        </p:txBody>
      </p:sp>
      <p:sp>
        <p:nvSpPr>
          <p:cNvPr id="9" name="bullets-72"/>
          <p:cNvSpPr txBox="1"/>
          <p:nvPr/>
        </p:nvSpPr>
        <p:spPr>
          <a:xfrm>
            <a:off x="548640" y="4343400"/>
            <a:ext cx="4206240" cy="1371600"/>
          </a:xfrm>
          <a:prstGeom prst="rect">
            <a:avLst/>
          </a:prstGeom>
          <a:noFill/>
          <a:ln/>
        </p:spPr>
        <p:txBody>
          <a:bodyPr wrap="square" lIns="0" tIns="0" rIns="0" bIns="0" rtlCol="0" anchor="t"/>
          <a:lstStyle/>
          <a:p>
            <a:pPr marL="203200" indent="-203200">
              <a:spcAft>
                <a:spcPts val="400"/>
              </a:spcAft>
              <a:buSzPct val="100000"/>
              <a:buChar char="•"/>
            </a:pPr>
            <a:r>
              <a:rPr lang="en-US" sz="1400" dirty="0">
                <a:solidFill>
                  <a:schemeClr val="tx1"/>
                </a:solidFill>
              </a:rPr>
              <a:t>Each change shows the rows it affects, before and after</a:t>
            </a:r>
            <a:endParaRPr lang="en-US" sz="1400" dirty="0"/>
          </a:p>
          <a:p>
            <a:pPr marL="203200" indent="-203200">
              <a:spcAft>
                <a:spcPts val="400"/>
              </a:spcAft>
              <a:buSzPct val="100000"/>
              <a:buChar char="•"/>
            </a:pPr>
            <a:r>
              <a:rPr lang="en-US" sz="1400" dirty="0">
                <a:solidFill>
                  <a:schemeClr val="tx1"/>
                </a:solidFill>
              </a:rPr>
              <a:t>Changes that can lose data are flagged</a:t>
            </a:r>
            <a:endParaRPr lang="en-US" sz="1400" dirty="0"/>
          </a:p>
          <a:p>
            <a:pPr marL="203200" indent="-203200">
              <a:spcAft>
                <a:spcPts val="400"/>
              </a:spcAft>
              <a:buSzPct val="100000"/>
              <a:buChar char="•"/>
            </a:pPr>
            <a:r>
              <a:rPr lang="en-US" sz="1400" dirty="0">
                <a:solidFill>
                  <a:schemeClr val="tx1"/>
                </a:solidFill>
              </a:rPr>
              <a:t>The uploaded file is never modified</a:t>
            </a:r>
            <a:endParaRPr lang="en-US" sz="1400" dirty="0"/>
          </a:p>
          <a:p>
            <a:pPr marL="203200" indent="-203200">
              <a:spcAft>
                <a:spcPts val="400"/>
              </a:spcAft>
              <a:buSzPct val="100000"/>
              <a:buChar char="•"/>
            </a:pPr>
            <a:r>
              <a:rPr lang="en-US" sz="1400" dirty="0">
                <a:solidFill>
                  <a:schemeClr val="tx1"/>
                </a:solidFill>
              </a:rPr>
              <a:t>A Python recipe rebuilds the cleaned table</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Twelve checkpointed steps, streamed live</a:t>
            </a:r>
            <a:endParaRPr lang="en-US" sz="3000" dirty="0"/>
          </a:p>
        </p:txBody>
      </p:sp>
      <p:sp>
        <p:nvSpPr>
          <p:cNvPr id="3" name="frame-73"/>
          <p:cNvSpPr/>
          <p:nvPr/>
        </p:nvSpPr>
        <p:spPr>
          <a:xfrm>
            <a:off x="5568696" y="1271016"/>
            <a:ext cx="6099048" cy="3853053"/>
          </a:xfrm>
          <a:prstGeom prst="roundRect">
            <a:avLst>
              <a:gd name="adj" fmla="val 1899"/>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74" descr="run top">    </p:cNvPr>
          <p:cNvPicPr>
            <a:picLocks noChangeAspect="1"/>
          </p:cNvPicPr>
          <p:nvPr/>
        </p:nvPicPr>
        <p:blipFill>
          <a:blip r:embed="rId1"/>
          <a:stretch>
            <a:fillRect/>
          </a:stretch>
        </p:blipFill>
        <p:spPr>
          <a:xfrm>
            <a:off x="5623560" y="1325880"/>
            <a:ext cx="5989320" cy="3743325"/>
          </a:xfrm>
          <a:prstGeom prst="rect">
            <a:avLst/>
          </a:prstGeom>
        </p:spPr>
      </p:pic>
      <p:sp>
        <p:nvSpPr>
          <p:cNvPr id="5" name="text-75"/>
          <p:cNvSpPr txBox="1"/>
          <p:nvPr/>
        </p:nvSpPr>
        <p:spPr>
          <a:xfrm>
            <a:off x="548640" y="1371600"/>
            <a:ext cx="21945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ourier New" pitchFamily="34" charset="0"/>
                <a:ea typeface="Courier New" pitchFamily="34" charset="-122"/>
                <a:cs typeface="Courier New" pitchFamily="34" charset="-120"/>
              </a:rPr>
              <a:t>14 s</a:t>
            </a:r>
            <a:endParaRPr lang="en-US" sz="4000" dirty="0"/>
          </a:p>
        </p:txBody>
      </p:sp>
      <p:sp>
        <p:nvSpPr>
          <p:cNvPr id="6" name="text-76"/>
          <p:cNvSpPr txBox="1"/>
          <p:nvPr/>
        </p:nvSpPr>
        <p:spPr>
          <a:xfrm>
            <a:off x="2788920" y="1463040"/>
            <a:ext cx="2651760" cy="685800"/>
          </a:xfrm>
          <a:prstGeom prst="rect">
            <a:avLst/>
          </a:prstGeom>
          <a:noFill/>
          <a:ln/>
        </p:spPr>
        <p:txBody>
          <a:bodyPr wrap="square" lIns="0" tIns="0" rIns="0" bIns="0" rtlCol="0" anchor="ctr"/>
          <a:lstStyle/>
          <a:p>
            <a:pPr indent="0" marL="0">
              <a:buNone/>
            </a:pPr>
            <a:r>
              <a:rPr lang="en-US" sz="1400" dirty="0">
                <a:solidFill>
                  <a:schemeClr val="accent5"/>
                </a:solidFill>
              </a:rPr>
              <a:t>upload to report, 5,000 rows × 19 columns, on a 1 GB server</a:t>
            </a:r>
            <a:endParaRPr lang="en-US" sz="1400" dirty="0"/>
          </a:p>
        </p:txBody>
      </p:sp>
      <p:sp>
        <p:nvSpPr>
          <p:cNvPr id="7" name="text-77"/>
          <p:cNvSpPr txBox="1"/>
          <p:nvPr/>
        </p:nvSpPr>
        <p:spPr>
          <a:xfrm>
            <a:off x="548640" y="2697480"/>
            <a:ext cx="21945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ourier New" pitchFamily="34" charset="0"/>
                <a:ea typeface="Courier New" pitchFamily="34" charset="-122"/>
                <a:cs typeface="Courier New" pitchFamily="34" charset="-120"/>
              </a:rPr>
              <a:t>1,444</a:t>
            </a:r>
            <a:endParaRPr lang="en-US" sz="4000" dirty="0"/>
          </a:p>
        </p:txBody>
      </p:sp>
      <p:sp>
        <p:nvSpPr>
          <p:cNvPr id="8" name="text-78"/>
          <p:cNvSpPr txBox="1"/>
          <p:nvPr/>
        </p:nvSpPr>
        <p:spPr>
          <a:xfrm>
            <a:off x="2788920" y="2788920"/>
            <a:ext cx="2651760" cy="685800"/>
          </a:xfrm>
          <a:prstGeom prst="rect">
            <a:avLst/>
          </a:prstGeom>
          <a:noFill/>
          <a:ln/>
        </p:spPr>
        <p:txBody>
          <a:bodyPr wrap="square" lIns="0" tIns="0" rIns="0" bIns="0" rtlCol="0" anchor="ctr"/>
          <a:lstStyle/>
          <a:p>
            <a:pPr indent="0" marL="0">
              <a:buNone/>
            </a:pPr>
            <a:r>
              <a:rPr lang="en-US" sz="1400" dirty="0">
                <a:solidFill>
                  <a:schemeClr val="accent5"/>
                </a:solidFill>
              </a:rPr>
              <a:t>chart and map values recomputed; 0 withheld</a:t>
            </a:r>
            <a:endParaRPr lang="en-US" sz="1400" dirty="0"/>
          </a:p>
        </p:txBody>
      </p:sp>
      <p:sp>
        <p:nvSpPr>
          <p:cNvPr id="9" name="text-79"/>
          <p:cNvSpPr txBox="1"/>
          <p:nvPr/>
        </p:nvSpPr>
        <p:spPr>
          <a:xfrm>
            <a:off x="548640" y="4023360"/>
            <a:ext cx="2194560" cy="731520"/>
          </a:xfrm>
          <a:prstGeom prst="rect">
            <a:avLst/>
          </a:prstGeom>
          <a:noFill/>
          <a:ln/>
        </p:spPr>
        <p:txBody>
          <a:bodyPr wrap="square" lIns="0" tIns="0" rIns="0" bIns="0" rtlCol="0" anchor="ctr"/>
          <a:lstStyle/>
          <a:p>
            <a:pPr indent="0" marL="0">
              <a:buNone/>
            </a:pPr>
            <a:r>
              <a:rPr lang="en-US" sz="4000" b="1" dirty="0">
                <a:solidFill>
                  <a:schemeClr val="accent1"/>
                </a:solidFill>
                <a:latin typeface="Courier New" pitchFamily="34" charset="0"/>
                <a:ea typeface="Courier New" pitchFamily="34" charset="-122"/>
                <a:cs typeface="Courier New" pitchFamily="34" charset="-120"/>
              </a:rPr>
              <a:t>12</a:t>
            </a:r>
            <a:endParaRPr lang="en-US" sz="4000" dirty="0"/>
          </a:p>
        </p:txBody>
      </p:sp>
      <p:sp>
        <p:nvSpPr>
          <p:cNvPr id="10" name="text-80"/>
          <p:cNvSpPr txBox="1"/>
          <p:nvPr/>
        </p:nvSpPr>
        <p:spPr>
          <a:xfrm>
            <a:off x="2788920" y="4114800"/>
            <a:ext cx="2651760" cy="685800"/>
          </a:xfrm>
          <a:prstGeom prst="rect">
            <a:avLst/>
          </a:prstGeom>
          <a:noFill/>
          <a:ln/>
        </p:spPr>
        <p:txBody>
          <a:bodyPr wrap="square" lIns="0" tIns="0" rIns="0" bIns="0" rtlCol="0" anchor="ctr"/>
          <a:lstStyle/>
          <a:p>
            <a:pPr indent="0" marL="0">
              <a:buNone/>
            </a:pPr>
            <a:r>
              <a:rPr lang="en-US" sz="1400" dirty="0">
                <a:solidFill>
                  <a:schemeClr val="accent5"/>
                </a:solidFill>
              </a:rPr>
              <a:t>pipeline stages, each checkpointed for retry</a:t>
            </a:r>
            <a:endParaRPr lang="en-US" sz="1400" dirty="0"/>
          </a:p>
        </p:txBody>
      </p:sp>
      <p:sp>
        <p:nvSpPr>
          <p:cNvPr id="11" name="text-81"/>
          <p:cNvSpPr txBox="1"/>
          <p:nvPr/>
        </p:nvSpPr>
        <p:spPr>
          <a:xfrm>
            <a:off x="548640" y="5349240"/>
            <a:ext cx="4846320" cy="640080"/>
          </a:xfrm>
          <a:prstGeom prst="rect">
            <a:avLst/>
          </a:prstGeom>
          <a:noFill/>
          <a:ln/>
        </p:spPr>
        <p:txBody>
          <a:bodyPr wrap="square" lIns="0" tIns="0" rIns="0" bIns="0" rtlCol="0" anchor="t"/>
          <a:lstStyle/>
          <a:p>
            <a:pPr indent="0" marL="0">
              <a:buNone/>
            </a:pPr>
            <a:r>
              <a:rPr lang="en-US" sz="1300" dirty="0">
                <a:solidFill>
                  <a:schemeClr val="accent5"/>
                </a:solidFill>
              </a:rPr>
              <a:t>Progress arrives over Server-Sent Events with replay and a polling fallback; a run can be cancelled or retried from its last checkpoint.</a:t>
            </a:r>
            <a:endParaRPr lang="en-US" sz="1300" dirty="0"/>
          </a:p>
        </p:txBody>
      </p:sp>
      <p:sp>
        <p:nvSpPr>
          <p:cNvPr id="12" name="chip-82"/>
          <p:cNvSpPr/>
          <p:nvPr/>
        </p:nvSpPr>
        <p:spPr>
          <a:xfrm>
            <a:off x="5623560" y="5715000"/>
            <a:ext cx="2743200" cy="274320"/>
          </a:xfrm>
          <a:prstGeom prst="roundRect">
            <a:avLst>
              <a:gd name="adj" fmla="val 20000"/>
            </a:avLst>
          </a:prstGeom>
          <a:solidFill>
            <a:srgbClr val="E7F0EC"/>
          </a:solidFill>
          <a:ln w="9525">
            <a:solidFill>
              <a:srgbClr val="2F6F62"/>
            </a:solidFill>
            <a:prstDash val="solid"/>
          </a:ln>
        </p:spPr>
      </p:sp>
      <p:sp>
        <p:nvSpPr>
          <p:cNvPr id="13" name="chip-text-83"/>
          <p:cNvSpPr txBox="1"/>
          <p:nvPr/>
        </p:nvSpPr>
        <p:spPr>
          <a:xfrm>
            <a:off x="5623560" y="5715000"/>
            <a:ext cx="2743200" cy="274320"/>
          </a:xfrm>
          <a:prstGeom prst="rect">
            <a:avLst/>
          </a:prstGeom>
          <a:noFill/>
          <a:ln/>
        </p:spPr>
        <p:txBody>
          <a:bodyPr wrap="square" lIns="0" tIns="0" rIns="0" bIns="0" rtlCol="0" anchor="ctr"/>
          <a:lstStyle/>
          <a:p>
            <a:pPr algn="ctr" indent="0" marL="0">
              <a:buNone/>
            </a:pPr>
            <a:r>
              <a:rPr lang="en-US" sz="1000" dirty="0">
                <a:solidFill>
                  <a:srgbClr val="2F6F62"/>
                </a:solidFill>
                <a:latin typeface="Courier New" pitchFamily="34" charset="0"/>
                <a:ea typeface="Courier New" pitchFamily="34" charset="-122"/>
                <a:cs typeface="Courier New" pitchFamily="34" charset="-120"/>
              </a:rPr>
              <a:t>live run 01a16153 · 22 Oct 2026</a:t>
            </a:r>
            <a:endParaRPr lang="en-US" sz="10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Every sentence cites its facts</a:t>
            </a:r>
            <a:endParaRPr lang="en-US" sz="3000" dirty="0"/>
          </a:p>
        </p:txBody>
      </p:sp>
      <p:sp>
        <p:nvSpPr>
          <p:cNvPr id="3" name="frame-84"/>
          <p:cNvSpPr/>
          <p:nvPr/>
        </p:nvSpPr>
        <p:spPr>
          <a:xfrm>
            <a:off x="493776" y="1271016"/>
            <a:ext cx="5596128" cy="3537514"/>
          </a:xfrm>
          <a:prstGeom prst="roundRect">
            <a:avLst>
              <a:gd name="adj" fmla="val 2068"/>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85" descr="report">    </p:cNvPr>
          <p:cNvPicPr>
            <a:picLocks noChangeAspect="1"/>
          </p:cNvPicPr>
          <p:nvPr/>
        </p:nvPicPr>
        <p:blipFill>
          <a:blip r:embed="rId1"/>
          <a:stretch>
            <a:fillRect/>
          </a:stretch>
        </p:blipFill>
        <p:spPr>
          <a:xfrm>
            <a:off x="548640" y="1325880"/>
            <a:ext cx="5486400" cy="3427786"/>
          </a:xfrm>
          <a:prstGeom prst="rect">
            <a:avLst/>
          </a:prstGeom>
        </p:spPr>
      </p:pic>
      <p:sp>
        <p:nvSpPr>
          <p:cNvPr id="5" name="frame-86"/>
          <p:cNvSpPr/>
          <p:nvPr/>
        </p:nvSpPr>
        <p:spPr>
          <a:xfrm>
            <a:off x="6208776" y="1271016"/>
            <a:ext cx="5458968" cy="3453003"/>
          </a:xfrm>
          <a:prstGeom prst="roundRect">
            <a:avLst>
              <a:gd name="adj" fmla="val 2119"/>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6" name="shot-87" descr="inspector">    </p:cNvPr>
          <p:cNvPicPr>
            <a:picLocks noChangeAspect="1"/>
          </p:cNvPicPr>
          <p:nvPr/>
        </p:nvPicPr>
        <p:blipFill>
          <a:blip r:embed="rId2"/>
          <a:stretch>
            <a:fillRect/>
          </a:stretch>
        </p:blipFill>
        <p:spPr>
          <a:xfrm>
            <a:off x="6263640" y="1325880"/>
            <a:ext cx="5349240" cy="3343275"/>
          </a:xfrm>
          <a:prstGeom prst="rect">
            <a:avLst/>
          </a:prstGeom>
        </p:spPr>
      </p:pic>
      <p:sp>
        <p:nvSpPr>
          <p:cNvPr id="7" name="bullets-88"/>
          <p:cNvSpPr txBox="1"/>
          <p:nvPr/>
        </p:nvSpPr>
        <p:spPr>
          <a:xfrm>
            <a:off x="548640" y="5029200"/>
            <a:ext cx="11064240" cy="1097280"/>
          </a:xfrm>
          <a:prstGeom prst="rect">
            <a:avLst/>
          </a:prstGeom>
          <a:noFill/>
          <a:ln/>
        </p:spPr>
        <p:txBody>
          <a:bodyPr wrap="square" lIns="0" tIns="0" rIns="0" bIns="0" rtlCol="0" anchor="t"/>
          <a:lstStyle/>
          <a:p>
            <a:pPr marL="203200" indent="-203200">
              <a:spcAft>
                <a:spcPts val="400"/>
              </a:spcAft>
              <a:buSzPct val="100000"/>
              <a:buChar char="•"/>
            </a:pPr>
            <a:r>
              <a:rPr lang="en-US" sz="1500" b="1" dirty="0">
                <a:solidFill>
                  <a:schemeClr val="tx1"/>
                </a:solidFill>
              </a:rPr>
              <a:t>Click any chip </a:t>
            </a:r>
            <a:pPr indent="0" marL="0">
              <a:spcAft>
                <a:spcPts val="400"/>
              </a:spcAft>
              <a:buNone/>
            </a:pPr>
            <a:r>
              <a:rPr lang="en-US" sz="1500" dirty="0">
                <a:solidFill>
                  <a:schemeClr val="tx1"/>
                </a:solidFill>
              </a:rPr>
              <a:t>(F13) to open its fact</a:t>
            </a:r>
            <a:endParaRPr lang="en-US" sz="1500" dirty="0"/>
          </a:p>
          <a:p>
            <a:pPr marL="203200" indent="-203200">
              <a:spcAft>
                <a:spcPts val="400"/>
              </a:spcAft>
              <a:buSzPct val="100000"/>
              <a:buChar char="•"/>
            </a:pPr>
            <a:r>
              <a:rPr lang="en-US" sz="1500" b="1" dirty="0">
                <a:solidFill>
                  <a:schemeClr val="tx1"/>
                </a:solidFill>
              </a:rPr>
              <a:t>A fact is immutable: </a:t>
            </a:r>
            <a:pPr indent="0" marL="0">
              <a:spcAft>
                <a:spcPts val="400"/>
              </a:spcAft>
              <a:buNone/>
            </a:pPr>
            <a:r>
              <a:rPr lang="en-US" sz="1500" dirty="0">
                <a:solidFill>
                  <a:schemeClr val="tx1"/>
                </a:solidFill>
              </a:rPr>
              <a:t>test, interval, p and q values, rows used, method and a content hash</a:t>
            </a:r>
            <a:endParaRPr lang="en-US" sz="15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Dashboards and maps you can check</a:t>
            </a:r>
            <a:endParaRPr lang="en-US" sz="3000" dirty="0"/>
          </a:p>
        </p:txBody>
      </p:sp>
      <p:sp>
        <p:nvSpPr>
          <p:cNvPr id="3" name="frame-89"/>
          <p:cNvSpPr/>
          <p:nvPr/>
        </p:nvSpPr>
        <p:spPr>
          <a:xfrm>
            <a:off x="493776" y="1271016"/>
            <a:ext cx="5596128" cy="3538728"/>
          </a:xfrm>
          <a:prstGeom prst="roundRect">
            <a:avLst>
              <a:gd name="adj" fmla="val 2067"/>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90" descr="dashboard top">    </p:cNvPr>
          <p:cNvPicPr>
            <a:picLocks noChangeAspect="1"/>
          </p:cNvPicPr>
          <p:nvPr/>
        </p:nvPicPr>
        <p:blipFill>
          <a:blip r:embed="rId1"/>
          <a:stretch>
            <a:fillRect/>
          </a:stretch>
        </p:blipFill>
        <p:spPr>
          <a:xfrm>
            <a:off x="548640" y="1325880"/>
            <a:ext cx="5486400" cy="3429000"/>
          </a:xfrm>
          <a:prstGeom prst="rect">
            <a:avLst/>
          </a:prstGeom>
        </p:spPr>
      </p:pic>
      <p:sp>
        <p:nvSpPr>
          <p:cNvPr id="5" name="frame-91"/>
          <p:cNvSpPr/>
          <p:nvPr/>
        </p:nvSpPr>
        <p:spPr>
          <a:xfrm>
            <a:off x="6208776" y="1271016"/>
            <a:ext cx="5458968" cy="2926994"/>
          </a:xfrm>
          <a:prstGeom prst="roundRect">
            <a:avLst>
              <a:gd name="adj" fmla="val 2499"/>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6" name="shot-92" descr="maps">    </p:cNvPr>
          <p:cNvPicPr>
            <a:picLocks noChangeAspect="1"/>
          </p:cNvPicPr>
          <p:nvPr/>
        </p:nvPicPr>
        <p:blipFill>
          <a:blip r:embed="rId2"/>
          <a:stretch>
            <a:fillRect/>
          </a:stretch>
        </p:blipFill>
        <p:spPr>
          <a:xfrm>
            <a:off x="6263640" y="1325880"/>
            <a:ext cx="5349240" cy="2817266"/>
          </a:xfrm>
          <a:prstGeom prst="rect">
            <a:avLst/>
          </a:prstGeom>
        </p:spPr>
      </p:pic>
      <p:sp>
        <p:nvSpPr>
          <p:cNvPr id="7" name="bullets-93"/>
          <p:cNvSpPr txBox="1"/>
          <p:nvPr/>
        </p:nvSpPr>
        <p:spPr>
          <a:xfrm>
            <a:off x="548640" y="4983480"/>
            <a:ext cx="5486400" cy="1188720"/>
          </a:xfrm>
          <a:prstGeom prst="rect">
            <a:avLst/>
          </a:prstGeom>
          <a:noFill/>
          <a:ln/>
        </p:spPr>
        <p:txBody>
          <a:bodyPr wrap="square" lIns="0" tIns="0" rIns="0" bIns="0" rtlCol="0" anchor="t"/>
          <a:lstStyle/>
          <a:p>
            <a:pPr marL="203200" indent="-203200">
              <a:spcAft>
                <a:spcPts val="400"/>
              </a:spcAft>
              <a:buSzPct val="100000"/>
              <a:buChar char="•"/>
            </a:pPr>
            <a:r>
              <a:rPr lang="en-US" sz="1400" b="1" dirty="0">
                <a:solidFill>
                  <a:schemeClr val="tx1"/>
                </a:solidFill>
              </a:rPr>
              <a:t>Headline tiles </a:t>
            </a:r>
            <a:pPr indent="0" marL="0">
              <a:spcAft>
                <a:spcPts val="400"/>
              </a:spcAft>
              <a:buNone/>
            </a:pPr>
            <a:r>
              <a:rPr lang="en-US" sz="1400" dirty="0">
                <a:solidFill>
                  <a:schemeClr val="tx1"/>
                </a:solidFill>
              </a:rPr>
              <a:t>carry an evidence badge and a fact chip</a:t>
            </a:r>
            <a:endParaRPr lang="en-US" sz="1400" dirty="0"/>
          </a:p>
          <a:p>
            <a:pPr marL="203200" indent="-203200">
              <a:spcAft>
                <a:spcPts val="400"/>
              </a:spcAft>
              <a:buSzPct val="100000"/>
              <a:buChar char="•"/>
            </a:pPr>
            <a:r>
              <a:rPr lang="en-US" sz="1400" b="1" dirty="0">
                <a:solidFill>
                  <a:schemeClr val="tx1"/>
                </a:solidFill>
              </a:rPr>
              <a:t>Every point is a claim </a:t>
            </a:r>
            <a:pPr indent="0" marL="0">
              <a:spcAft>
                <a:spcPts val="400"/>
              </a:spcAft>
              <a:buNone/>
            </a:pPr>
            <a:r>
              <a:rPr lang="en-US" sz="1400" dirty="0">
                <a:solidFill>
                  <a:schemeClr val="tx1"/>
                </a:solidFill>
              </a:rPr>
              <a:t>recomputed by its own query; a chart that disagrees is withheld</a:t>
            </a:r>
            <a:endParaRPr lang="en-US" sz="1400" dirty="0"/>
          </a:p>
        </p:txBody>
      </p:sp>
      <p:sp>
        <p:nvSpPr>
          <p:cNvPr id="8" name="bullets-94"/>
          <p:cNvSpPr txBox="1"/>
          <p:nvPr/>
        </p:nvSpPr>
        <p:spPr>
          <a:xfrm>
            <a:off x="6263640" y="4343400"/>
            <a:ext cx="5349240" cy="8229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tx1"/>
                </a:solidFill>
              </a:rPr>
              <a:t>Places resolved offline </a:t>
            </a:r>
            <a:pPr indent="0" marL="0">
              <a:spcAft>
                <a:spcPts val="800"/>
              </a:spcAft>
              <a:buNone/>
            </a:pPr>
            <a:r>
              <a:rPr lang="en-US" sz="1400" dirty="0">
                <a:solidFill>
                  <a:schemeClr val="tx1"/>
                </a:solidFill>
              </a:rPr>
              <a:t>to countries and Australian states (100% matched here)</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Dig deeper, then share</a:t>
            </a:r>
            <a:endParaRPr lang="en-US" sz="3000" dirty="0"/>
          </a:p>
        </p:txBody>
      </p:sp>
      <p:sp>
        <p:nvSpPr>
          <p:cNvPr id="3" name="frame-95"/>
          <p:cNvSpPr/>
          <p:nvPr/>
        </p:nvSpPr>
        <p:spPr>
          <a:xfrm>
            <a:off x="493776" y="1225296"/>
            <a:ext cx="3127248" cy="1995678"/>
          </a:xfrm>
          <a:prstGeom prst="roundRect">
            <a:avLst>
              <a:gd name="adj" fmla="val 3666"/>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96" descr="see the data">    </p:cNvPr>
          <p:cNvPicPr>
            <a:picLocks noChangeAspect="1"/>
          </p:cNvPicPr>
          <p:nvPr/>
        </p:nvPicPr>
        <p:blipFill>
          <a:blip r:embed="rId1"/>
          <a:stretch>
            <a:fillRect/>
          </a:stretch>
        </p:blipFill>
        <p:spPr>
          <a:xfrm>
            <a:off x="548640" y="1280160"/>
            <a:ext cx="3017520" cy="1885950"/>
          </a:xfrm>
          <a:prstGeom prst="rect">
            <a:avLst/>
          </a:prstGeom>
        </p:spPr>
      </p:pic>
      <p:sp>
        <p:nvSpPr>
          <p:cNvPr id="5" name="text-97"/>
          <p:cNvSpPr txBox="1"/>
          <p:nvPr/>
        </p:nvSpPr>
        <p:spPr>
          <a:xfrm>
            <a:off x="3749040" y="1554480"/>
            <a:ext cx="2240280" cy="1371600"/>
          </a:xfrm>
          <a:prstGeom prst="rect">
            <a:avLst/>
          </a:prstGeom>
          <a:noFill/>
          <a:ln/>
        </p:spPr>
        <p:txBody>
          <a:bodyPr wrap="square" lIns="0" tIns="0" rIns="0" bIns="0" rtlCol="0" anchor="t"/>
          <a:lstStyle/>
          <a:p>
            <a:pPr indent="0" marL="0">
              <a:buNone/>
            </a:pPr>
            <a:r>
              <a:rPr lang="en-US" sz="1400" dirty="0">
                <a:solidFill>
                  <a:schemeClr val="tx1"/>
                </a:solidFill>
              </a:rPr>
              <a:t>See the data: the original rows beside the report, personal columns hidden</a:t>
            </a:r>
            <a:endParaRPr lang="en-US" sz="1400" dirty="0"/>
          </a:p>
        </p:txBody>
      </p:sp>
      <p:sp>
        <p:nvSpPr>
          <p:cNvPr id="6" name="frame-98"/>
          <p:cNvSpPr/>
          <p:nvPr/>
        </p:nvSpPr>
        <p:spPr>
          <a:xfrm>
            <a:off x="6117336" y="1225296"/>
            <a:ext cx="3127248" cy="1995678"/>
          </a:xfrm>
          <a:prstGeom prst="roundRect">
            <a:avLst>
              <a:gd name="adj" fmla="val 3666"/>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7" name="shot-99" descr="explore confirm">    </p:cNvPr>
          <p:cNvPicPr>
            <a:picLocks noChangeAspect="1"/>
          </p:cNvPicPr>
          <p:nvPr/>
        </p:nvPicPr>
        <p:blipFill>
          <a:blip r:embed="rId2"/>
          <a:stretch>
            <a:fillRect/>
          </a:stretch>
        </p:blipFill>
        <p:spPr>
          <a:xfrm>
            <a:off x="6172200" y="1280160"/>
            <a:ext cx="3017520" cy="1885950"/>
          </a:xfrm>
          <a:prstGeom prst="rect">
            <a:avLst/>
          </a:prstGeom>
        </p:spPr>
      </p:pic>
      <p:sp>
        <p:nvSpPr>
          <p:cNvPr id="8" name="text-100"/>
          <p:cNvSpPr txBox="1"/>
          <p:nvPr/>
        </p:nvSpPr>
        <p:spPr>
          <a:xfrm>
            <a:off x="9372600" y="1554480"/>
            <a:ext cx="2240280" cy="1371600"/>
          </a:xfrm>
          <a:prstGeom prst="rect">
            <a:avLst/>
          </a:prstGeom>
          <a:noFill/>
          <a:ln/>
        </p:spPr>
        <p:txBody>
          <a:bodyPr wrap="square" lIns="0" tIns="0" rIns="0" bIns="0" rtlCol="0" anchor="t"/>
          <a:lstStyle/>
          <a:p>
            <a:pPr indent="0" marL="0">
              <a:buNone/>
            </a:pPr>
            <a:r>
              <a:rPr lang="en-US" sz="1400" dirty="0">
                <a:solidFill>
                  <a:schemeClr val="tx1"/>
                </a:solidFill>
              </a:rPr>
              <a:t>Drill-down: explore one region as a separate, exploratory analysis</a:t>
            </a:r>
            <a:endParaRPr lang="en-US" sz="1400" dirty="0"/>
          </a:p>
        </p:txBody>
      </p:sp>
      <p:sp>
        <p:nvSpPr>
          <p:cNvPr id="9" name="frame-101"/>
          <p:cNvSpPr/>
          <p:nvPr/>
        </p:nvSpPr>
        <p:spPr>
          <a:xfrm>
            <a:off x="493776" y="3739896"/>
            <a:ext cx="3127248" cy="1995678"/>
          </a:xfrm>
          <a:prstGeom prst="roundRect">
            <a:avLst>
              <a:gd name="adj" fmla="val 3666"/>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10" name="shot-102" descr="download menu">    </p:cNvPr>
          <p:cNvPicPr>
            <a:picLocks noChangeAspect="1"/>
          </p:cNvPicPr>
          <p:nvPr/>
        </p:nvPicPr>
        <p:blipFill>
          <a:blip r:embed="rId3"/>
          <a:stretch>
            <a:fillRect/>
          </a:stretch>
        </p:blipFill>
        <p:spPr>
          <a:xfrm>
            <a:off x="548640" y="3794760"/>
            <a:ext cx="3017520" cy="1885950"/>
          </a:xfrm>
          <a:prstGeom prst="rect">
            <a:avLst/>
          </a:prstGeom>
        </p:spPr>
      </p:pic>
      <p:sp>
        <p:nvSpPr>
          <p:cNvPr id="11" name="text-103"/>
          <p:cNvSpPr txBox="1"/>
          <p:nvPr/>
        </p:nvSpPr>
        <p:spPr>
          <a:xfrm>
            <a:off x="3749040" y="4069080"/>
            <a:ext cx="2240280" cy="1371600"/>
          </a:xfrm>
          <a:prstGeom prst="rect">
            <a:avLst/>
          </a:prstGeom>
          <a:noFill/>
          <a:ln/>
        </p:spPr>
        <p:txBody>
          <a:bodyPr wrap="square" lIns="0" tIns="0" rIns="0" bIns="0" rtlCol="0" anchor="t"/>
          <a:lstStyle/>
          <a:p>
            <a:pPr indent="0" marL="0">
              <a:buNone/>
            </a:pPr>
            <a:r>
              <a:rPr lang="en-US" sz="1400" dirty="0">
                <a:solidFill>
                  <a:schemeClr val="tx1"/>
                </a:solidFill>
              </a:rPr>
              <a:t>Download as PDF, Word, Markdown or a self-contained HTML file</a:t>
            </a:r>
            <a:endParaRPr lang="en-US" sz="1400" dirty="0"/>
          </a:p>
        </p:txBody>
      </p:sp>
      <p:sp>
        <p:nvSpPr>
          <p:cNvPr id="12" name="frame-104"/>
          <p:cNvSpPr/>
          <p:nvPr/>
        </p:nvSpPr>
        <p:spPr>
          <a:xfrm>
            <a:off x="6117336" y="3739896"/>
            <a:ext cx="3127248" cy="1995678"/>
          </a:xfrm>
          <a:prstGeom prst="roundRect">
            <a:avLst>
              <a:gd name="adj" fmla="val 3666"/>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13" name="shot-105" descr="dark dashboard">    </p:cNvPr>
          <p:cNvPicPr>
            <a:picLocks noChangeAspect="1"/>
          </p:cNvPicPr>
          <p:nvPr/>
        </p:nvPicPr>
        <p:blipFill>
          <a:blip r:embed="rId4"/>
          <a:stretch>
            <a:fillRect/>
          </a:stretch>
        </p:blipFill>
        <p:spPr>
          <a:xfrm>
            <a:off x="6172200" y="3794760"/>
            <a:ext cx="3017520" cy="1885950"/>
          </a:xfrm>
          <a:prstGeom prst="rect">
            <a:avLst/>
          </a:prstGeom>
        </p:spPr>
      </p:pic>
      <p:sp>
        <p:nvSpPr>
          <p:cNvPr id="14" name="text-106"/>
          <p:cNvSpPr txBox="1"/>
          <p:nvPr/>
        </p:nvSpPr>
        <p:spPr>
          <a:xfrm>
            <a:off x="9372600" y="4069080"/>
            <a:ext cx="2240280" cy="1371600"/>
          </a:xfrm>
          <a:prstGeom prst="rect">
            <a:avLst/>
          </a:prstGeom>
          <a:noFill/>
          <a:ln/>
        </p:spPr>
        <p:txBody>
          <a:bodyPr wrap="square" lIns="0" tIns="0" rIns="0" bIns="0" rtlCol="0" anchor="t"/>
          <a:lstStyle/>
          <a:p>
            <a:pPr indent="0" marL="0">
              <a:buNone/>
            </a:pPr>
            <a:r>
              <a:rPr lang="en-US" sz="1400" dirty="0">
                <a:solidFill>
                  <a:schemeClr val="tx1"/>
                </a:solidFill>
              </a:rPr>
              <a:t>Accessible by design: keyboard, screen readers, dark scheme, mobile</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See exactly what a model is shown</a:t>
            </a:r>
            <a:endParaRPr lang="en-US" sz="3000" dirty="0"/>
          </a:p>
        </p:txBody>
      </p:sp>
      <p:sp>
        <p:nvSpPr>
          <p:cNvPr id="3" name="frame-107"/>
          <p:cNvSpPr/>
          <p:nvPr/>
        </p:nvSpPr>
        <p:spPr>
          <a:xfrm>
            <a:off x="5568696" y="1271016"/>
            <a:ext cx="6099048" cy="3853053"/>
          </a:xfrm>
          <a:prstGeom prst="roundRect">
            <a:avLst>
              <a:gd name="adj" fmla="val 1899"/>
            </a:avLst>
          </a:prstGeom>
          <a:solidFill>
            <a:srgbClr val="FCFCFA"/>
          </a:solidFill>
          <a:ln w="9525">
            <a:solidFill>
              <a:srgbClr val="DEDCD6"/>
            </a:solidFill>
            <a:prstDash val="solid"/>
          </a:ln>
          <a:effectLst>
            <a:outerShdw sx="100000" sy="100000" kx="0" ky="0" algn="bl" rotWithShape="0" blurRad="101600" dist="25400" dir="5400000">
              <a:srgbClr val="1F2421">
                <a:alpha val="12000"/>
              </a:srgbClr>
            </a:outerShdw>
          </a:effectLst>
        </p:spPr>
      </p:sp>
      <p:pic>
        <p:nvPicPr>
          <p:cNvPr id="4" name="shot-108" descr="masked">    </p:cNvPr>
          <p:cNvPicPr>
            <a:picLocks noChangeAspect="1"/>
          </p:cNvPicPr>
          <p:nvPr/>
        </p:nvPicPr>
        <p:blipFill>
          <a:blip r:embed="rId1"/>
          <a:stretch>
            <a:fillRect/>
          </a:stretch>
        </p:blipFill>
        <p:spPr>
          <a:xfrm>
            <a:off x="5623560" y="1325880"/>
            <a:ext cx="5989320" cy="3743325"/>
          </a:xfrm>
          <a:prstGeom prst="rect">
            <a:avLst/>
          </a:prstGeom>
        </p:spPr>
      </p:pic>
      <p:sp>
        <p:nvSpPr>
          <p:cNvPr id="5" name="bullets-109"/>
          <p:cNvSpPr txBox="1"/>
          <p:nvPr/>
        </p:nvSpPr>
        <p:spPr>
          <a:xfrm>
            <a:off x="548640" y="1417320"/>
            <a:ext cx="4846320" cy="356616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rPr>
              <a:t>No rows, ever. </a:t>
            </a:r>
            <a:pPr indent="0" marL="0">
              <a:spcAft>
                <a:spcPts val="800"/>
              </a:spcAft>
              <a:buNone/>
            </a:pPr>
            <a:r>
              <a:rPr lang="en-US" sz="1500" dirty="0">
                <a:solidFill>
                  <a:schemeClr val="tx1"/>
                </a:solidFill>
              </a:rPr>
              <a:t>A model sees only a masked description of the table</a:t>
            </a:r>
            <a:endParaRPr lang="en-US" sz="1500" dirty="0"/>
          </a:p>
          <a:p>
            <a:pPr marL="203200" indent="-203200">
              <a:spcAft>
                <a:spcPts val="800"/>
              </a:spcAft>
              <a:buSzPct val="100000"/>
              <a:buChar char="•"/>
            </a:pPr>
            <a:r>
              <a:rPr lang="en-US" sz="1500" b="1" dirty="0">
                <a:solidFill>
                  <a:schemeClr val="tx1"/>
                </a:solidFill>
              </a:rPr>
              <a:t>No personal values, </a:t>
            </a:r>
            <a:pPr indent="0" marL="0">
              <a:spcAft>
                <a:spcPts val="800"/>
              </a:spcAft>
              <a:buNone/>
            </a:pPr>
            <a:r>
              <a:rPr lang="en-US" sz="1500" dirty="0">
                <a:solidFill>
                  <a:schemeClr val="tx1"/>
                </a:solidFill>
              </a:rPr>
              <a:t>no exact minimum or maximum, no cross-column statistics</a:t>
            </a:r>
            <a:endParaRPr lang="en-US" sz="1500" dirty="0"/>
          </a:p>
          <a:p>
            <a:pPr marL="203200" indent="-203200">
              <a:spcAft>
                <a:spcPts val="800"/>
              </a:spcAft>
              <a:buSzPct val="100000"/>
              <a:buChar char="•"/>
            </a:pPr>
            <a:r>
              <a:rPr lang="en-US" sz="1500" b="1" dirty="0">
                <a:solidFill>
                  <a:schemeClr val="tx1"/>
                </a:solidFill>
              </a:rPr>
              <a:t>A gateway blocks </a:t>
            </a:r>
            <a:pPr indent="0" marL="0">
              <a:spcAft>
                <a:spcPts val="800"/>
              </a:spcAft>
              <a:buNone/>
            </a:pPr>
            <a:r>
              <a:rPr lang="en-US" sz="1500" dirty="0">
                <a:solidFill>
                  <a:schemeClr val="tx1"/>
                </a:solidFill>
              </a:rPr>
              <a:t>any payload that still contains personal data</a:t>
            </a:r>
            <a:endParaRPr lang="en-US" sz="1500" dirty="0"/>
          </a:p>
          <a:p>
            <a:pPr marL="203200" indent="-203200">
              <a:spcAft>
                <a:spcPts val="800"/>
              </a:spcAft>
              <a:buSzPct val="100000"/>
              <a:buChar char="•"/>
            </a:pPr>
            <a:r>
              <a:rPr lang="en-US" sz="1500" b="1" dirty="0">
                <a:solidFill>
                  <a:schemeClr val="tx1"/>
                </a:solidFill>
              </a:rPr>
              <a:t>AI is optional. </a:t>
            </a:r>
            <a:pPr indent="0" marL="0">
              <a:spcAft>
                <a:spcPts val="800"/>
              </a:spcAft>
              <a:buNone/>
            </a:pPr>
            <a:r>
              <a:rPr lang="en-US" sz="1500" dirty="0">
                <a:solidFill>
                  <a:schemeClr val="tx1"/>
                </a:solidFill>
              </a:rPr>
              <a:t>Without a model, rules plan the analysis and templates write the sentences</a:t>
            </a:r>
            <a:endParaRPr lang="en-US" sz="1500" dirty="0"/>
          </a:p>
        </p:txBody>
      </p:sp>
      <p:sp>
        <p:nvSpPr>
          <p:cNvPr id="6" name="card-110"/>
          <p:cNvSpPr/>
          <p:nvPr/>
        </p:nvSpPr>
        <p:spPr>
          <a:xfrm>
            <a:off x="548640" y="4937760"/>
            <a:ext cx="4846320" cy="960120"/>
          </a:xfrm>
          <a:prstGeom prst="roundRect">
            <a:avLst>
              <a:gd name="adj" fmla="val 9524"/>
            </a:avLst>
          </a:prstGeom>
          <a:solidFill>
            <a:srgbClr val="E7F0EC"/>
          </a:solidFill>
          <a:ln w="9525">
            <a:solidFill>
              <a:srgbClr val="DEDCD6"/>
            </a:solidFill>
            <a:prstDash val="solid"/>
          </a:ln>
        </p:spPr>
      </p:sp>
      <p:sp>
        <p:nvSpPr>
          <p:cNvPr id="7" name="text-111"/>
          <p:cNvSpPr txBox="1"/>
          <p:nvPr/>
        </p:nvSpPr>
        <p:spPr>
          <a:xfrm>
            <a:off x="777240" y="5029200"/>
            <a:ext cx="4434840" cy="777240"/>
          </a:xfrm>
          <a:prstGeom prst="rect">
            <a:avLst/>
          </a:prstGeom>
          <a:noFill/>
          <a:ln/>
        </p:spPr>
        <p:txBody>
          <a:bodyPr wrap="square" lIns="0" tIns="0" rIns="0" bIns="0" rtlCol="0" anchor="ctr"/>
          <a:lstStyle/>
          <a:p>
            <a:pPr indent="0" marL="0">
              <a:buNone/>
            </a:pPr>
            <a:r>
              <a:rPr lang="en-US" sz="1300" dirty="0">
                <a:solidFill>
                  <a:schemeClr val="accent1"/>
                </a:solidFill>
              </a:rPr>
              <a:t>The live site runs with no model configured: the whole product works on deterministic code alone, at zero AI cost.</a:t>
            </a:r>
            <a:endParaRPr lang="en-US" sz="13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694944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How it works</a:t>
            </a:r>
            <a:endParaRPr lang="en-US" sz="4400" dirty="0"/>
          </a:p>
        </p:txBody>
      </p:sp>
      <p:sp>
        <p:nvSpPr>
          <p:cNvPr id="3" name="Text 0"/>
          <p:cNvSpPr/>
          <p:nvPr>
            <p:ph idx="101" type="body" hasCustomPrompt="1"/>
          </p:nvPr>
        </p:nvSpPr>
        <p:spPr>
          <a:xfrm>
            <a:off x="548640" y="3703320"/>
            <a:ext cx="6949440" cy="128016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Architecture, the analysis pipeline, and the checks that make every number traceable.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modular monolith: three processes, two stores</a:t>
            </a:r>
            <a:endParaRPr lang="en-US" sz="3000" dirty="0"/>
          </a:p>
        </p:txBody>
      </p:sp>
      <p:sp>
        <p:nvSpPr>
          <p:cNvPr id="3" name="card-112"/>
          <p:cNvSpPr/>
          <p:nvPr/>
        </p:nvSpPr>
        <p:spPr>
          <a:xfrm>
            <a:off x="548640" y="2651760"/>
            <a:ext cx="1737360" cy="1005840"/>
          </a:xfrm>
          <a:prstGeom prst="roundRect">
            <a:avLst>
              <a:gd name="adj" fmla="val 9091"/>
            </a:avLst>
          </a:prstGeom>
          <a:solidFill>
            <a:schemeClr val="bg1"/>
          </a:solidFill>
          <a:ln w="9525">
            <a:solidFill>
              <a:srgbClr val="DEDCD6"/>
            </a:solidFill>
            <a:prstDash val="solid"/>
          </a:ln>
        </p:spPr>
      </p:sp>
      <p:sp>
        <p:nvSpPr>
          <p:cNvPr id="4" name="text-113"/>
          <p:cNvSpPr txBox="1"/>
          <p:nvPr/>
        </p:nvSpPr>
        <p:spPr>
          <a:xfrm>
            <a:off x="685800" y="2743200"/>
            <a:ext cx="1463040" cy="822960"/>
          </a:xfrm>
          <a:prstGeom prst="rect">
            <a:avLst/>
          </a:prstGeom>
          <a:noFill/>
          <a:ln/>
        </p:spPr>
        <p:txBody>
          <a:bodyPr wrap="square" lIns="0" tIns="0" rIns="0" bIns="0" rtlCol="0" anchor="ctr"/>
          <a:lstStyle/>
          <a:p>
            <a:pPr algn="ctr" indent="0" marL="0">
              <a:buNone/>
            </a:pPr>
            <a:r>
              <a:rPr lang="en-US" sz="1500" b="1" dirty="0">
                <a:solidFill>
                  <a:schemeClr val="tx1"/>
                </a:solidFill>
              </a:rPr>
              <a:t>Browser</a:t>
            </a:r>
            <a:endParaRPr lang="en-US" sz="1500" dirty="0"/>
          </a:p>
          <a:p>
            <a:pPr algn="ctr" indent="0" marL="0">
              <a:buNone/>
            </a:pPr>
            <a:r>
              <a:rPr lang="en-US" sz="1200" dirty="0">
                <a:solidFill>
                  <a:schemeClr val="accent5"/>
                </a:solidFill>
              </a:rPr>
              <a:t>React, Web Worker</a:t>
            </a:r>
            <a:endParaRPr lang="en-US" sz="1500" dirty="0"/>
          </a:p>
        </p:txBody>
      </p:sp>
      <p:sp>
        <p:nvSpPr>
          <p:cNvPr id="5" name="card-114"/>
          <p:cNvSpPr/>
          <p:nvPr/>
        </p:nvSpPr>
        <p:spPr>
          <a:xfrm>
            <a:off x="2926080" y="1325880"/>
            <a:ext cx="2651760" cy="1143000"/>
          </a:xfrm>
          <a:prstGeom prst="roundRect">
            <a:avLst>
              <a:gd name="adj" fmla="val 8000"/>
            </a:avLst>
          </a:prstGeom>
          <a:solidFill>
            <a:schemeClr val="bg1"/>
          </a:solidFill>
          <a:ln w="9525">
            <a:solidFill>
              <a:srgbClr val="DEDCD6"/>
            </a:solidFill>
            <a:prstDash val="solid"/>
          </a:ln>
        </p:spPr>
      </p:sp>
      <p:sp>
        <p:nvSpPr>
          <p:cNvPr id="6" name="text-115"/>
          <p:cNvSpPr txBox="1"/>
          <p:nvPr/>
        </p:nvSpPr>
        <p:spPr>
          <a:xfrm>
            <a:off x="3063240" y="1417320"/>
            <a:ext cx="2377440" cy="960120"/>
          </a:xfrm>
          <a:prstGeom prst="rect">
            <a:avLst/>
          </a:prstGeom>
          <a:noFill/>
          <a:ln/>
        </p:spPr>
        <p:txBody>
          <a:bodyPr wrap="square" lIns="0" tIns="0" rIns="0" bIns="0" rtlCol="0" anchor="ctr"/>
          <a:lstStyle/>
          <a:p>
            <a:pPr algn="ctr" indent="0" marL="0">
              <a:buNone/>
            </a:pPr>
            <a:r>
              <a:rPr lang="en-US" sz="1500" b="1" dirty="0">
                <a:solidFill>
                  <a:schemeClr val="tx1"/>
                </a:solidFill>
              </a:rPr>
              <a:t>Web app</a:t>
            </a:r>
            <a:endParaRPr lang="en-US" sz="1500" dirty="0"/>
          </a:p>
          <a:p>
            <a:pPr algn="ctr" indent="0" marL="0">
              <a:buNone/>
            </a:pPr>
            <a:r>
              <a:rPr lang="en-US" sz="1200" dirty="0">
                <a:solidFill>
                  <a:schemeClr val="accent5"/>
                </a:solidFill>
              </a:rPr>
              <a:t>Next.js · Better Auth · BFF proxy</a:t>
            </a:r>
            <a:endParaRPr lang="en-US" sz="1500" dirty="0"/>
          </a:p>
        </p:txBody>
      </p:sp>
      <p:sp>
        <p:nvSpPr>
          <p:cNvPr id="7" name="card-116"/>
          <p:cNvSpPr/>
          <p:nvPr/>
        </p:nvSpPr>
        <p:spPr>
          <a:xfrm>
            <a:off x="2926080" y="3794760"/>
            <a:ext cx="2651760" cy="1143000"/>
          </a:xfrm>
          <a:prstGeom prst="roundRect">
            <a:avLst>
              <a:gd name="adj" fmla="val 8000"/>
            </a:avLst>
          </a:prstGeom>
          <a:solidFill>
            <a:schemeClr val="bg1"/>
          </a:solidFill>
          <a:ln w="9525">
            <a:solidFill>
              <a:srgbClr val="DEDCD6"/>
            </a:solidFill>
            <a:prstDash val="solid"/>
          </a:ln>
        </p:spPr>
      </p:sp>
      <p:sp>
        <p:nvSpPr>
          <p:cNvPr id="8" name="text-117"/>
          <p:cNvSpPr txBox="1"/>
          <p:nvPr/>
        </p:nvSpPr>
        <p:spPr>
          <a:xfrm>
            <a:off x="3063240" y="3886200"/>
            <a:ext cx="2377440" cy="960120"/>
          </a:xfrm>
          <a:prstGeom prst="rect">
            <a:avLst/>
          </a:prstGeom>
          <a:noFill/>
          <a:ln/>
        </p:spPr>
        <p:txBody>
          <a:bodyPr wrap="square" lIns="0" tIns="0" rIns="0" bIns="0" rtlCol="0" anchor="ctr"/>
          <a:lstStyle/>
          <a:p>
            <a:pPr algn="ctr" indent="0" marL="0">
              <a:buNone/>
            </a:pPr>
            <a:r>
              <a:rPr lang="en-US" sz="1500" b="1" dirty="0">
                <a:solidFill>
                  <a:schemeClr val="tx1"/>
                </a:solidFill>
              </a:rPr>
              <a:t>Object storage</a:t>
            </a:r>
            <a:endParaRPr lang="en-US" sz="1500" dirty="0"/>
          </a:p>
          <a:p>
            <a:pPr algn="ctr" indent="0" marL="0">
              <a:buNone/>
            </a:pPr>
            <a:r>
              <a:rPr lang="en-US" sz="1200" dirty="0">
                <a:solidFill>
                  <a:schemeClr val="accent5"/>
                </a:solidFill>
              </a:rPr>
              <a:t>Amazon S3 · bronze / silver / gold</a:t>
            </a:r>
            <a:endParaRPr lang="en-US" sz="1500" dirty="0"/>
          </a:p>
        </p:txBody>
      </p:sp>
      <p:sp>
        <p:nvSpPr>
          <p:cNvPr id="9" name="card-118"/>
          <p:cNvSpPr/>
          <p:nvPr/>
        </p:nvSpPr>
        <p:spPr>
          <a:xfrm>
            <a:off x="6400800" y="1325880"/>
            <a:ext cx="2377440" cy="1143000"/>
          </a:xfrm>
          <a:prstGeom prst="roundRect">
            <a:avLst>
              <a:gd name="adj" fmla="val 8000"/>
            </a:avLst>
          </a:prstGeom>
          <a:solidFill>
            <a:schemeClr val="bg1"/>
          </a:solidFill>
          <a:ln w="9525">
            <a:solidFill>
              <a:srgbClr val="DEDCD6"/>
            </a:solidFill>
            <a:prstDash val="solid"/>
          </a:ln>
        </p:spPr>
      </p:sp>
      <p:sp>
        <p:nvSpPr>
          <p:cNvPr id="10" name="text-119"/>
          <p:cNvSpPr txBox="1"/>
          <p:nvPr/>
        </p:nvSpPr>
        <p:spPr>
          <a:xfrm>
            <a:off x="6537960" y="1417320"/>
            <a:ext cx="2103120" cy="960120"/>
          </a:xfrm>
          <a:prstGeom prst="rect">
            <a:avLst/>
          </a:prstGeom>
          <a:noFill/>
          <a:ln/>
        </p:spPr>
        <p:txBody>
          <a:bodyPr wrap="square" lIns="0" tIns="0" rIns="0" bIns="0" rtlCol="0" anchor="ctr"/>
          <a:lstStyle/>
          <a:p>
            <a:pPr algn="ctr" indent="0" marL="0">
              <a:buNone/>
            </a:pPr>
            <a:r>
              <a:rPr lang="en-US" sz="1500" b="1" dirty="0">
                <a:solidFill>
                  <a:schemeClr val="tx1"/>
                </a:solidFill>
              </a:rPr>
              <a:t>API</a:t>
            </a:r>
            <a:endParaRPr lang="en-US" sz="1500" dirty="0"/>
          </a:p>
          <a:p>
            <a:pPr algn="ctr" indent="0" marL="0">
              <a:buNone/>
            </a:pPr>
            <a:r>
              <a:rPr lang="en-US" sz="1200" dirty="0">
                <a:solidFill>
                  <a:schemeClr val="accent5"/>
                </a:solidFill>
              </a:rPr>
              <a:t>FastAPI · tokens verified offline</a:t>
            </a:r>
            <a:endParaRPr lang="en-US" sz="1500" dirty="0"/>
          </a:p>
        </p:txBody>
      </p:sp>
      <p:sp>
        <p:nvSpPr>
          <p:cNvPr id="11" name="card-120"/>
          <p:cNvSpPr/>
          <p:nvPr/>
        </p:nvSpPr>
        <p:spPr>
          <a:xfrm>
            <a:off x="6400800" y="3794760"/>
            <a:ext cx="2377440" cy="1143000"/>
          </a:xfrm>
          <a:prstGeom prst="roundRect">
            <a:avLst>
              <a:gd name="adj" fmla="val 8000"/>
            </a:avLst>
          </a:prstGeom>
          <a:solidFill>
            <a:schemeClr val="bg1"/>
          </a:solidFill>
          <a:ln w="9525">
            <a:solidFill>
              <a:srgbClr val="DEDCD6"/>
            </a:solidFill>
            <a:prstDash val="solid"/>
          </a:ln>
        </p:spPr>
      </p:sp>
      <p:sp>
        <p:nvSpPr>
          <p:cNvPr id="12" name="text-121"/>
          <p:cNvSpPr txBox="1"/>
          <p:nvPr/>
        </p:nvSpPr>
        <p:spPr>
          <a:xfrm>
            <a:off x="6537960" y="3886200"/>
            <a:ext cx="2103120" cy="960120"/>
          </a:xfrm>
          <a:prstGeom prst="rect">
            <a:avLst/>
          </a:prstGeom>
          <a:noFill/>
          <a:ln/>
        </p:spPr>
        <p:txBody>
          <a:bodyPr wrap="square" lIns="0" tIns="0" rIns="0" bIns="0" rtlCol="0" anchor="ctr"/>
          <a:lstStyle/>
          <a:p>
            <a:pPr algn="ctr" indent="0" marL="0">
              <a:buNone/>
            </a:pPr>
            <a:r>
              <a:rPr lang="en-US" sz="1500" b="1" dirty="0">
                <a:solidFill>
                  <a:schemeClr val="tx1"/>
                </a:solidFill>
              </a:rPr>
              <a:t>Worker</a:t>
            </a:r>
            <a:endParaRPr lang="en-US" sz="1500" dirty="0"/>
          </a:p>
          <a:p>
            <a:pPr algn="ctr" indent="0" marL="0">
              <a:buNone/>
            </a:pPr>
            <a:r>
              <a:rPr lang="en-US" sz="1200" dirty="0">
                <a:solidFill>
                  <a:schemeClr val="accent5"/>
                </a:solidFill>
              </a:rPr>
              <a:t>same image · 12 stages</a:t>
            </a:r>
            <a:endParaRPr lang="en-US" sz="1500" dirty="0"/>
          </a:p>
        </p:txBody>
      </p:sp>
      <p:sp>
        <p:nvSpPr>
          <p:cNvPr id="13" name="card-122"/>
          <p:cNvSpPr/>
          <p:nvPr/>
        </p:nvSpPr>
        <p:spPr>
          <a:xfrm>
            <a:off x="9509760" y="2514600"/>
            <a:ext cx="2103120" cy="1325880"/>
          </a:xfrm>
          <a:prstGeom prst="roundRect">
            <a:avLst>
              <a:gd name="adj" fmla="val 6897"/>
            </a:avLst>
          </a:prstGeom>
          <a:solidFill>
            <a:schemeClr val="bg1"/>
          </a:solidFill>
          <a:ln w="9525">
            <a:solidFill>
              <a:srgbClr val="DEDCD6"/>
            </a:solidFill>
            <a:prstDash val="solid"/>
          </a:ln>
        </p:spPr>
      </p:sp>
      <p:sp>
        <p:nvSpPr>
          <p:cNvPr id="14" name="text-123"/>
          <p:cNvSpPr txBox="1"/>
          <p:nvPr/>
        </p:nvSpPr>
        <p:spPr>
          <a:xfrm>
            <a:off x="9646920" y="2606040"/>
            <a:ext cx="1828800" cy="1143000"/>
          </a:xfrm>
          <a:prstGeom prst="rect">
            <a:avLst/>
          </a:prstGeom>
          <a:noFill/>
          <a:ln/>
        </p:spPr>
        <p:txBody>
          <a:bodyPr wrap="square" lIns="0" tIns="0" rIns="0" bIns="0" rtlCol="0" anchor="ctr"/>
          <a:lstStyle/>
          <a:p>
            <a:pPr algn="ctr" indent="0" marL="0">
              <a:buNone/>
            </a:pPr>
            <a:r>
              <a:rPr lang="en-US" sz="1500" b="1" dirty="0">
                <a:solidFill>
                  <a:schemeClr val="tx1"/>
                </a:solidFill>
              </a:rPr>
              <a:t>PostgreSQL 18</a:t>
            </a:r>
            <a:endParaRPr lang="en-US" sz="1500" dirty="0"/>
          </a:p>
          <a:p>
            <a:pPr algn="ctr" indent="0" marL="0">
              <a:buNone/>
            </a:pPr>
            <a:r>
              <a:rPr lang="en-US" sz="1200" dirty="0">
                <a:solidFill>
                  <a:schemeClr val="accent5"/>
                </a:solidFill>
              </a:rPr>
              <a:t>data · job queue · events · auth</a:t>
            </a:r>
            <a:endParaRPr lang="en-US" sz="1500" dirty="0"/>
          </a:p>
        </p:txBody>
      </p:sp>
      <p:sp>
        <p:nvSpPr>
          <p:cNvPr id="15" name="card-124"/>
          <p:cNvSpPr/>
          <p:nvPr/>
        </p:nvSpPr>
        <p:spPr>
          <a:xfrm>
            <a:off x="9509760" y="4526280"/>
            <a:ext cx="2103120" cy="1005840"/>
          </a:xfrm>
          <a:prstGeom prst="roundRect">
            <a:avLst>
              <a:gd name="adj" fmla="val 9091"/>
            </a:avLst>
          </a:prstGeom>
          <a:solidFill>
            <a:srgbClr val="E7F0EC"/>
          </a:solidFill>
          <a:ln w="9525">
            <a:solidFill>
              <a:srgbClr val="DEDCD6"/>
            </a:solidFill>
            <a:prstDash val="solid"/>
          </a:ln>
        </p:spPr>
      </p:sp>
      <p:sp>
        <p:nvSpPr>
          <p:cNvPr id="16" name="text-125"/>
          <p:cNvSpPr txBox="1"/>
          <p:nvPr/>
        </p:nvSpPr>
        <p:spPr>
          <a:xfrm>
            <a:off x="9646920" y="4617720"/>
            <a:ext cx="1828800" cy="822960"/>
          </a:xfrm>
          <a:prstGeom prst="rect">
            <a:avLst/>
          </a:prstGeom>
          <a:noFill/>
          <a:ln/>
        </p:spPr>
        <p:txBody>
          <a:bodyPr wrap="square" lIns="0" tIns="0" rIns="0" bIns="0" rtlCol="0" anchor="ctr"/>
          <a:lstStyle/>
          <a:p>
            <a:pPr algn="ctr" indent="0" marL="0">
              <a:buNone/>
            </a:pPr>
            <a:r>
              <a:rPr lang="en-US" sz="1500" b="1" dirty="0">
                <a:solidFill>
                  <a:schemeClr val="tx1"/>
                </a:solidFill>
              </a:rPr>
              <a:t>Language model</a:t>
            </a:r>
            <a:endParaRPr lang="en-US" sz="1500" dirty="0"/>
          </a:p>
          <a:p>
            <a:pPr algn="ctr" indent="0" marL="0">
              <a:buNone/>
            </a:pPr>
            <a:r>
              <a:rPr lang="en-US" sz="1200" dirty="0">
                <a:solidFill>
                  <a:schemeClr val="accent5"/>
                </a:solidFill>
              </a:rPr>
              <a:t>optional · masked only</a:t>
            </a:r>
            <a:endParaRPr lang="en-US" sz="1500" dirty="0"/>
          </a:p>
        </p:txBody>
      </p:sp>
      <p:sp>
        <p:nvSpPr>
          <p:cNvPr id="17" name="arrow-126"/>
          <p:cNvSpPr/>
          <p:nvPr/>
        </p:nvSpPr>
        <p:spPr>
          <a:xfrm flipV="1">
            <a:off x="2286000" y="2011680"/>
            <a:ext cx="640080" cy="914400"/>
          </a:xfrm>
          <a:prstGeom prst="line">
            <a:avLst/>
          </a:prstGeom>
          <a:noFill/>
          <a:ln w="15875">
            <a:solidFill>
              <a:srgbClr val="5E625E"/>
            </a:solidFill>
            <a:prstDash val="solid"/>
            <a:tailEnd type="triangle"/>
          </a:ln>
        </p:spPr>
      </p:sp>
      <p:sp>
        <p:nvSpPr>
          <p:cNvPr id="18" name="arrow-127"/>
          <p:cNvSpPr/>
          <p:nvPr/>
        </p:nvSpPr>
        <p:spPr>
          <a:xfrm>
            <a:off x="2286000" y="3383280"/>
            <a:ext cx="640080" cy="822960"/>
          </a:xfrm>
          <a:prstGeom prst="line">
            <a:avLst/>
          </a:prstGeom>
          <a:noFill/>
          <a:ln w="15875">
            <a:solidFill>
              <a:srgbClr val="5E625E"/>
            </a:solidFill>
            <a:prstDash val="solid"/>
            <a:tailEnd type="triangle"/>
          </a:ln>
        </p:spPr>
      </p:sp>
      <p:sp>
        <p:nvSpPr>
          <p:cNvPr id="19" name="arrow-128"/>
          <p:cNvSpPr/>
          <p:nvPr/>
        </p:nvSpPr>
        <p:spPr>
          <a:xfrm>
            <a:off x="5577840" y="1892808"/>
            <a:ext cx="822960" cy="914"/>
          </a:xfrm>
          <a:prstGeom prst="line">
            <a:avLst/>
          </a:prstGeom>
          <a:noFill/>
          <a:ln w="15875">
            <a:solidFill>
              <a:srgbClr val="5E625E"/>
            </a:solidFill>
            <a:prstDash val="solid"/>
            <a:tailEnd type="triangle"/>
          </a:ln>
        </p:spPr>
      </p:sp>
      <p:sp>
        <p:nvSpPr>
          <p:cNvPr id="20" name="arrow-129"/>
          <p:cNvSpPr/>
          <p:nvPr/>
        </p:nvSpPr>
        <p:spPr>
          <a:xfrm>
            <a:off x="8778240" y="2011680"/>
            <a:ext cx="731520" cy="777240"/>
          </a:xfrm>
          <a:prstGeom prst="line">
            <a:avLst/>
          </a:prstGeom>
          <a:noFill/>
          <a:ln w="15875">
            <a:solidFill>
              <a:srgbClr val="5E625E"/>
            </a:solidFill>
            <a:prstDash val="solid"/>
            <a:tailEnd type="triangle"/>
          </a:ln>
        </p:spPr>
      </p:sp>
      <p:sp>
        <p:nvSpPr>
          <p:cNvPr id="21" name="arrow-130"/>
          <p:cNvSpPr/>
          <p:nvPr/>
        </p:nvSpPr>
        <p:spPr>
          <a:xfrm flipV="1">
            <a:off x="8778240" y="3566160"/>
            <a:ext cx="731520" cy="640080"/>
          </a:xfrm>
          <a:prstGeom prst="line">
            <a:avLst/>
          </a:prstGeom>
          <a:noFill/>
          <a:ln w="15875">
            <a:solidFill>
              <a:srgbClr val="5E625E"/>
            </a:solidFill>
            <a:prstDash val="solid"/>
            <a:tailEnd type="triangle"/>
          </a:ln>
        </p:spPr>
      </p:sp>
      <p:sp>
        <p:nvSpPr>
          <p:cNvPr id="22" name="arrow-131"/>
          <p:cNvSpPr/>
          <p:nvPr/>
        </p:nvSpPr>
        <p:spPr>
          <a:xfrm flipH="1">
            <a:off x="5577840" y="4361688"/>
            <a:ext cx="822960" cy="914"/>
          </a:xfrm>
          <a:prstGeom prst="line">
            <a:avLst/>
          </a:prstGeom>
          <a:noFill/>
          <a:ln w="15875">
            <a:solidFill>
              <a:srgbClr val="5E625E"/>
            </a:solidFill>
            <a:prstDash val="solid"/>
            <a:tailEnd type="triangle"/>
          </a:ln>
        </p:spPr>
      </p:sp>
      <p:sp>
        <p:nvSpPr>
          <p:cNvPr id="23" name="arrow-132"/>
          <p:cNvSpPr/>
          <p:nvPr/>
        </p:nvSpPr>
        <p:spPr>
          <a:xfrm>
            <a:off x="8778240" y="4754880"/>
            <a:ext cx="731520" cy="274320"/>
          </a:xfrm>
          <a:prstGeom prst="line">
            <a:avLst/>
          </a:prstGeom>
          <a:noFill/>
          <a:ln w="15875">
            <a:solidFill>
              <a:srgbClr val="5E625E"/>
            </a:solidFill>
            <a:prstDash val="solid"/>
            <a:tailEnd type="triangle"/>
          </a:ln>
        </p:spPr>
      </p:sp>
      <p:sp>
        <p:nvSpPr>
          <p:cNvPr id="24" name="text-133"/>
          <p:cNvSpPr txBox="1"/>
          <p:nvPr/>
        </p:nvSpPr>
        <p:spPr>
          <a:xfrm>
            <a:off x="1828800" y="2240280"/>
            <a:ext cx="1188720" cy="274320"/>
          </a:xfrm>
          <a:prstGeom prst="rect">
            <a:avLst/>
          </a:prstGeom>
          <a:noFill/>
          <a:ln/>
        </p:spPr>
        <p:txBody>
          <a:bodyPr wrap="square" lIns="0" tIns="0" rIns="0" bIns="0" rtlCol="0" anchor="t"/>
          <a:lstStyle/>
          <a:p>
            <a:pPr indent="0" marL="0">
              <a:buNone/>
            </a:pPr>
            <a:r>
              <a:rPr lang="en-US" sz="1000" dirty="0">
                <a:solidFill>
                  <a:schemeClr val="accent5"/>
                </a:solidFill>
              </a:rPr>
              <a:t>session cookie</a:t>
            </a:r>
            <a:endParaRPr lang="en-US" sz="1000" dirty="0"/>
          </a:p>
        </p:txBody>
      </p:sp>
      <p:sp>
        <p:nvSpPr>
          <p:cNvPr id="25" name="text-134"/>
          <p:cNvSpPr txBox="1"/>
          <p:nvPr/>
        </p:nvSpPr>
        <p:spPr>
          <a:xfrm>
            <a:off x="1874520" y="3931920"/>
            <a:ext cx="1097280" cy="274320"/>
          </a:xfrm>
          <a:prstGeom prst="rect">
            <a:avLst/>
          </a:prstGeom>
          <a:noFill/>
          <a:ln/>
        </p:spPr>
        <p:txBody>
          <a:bodyPr wrap="square" lIns="0" tIns="0" rIns="0" bIns="0" rtlCol="0" anchor="t"/>
          <a:lstStyle/>
          <a:p>
            <a:pPr indent="0" marL="0">
              <a:buNone/>
            </a:pPr>
            <a:r>
              <a:rPr lang="en-US" sz="1000" dirty="0">
                <a:solidFill>
                  <a:schemeClr val="accent5"/>
                </a:solidFill>
              </a:rPr>
              <a:t>presigned PUT</a:t>
            </a:r>
            <a:endParaRPr lang="en-US" sz="1000" dirty="0"/>
          </a:p>
        </p:txBody>
      </p:sp>
      <p:sp>
        <p:nvSpPr>
          <p:cNvPr id="26" name="text-135"/>
          <p:cNvSpPr txBox="1"/>
          <p:nvPr/>
        </p:nvSpPr>
        <p:spPr>
          <a:xfrm>
            <a:off x="5596128" y="1417320"/>
            <a:ext cx="786384" cy="411480"/>
          </a:xfrm>
          <a:prstGeom prst="rect">
            <a:avLst/>
          </a:prstGeom>
          <a:noFill/>
          <a:ln/>
        </p:spPr>
        <p:txBody>
          <a:bodyPr wrap="square" lIns="0" tIns="0" rIns="0" bIns="0" rtlCol="0" anchor="t"/>
          <a:lstStyle/>
          <a:p>
            <a:pPr algn="ctr" indent="0" marL="0">
              <a:buNone/>
            </a:pPr>
            <a:r>
              <a:rPr lang="en-US" sz="900" dirty="0">
                <a:solidFill>
                  <a:schemeClr val="accent5"/>
                </a:solidFill>
              </a:rPr>
              <a:t>15-min EdDSA token</a:t>
            </a:r>
            <a:endParaRPr lang="en-US" sz="900" dirty="0"/>
          </a:p>
        </p:txBody>
      </p:sp>
      <p:sp>
        <p:nvSpPr>
          <p:cNvPr id="27" name="bullets-136"/>
          <p:cNvSpPr txBox="1"/>
          <p:nvPr/>
        </p:nvSpPr>
        <p:spPr>
          <a:xfrm>
            <a:off x="548640" y="5257800"/>
            <a:ext cx="8778240" cy="868680"/>
          </a:xfrm>
          <a:prstGeom prst="rect">
            <a:avLst/>
          </a:prstGeom>
          <a:noFill/>
          <a:ln/>
        </p:spPr>
        <p:txBody>
          <a:bodyPr wrap="square" lIns="0" tIns="0" rIns="0" bIns="0" rtlCol="0" anchor="t"/>
          <a:lstStyle/>
          <a:p>
            <a:pPr marL="203200" indent="-203200">
              <a:spcAft>
                <a:spcPts val="200"/>
              </a:spcAft>
              <a:buSzPct val="100000"/>
              <a:buChar char="•"/>
            </a:pPr>
            <a:r>
              <a:rPr lang="en-US" sz="1300" b="1" dirty="0">
                <a:solidFill>
                  <a:schemeClr val="tx1"/>
                </a:solidFill>
              </a:rPr>
              <a:t>The API never sees file bytes </a:t>
            </a:r>
            <a:pPr indent="0" marL="0">
              <a:spcAft>
                <a:spcPts val="200"/>
              </a:spcAft>
              <a:buNone/>
            </a:pPr>
            <a:r>
              <a:rPr lang="en-US" sz="1300" dirty="0">
                <a:solidFill>
                  <a:schemeClr val="tx1"/>
                </a:solidFill>
              </a:rPr>
              <a:t>or passwords; the browser never holds an API token</a:t>
            </a:r>
            <a:endParaRPr lang="en-US" sz="1300" dirty="0"/>
          </a:p>
          <a:p>
            <a:pPr marL="203200" indent="-203200">
              <a:spcAft>
                <a:spcPts val="200"/>
              </a:spcAft>
              <a:buSzPct val="100000"/>
              <a:buChar char="•"/>
            </a:pPr>
            <a:r>
              <a:rPr lang="en-US" sz="1300" b="1" dirty="0">
                <a:solidFill>
                  <a:schemeClr val="tx1"/>
                </a:solidFill>
              </a:rPr>
              <a:t>PostgreSQL is also the queue and event bus: </a:t>
            </a:r>
            <a:pPr indent="0" marL="0">
              <a:spcAft>
                <a:spcPts val="200"/>
              </a:spcAft>
              <a:buNone/>
            </a:pPr>
            <a:r>
              <a:rPr lang="en-US" sz="1300" dirty="0">
                <a:solidFill>
                  <a:schemeClr val="tx1"/>
                </a:solidFill>
              </a:rPr>
              <a:t>one system to secure and back up</a:t>
            </a:r>
            <a:endParaRPr lang="en-US" sz="13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pipeline: understand, review, then prove</a:t>
            </a:r>
            <a:endParaRPr lang="en-US" sz="3000" dirty="0"/>
          </a:p>
        </p:txBody>
      </p:sp>
      <p:sp>
        <p:nvSpPr>
          <p:cNvPr id="3" name="text-137"/>
          <p:cNvSpPr txBox="1"/>
          <p:nvPr/>
        </p:nvSpPr>
        <p:spPr>
          <a:xfrm>
            <a:off x="548640" y="1325880"/>
            <a:ext cx="4572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PHASE A · understand and plan</a:t>
            </a:r>
            <a:endParaRPr lang="en-US" sz="1200" dirty="0"/>
          </a:p>
        </p:txBody>
      </p:sp>
      <p:sp>
        <p:nvSpPr>
          <p:cNvPr id="4" name="chev-138"/>
          <p:cNvSpPr/>
          <p:nvPr/>
        </p:nvSpPr>
        <p:spPr>
          <a:xfrm>
            <a:off x="548640" y="1691640"/>
            <a:ext cx="1371600" cy="640080"/>
          </a:xfrm>
          <a:prstGeom prst="homePlate">
            <a:avLst/>
          </a:prstGeom>
          <a:solidFill>
            <a:srgbClr val="FCFCFA"/>
          </a:solidFill>
          <a:ln w="9525">
            <a:solidFill>
              <a:srgbClr val="2F6F62"/>
            </a:solidFill>
            <a:prstDash val="solid"/>
          </a:ln>
        </p:spPr>
      </p:sp>
      <p:sp>
        <p:nvSpPr>
          <p:cNvPr id="5" name="text-139"/>
          <p:cNvSpPr txBox="1"/>
          <p:nvPr/>
        </p:nvSpPr>
        <p:spPr>
          <a:xfrm>
            <a:off x="594360" y="1691640"/>
            <a:ext cx="1097280" cy="64008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ingest</a:t>
            </a:r>
            <a:endParaRPr lang="en-US" sz="1100" dirty="0"/>
          </a:p>
        </p:txBody>
      </p:sp>
      <p:sp>
        <p:nvSpPr>
          <p:cNvPr id="6" name="chev-140"/>
          <p:cNvSpPr/>
          <p:nvPr/>
        </p:nvSpPr>
        <p:spPr>
          <a:xfrm>
            <a:off x="1965960" y="1691640"/>
            <a:ext cx="1371600" cy="640080"/>
          </a:xfrm>
          <a:prstGeom prst="homePlate">
            <a:avLst/>
          </a:prstGeom>
          <a:solidFill>
            <a:srgbClr val="FCFCFA"/>
          </a:solidFill>
          <a:ln w="9525">
            <a:solidFill>
              <a:srgbClr val="2F6F62"/>
            </a:solidFill>
            <a:prstDash val="solid"/>
          </a:ln>
        </p:spPr>
      </p:sp>
      <p:sp>
        <p:nvSpPr>
          <p:cNvPr id="7" name="text-141"/>
          <p:cNvSpPr txBox="1"/>
          <p:nvPr/>
        </p:nvSpPr>
        <p:spPr>
          <a:xfrm>
            <a:off x="2011680" y="1691640"/>
            <a:ext cx="1097280" cy="64008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profile</a:t>
            </a:r>
            <a:endParaRPr lang="en-US" sz="1100" dirty="0"/>
          </a:p>
        </p:txBody>
      </p:sp>
      <p:sp>
        <p:nvSpPr>
          <p:cNvPr id="8" name="chev-142"/>
          <p:cNvSpPr/>
          <p:nvPr/>
        </p:nvSpPr>
        <p:spPr>
          <a:xfrm>
            <a:off x="3383280" y="1691640"/>
            <a:ext cx="1371600" cy="640080"/>
          </a:xfrm>
          <a:prstGeom prst="homePlate">
            <a:avLst/>
          </a:prstGeom>
          <a:solidFill>
            <a:srgbClr val="FCFCFA"/>
          </a:solidFill>
          <a:ln w="9525">
            <a:solidFill>
              <a:srgbClr val="2F6F62"/>
            </a:solidFill>
            <a:prstDash val="solid"/>
          </a:ln>
        </p:spPr>
      </p:sp>
      <p:sp>
        <p:nvSpPr>
          <p:cNvPr id="9" name="text-143"/>
          <p:cNvSpPr txBox="1"/>
          <p:nvPr/>
        </p:nvSpPr>
        <p:spPr>
          <a:xfrm>
            <a:off x="3429000" y="1691640"/>
            <a:ext cx="1097280" cy="64008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understand</a:t>
            </a:r>
            <a:endParaRPr lang="en-US" sz="1100" dirty="0"/>
          </a:p>
        </p:txBody>
      </p:sp>
      <p:sp>
        <p:nvSpPr>
          <p:cNvPr id="10" name="chev-144"/>
          <p:cNvSpPr/>
          <p:nvPr/>
        </p:nvSpPr>
        <p:spPr>
          <a:xfrm>
            <a:off x="4800600" y="1691640"/>
            <a:ext cx="1371600" cy="640080"/>
          </a:xfrm>
          <a:prstGeom prst="homePlate">
            <a:avLst/>
          </a:prstGeom>
          <a:solidFill>
            <a:srgbClr val="FCFCFA"/>
          </a:solidFill>
          <a:ln w="9525">
            <a:solidFill>
              <a:srgbClr val="2F6F62"/>
            </a:solidFill>
            <a:prstDash val="solid"/>
          </a:ln>
        </p:spPr>
      </p:sp>
      <p:sp>
        <p:nvSpPr>
          <p:cNvPr id="11" name="text-145"/>
          <p:cNvSpPr txBox="1"/>
          <p:nvPr/>
        </p:nvSpPr>
        <p:spPr>
          <a:xfrm>
            <a:off x="4846320" y="1691640"/>
            <a:ext cx="1097280" cy="640080"/>
          </a:xfrm>
          <a:prstGeom prst="rect">
            <a:avLst/>
          </a:prstGeom>
          <a:noFill/>
          <a:ln/>
        </p:spPr>
        <p:txBody>
          <a:bodyPr wrap="square" lIns="0" tIns="0" rIns="0" bIns="0"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clean_plan</a:t>
            </a:r>
            <a:endParaRPr lang="en-US" sz="1100" dirty="0"/>
          </a:p>
        </p:txBody>
      </p:sp>
      <p:sp>
        <p:nvSpPr>
          <p:cNvPr id="12" name="gate"/>
          <p:cNvSpPr/>
          <p:nvPr/>
        </p:nvSpPr>
        <p:spPr>
          <a:xfrm>
            <a:off x="6400800" y="1463040"/>
            <a:ext cx="1143000" cy="1097280"/>
          </a:xfrm>
          <a:prstGeom prst="diamond">
            <a:avLst/>
          </a:prstGeom>
          <a:solidFill>
            <a:srgbClr val="86621F"/>
          </a:solidFill>
          <a:ln w="12700">
            <a:solidFill>
              <a:srgbClr val="86621F"/>
            </a:solidFill>
            <a:prstDash val="solid"/>
          </a:ln>
        </p:spPr>
      </p:sp>
      <p:sp>
        <p:nvSpPr>
          <p:cNvPr id="13" name="text-146"/>
          <p:cNvSpPr txBox="1"/>
          <p:nvPr/>
        </p:nvSpPr>
        <p:spPr>
          <a:xfrm>
            <a:off x="6400800" y="1463040"/>
            <a:ext cx="1143000" cy="1097280"/>
          </a:xfrm>
          <a:prstGeom prst="rect">
            <a:avLst/>
          </a:prstGeom>
          <a:noFill/>
          <a:ln/>
        </p:spPr>
        <p:txBody>
          <a:bodyPr wrap="square" lIns="0" tIns="0" rIns="0" bIns="0" rtlCol="0" anchor="ctr"/>
          <a:lstStyle/>
          <a:p>
            <a:pPr algn="ctr" indent="0" marL="0">
              <a:buNone/>
            </a:pPr>
            <a:r>
              <a:rPr lang="en-US" sz="1100" b="1" dirty="0">
                <a:solidFill>
                  <a:schemeClr val="bg1"/>
                </a:solidFill>
              </a:rPr>
              <a:t>review gate</a:t>
            </a:r>
            <a:endParaRPr lang="en-US" sz="1100" dirty="0"/>
          </a:p>
        </p:txBody>
      </p:sp>
      <p:sp>
        <p:nvSpPr>
          <p:cNvPr id="14" name="text-147"/>
          <p:cNvSpPr txBox="1"/>
          <p:nvPr/>
        </p:nvSpPr>
        <p:spPr>
          <a:xfrm>
            <a:off x="7680960" y="1691640"/>
            <a:ext cx="3840480" cy="640080"/>
          </a:xfrm>
          <a:prstGeom prst="rect">
            <a:avLst/>
          </a:prstGeom>
          <a:noFill/>
          <a:ln/>
        </p:spPr>
        <p:txBody>
          <a:bodyPr wrap="square" lIns="0" tIns="0" rIns="0" bIns="0" rtlCol="0" anchor="ctr"/>
          <a:lstStyle/>
          <a:p>
            <a:pPr indent="0" marL="0">
              <a:buNone/>
            </a:pPr>
            <a:r>
              <a:rPr lang="en-US" sz="1200" dirty="0">
                <a:solidFill>
                  <a:schemeClr val="accent5"/>
                </a:solidFill>
              </a:rPr>
              <a:t>automatic: pass through</a:t>
            </a:r>
            <a:endParaRPr lang="en-US" sz="1200" dirty="0"/>
          </a:p>
          <a:p>
            <a:pPr indent="0" marL="0">
              <a:buNone/>
            </a:pPr>
            <a:r>
              <a:rPr lang="en-US" sz="1200" dirty="0">
                <a:solidFill>
                  <a:schemeClr val="accent5"/>
                </a:solidFill>
              </a:rPr>
              <a:t>manual: wait for approval</a:t>
            </a:r>
            <a:endParaRPr lang="en-US" sz="1200" dirty="0"/>
          </a:p>
        </p:txBody>
      </p:sp>
      <p:sp>
        <p:nvSpPr>
          <p:cNvPr id="15" name="text-148"/>
          <p:cNvSpPr txBox="1"/>
          <p:nvPr/>
        </p:nvSpPr>
        <p:spPr>
          <a:xfrm>
            <a:off x="548640" y="2788920"/>
            <a:ext cx="457200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PHASE B · clean, test, explain</a:t>
            </a:r>
            <a:endParaRPr lang="en-US" sz="1200" dirty="0"/>
          </a:p>
        </p:txBody>
      </p:sp>
      <p:sp>
        <p:nvSpPr>
          <p:cNvPr id="16" name="chev-149"/>
          <p:cNvSpPr/>
          <p:nvPr/>
        </p:nvSpPr>
        <p:spPr>
          <a:xfrm>
            <a:off x="548640" y="3154680"/>
            <a:ext cx="1344168" cy="640080"/>
          </a:xfrm>
          <a:prstGeom prst="homePlate">
            <a:avLst/>
          </a:prstGeom>
          <a:solidFill>
            <a:srgbClr val="FCFCFA"/>
          </a:solidFill>
          <a:ln w="9525">
            <a:solidFill>
              <a:srgbClr val="2F6F62"/>
            </a:solidFill>
            <a:prstDash val="solid"/>
          </a:ln>
        </p:spPr>
      </p:sp>
      <p:sp>
        <p:nvSpPr>
          <p:cNvPr id="17" name="text-150"/>
          <p:cNvSpPr txBox="1"/>
          <p:nvPr/>
        </p:nvSpPr>
        <p:spPr>
          <a:xfrm>
            <a:off x="585216"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clean_apply</a:t>
            </a:r>
            <a:endParaRPr lang="en-US" sz="1000" dirty="0"/>
          </a:p>
        </p:txBody>
      </p:sp>
      <p:sp>
        <p:nvSpPr>
          <p:cNvPr id="18" name="chev-151"/>
          <p:cNvSpPr/>
          <p:nvPr/>
        </p:nvSpPr>
        <p:spPr>
          <a:xfrm>
            <a:off x="1938528" y="3154680"/>
            <a:ext cx="1344168" cy="640080"/>
          </a:xfrm>
          <a:prstGeom prst="homePlate">
            <a:avLst/>
          </a:prstGeom>
          <a:solidFill>
            <a:srgbClr val="FCFCFA"/>
          </a:solidFill>
          <a:ln w="9525">
            <a:solidFill>
              <a:srgbClr val="2F6F62"/>
            </a:solidFill>
            <a:prstDash val="solid"/>
          </a:ln>
        </p:spPr>
      </p:sp>
      <p:sp>
        <p:nvSpPr>
          <p:cNvPr id="19" name="text-152"/>
          <p:cNvSpPr txBox="1"/>
          <p:nvPr/>
        </p:nvSpPr>
        <p:spPr>
          <a:xfrm>
            <a:off x="1975104"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geo</a:t>
            </a:r>
            <a:endParaRPr lang="en-US" sz="1000" dirty="0"/>
          </a:p>
        </p:txBody>
      </p:sp>
      <p:sp>
        <p:nvSpPr>
          <p:cNvPr id="20" name="chev-153"/>
          <p:cNvSpPr/>
          <p:nvPr/>
        </p:nvSpPr>
        <p:spPr>
          <a:xfrm>
            <a:off x="3328416" y="3154680"/>
            <a:ext cx="1344168" cy="640080"/>
          </a:xfrm>
          <a:prstGeom prst="homePlate">
            <a:avLst/>
          </a:prstGeom>
          <a:solidFill>
            <a:srgbClr val="FCFCFA"/>
          </a:solidFill>
          <a:ln w="9525">
            <a:solidFill>
              <a:srgbClr val="2F6F62"/>
            </a:solidFill>
            <a:prstDash val="solid"/>
          </a:ln>
        </p:spPr>
      </p:sp>
      <p:sp>
        <p:nvSpPr>
          <p:cNvPr id="21" name="text-154"/>
          <p:cNvSpPr txBox="1"/>
          <p:nvPr/>
        </p:nvSpPr>
        <p:spPr>
          <a:xfrm>
            <a:off x="3364992"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features</a:t>
            </a:r>
            <a:endParaRPr lang="en-US" sz="1000" dirty="0"/>
          </a:p>
        </p:txBody>
      </p:sp>
      <p:sp>
        <p:nvSpPr>
          <p:cNvPr id="22" name="chev-155"/>
          <p:cNvSpPr/>
          <p:nvPr/>
        </p:nvSpPr>
        <p:spPr>
          <a:xfrm>
            <a:off x="4718304" y="3154680"/>
            <a:ext cx="1344168" cy="640080"/>
          </a:xfrm>
          <a:prstGeom prst="homePlate">
            <a:avLst/>
          </a:prstGeom>
          <a:solidFill>
            <a:srgbClr val="2F6F62"/>
          </a:solidFill>
          <a:ln w="9525">
            <a:solidFill>
              <a:srgbClr val="2F6F62"/>
            </a:solidFill>
            <a:prstDash val="solid"/>
          </a:ln>
        </p:spPr>
      </p:sp>
      <p:sp>
        <p:nvSpPr>
          <p:cNvPr id="23" name="text-156"/>
          <p:cNvSpPr txBox="1"/>
          <p:nvPr/>
        </p:nvSpPr>
        <p:spPr>
          <a:xfrm>
            <a:off x="4754880" y="3154680"/>
            <a:ext cx="1097280" cy="640080"/>
          </a:xfrm>
          <a:prstGeom prst="rect">
            <a:avLst/>
          </a:prstGeom>
          <a:noFill/>
          <a:ln/>
        </p:spPr>
        <p:txBody>
          <a:bodyPr wrap="square" lIns="0" tIns="0" rIns="0" bIns="0" rtlCol="0" anchor="ctr"/>
          <a:lstStyle/>
          <a:p>
            <a:pPr algn="ctr" indent="0" marL="0">
              <a:buNone/>
            </a:pPr>
            <a:r>
              <a:rPr lang="en-US" sz="1000" dirty="0">
                <a:solidFill>
                  <a:schemeClr val="bg1"/>
                </a:solidFill>
                <a:latin typeface="Courier New" pitchFamily="34" charset="0"/>
                <a:ea typeface="Courier New" pitchFamily="34" charset="-122"/>
                <a:cs typeface="Courier New" pitchFamily="34" charset="-120"/>
              </a:rPr>
              <a:t>mine</a:t>
            </a:r>
            <a:endParaRPr lang="en-US" sz="1000" dirty="0"/>
          </a:p>
        </p:txBody>
      </p:sp>
      <p:sp>
        <p:nvSpPr>
          <p:cNvPr id="24" name="chev-157"/>
          <p:cNvSpPr/>
          <p:nvPr/>
        </p:nvSpPr>
        <p:spPr>
          <a:xfrm>
            <a:off x="6108192" y="3154680"/>
            <a:ext cx="1344168" cy="640080"/>
          </a:xfrm>
          <a:prstGeom prst="homePlate">
            <a:avLst/>
          </a:prstGeom>
          <a:solidFill>
            <a:srgbClr val="FCFCFA"/>
          </a:solidFill>
          <a:ln w="9525">
            <a:solidFill>
              <a:srgbClr val="2F6F62"/>
            </a:solidFill>
            <a:prstDash val="solid"/>
          </a:ln>
        </p:spPr>
      </p:sp>
      <p:sp>
        <p:nvSpPr>
          <p:cNvPr id="25" name="text-158"/>
          <p:cNvSpPr txBox="1"/>
          <p:nvPr/>
        </p:nvSpPr>
        <p:spPr>
          <a:xfrm>
            <a:off x="6144768"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sensitivity</a:t>
            </a:r>
            <a:endParaRPr lang="en-US" sz="1000" dirty="0"/>
          </a:p>
        </p:txBody>
      </p:sp>
      <p:sp>
        <p:nvSpPr>
          <p:cNvPr id="26" name="chev-159"/>
          <p:cNvSpPr/>
          <p:nvPr/>
        </p:nvSpPr>
        <p:spPr>
          <a:xfrm>
            <a:off x="7498080" y="3154680"/>
            <a:ext cx="1344168" cy="640080"/>
          </a:xfrm>
          <a:prstGeom prst="homePlate">
            <a:avLst/>
          </a:prstGeom>
          <a:solidFill>
            <a:srgbClr val="FCFCFA"/>
          </a:solidFill>
          <a:ln w="9525">
            <a:solidFill>
              <a:srgbClr val="2F6F62"/>
            </a:solidFill>
            <a:prstDash val="solid"/>
          </a:ln>
        </p:spPr>
      </p:sp>
      <p:sp>
        <p:nvSpPr>
          <p:cNvPr id="27" name="text-160"/>
          <p:cNvSpPr txBox="1"/>
          <p:nvPr/>
        </p:nvSpPr>
        <p:spPr>
          <a:xfrm>
            <a:off x="7534656"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rank</a:t>
            </a:r>
            <a:endParaRPr lang="en-US" sz="1000" dirty="0"/>
          </a:p>
        </p:txBody>
      </p:sp>
      <p:sp>
        <p:nvSpPr>
          <p:cNvPr id="28" name="chev-161"/>
          <p:cNvSpPr/>
          <p:nvPr/>
        </p:nvSpPr>
        <p:spPr>
          <a:xfrm>
            <a:off x="8887968" y="3154680"/>
            <a:ext cx="1344168" cy="640080"/>
          </a:xfrm>
          <a:prstGeom prst="homePlate">
            <a:avLst/>
          </a:prstGeom>
          <a:solidFill>
            <a:srgbClr val="FCFCFA"/>
          </a:solidFill>
          <a:ln w="9525">
            <a:solidFill>
              <a:srgbClr val="2F6F62"/>
            </a:solidFill>
            <a:prstDash val="solid"/>
          </a:ln>
        </p:spPr>
      </p:sp>
      <p:sp>
        <p:nvSpPr>
          <p:cNvPr id="29" name="text-162"/>
          <p:cNvSpPr txBox="1"/>
          <p:nvPr/>
        </p:nvSpPr>
        <p:spPr>
          <a:xfrm>
            <a:off x="8924544"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visualize</a:t>
            </a:r>
            <a:endParaRPr lang="en-US" sz="1000" dirty="0"/>
          </a:p>
        </p:txBody>
      </p:sp>
      <p:sp>
        <p:nvSpPr>
          <p:cNvPr id="30" name="chev-163"/>
          <p:cNvSpPr/>
          <p:nvPr/>
        </p:nvSpPr>
        <p:spPr>
          <a:xfrm>
            <a:off x="10277856" y="3154680"/>
            <a:ext cx="1344168" cy="640080"/>
          </a:xfrm>
          <a:prstGeom prst="homePlate">
            <a:avLst/>
          </a:prstGeom>
          <a:solidFill>
            <a:srgbClr val="FCFCFA"/>
          </a:solidFill>
          <a:ln w="9525">
            <a:solidFill>
              <a:srgbClr val="2F6F62"/>
            </a:solidFill>
            <a:prstDash val="solid"/>
          </a:ln>
        </p:spPr>
      </p:sp>
      <p:sp>
        <p:nvSpPr>
          <p:cNvPr id="31" name="text-164"/>
          <p:cNvSpPr txBox="1"/>
          <p:nvPr/>
        </p:nvSpPr>
        <p:spPr>
          <a:xfrm>
            <a:off x="10314432" y="3154680"/>
            <a:ext cx="1097280" cy="640080"/>
          </a:xfrm>
          <a:prstGeom prst="rect">
            <a:avLst/>
          </a:prstGeom>
          <a:noFill/>
          <a:ln/>
        </p:spPr>
        <p:txBody>
          <a:bodyPr wrap="square" lIns="0" tIns="0" rIns="0" bIns="0" rtlCol="0" anchor="ctr"/>
          <a:lstStyle/>
          <a:p>
            <a:pPr algn="ctr" indent="0" marL="0">
              <a:buNone/>
            </a:pPr>
            <a:r>
              <a:rPr lang="en-US" sz="1000" dirty="0">
                <a:solidFill>
                  <a:schemeClr val="tx1"/>
                </a:solidFill>
                <a:latin typeface="Courier New" pitchFamily="34" charset="0"/>
                <a:ea typeface="Courier New" pitchFamily="34" charset="-122"/>
                <a:cs typeface="Courier New" pitchFamily="34" charset="-120"/>
              </a:rPr>
              <a:t>report</a:t>
            </a:r>
            <a:endParaRPr lang="en-US" sz="1000" dirty="0"/>
          </a:p>
        </p:txBody>
      </p:sp>
      <p:sp>
        <p:nvSpPr>
          <p:cNvPr id="32" name="text-165"/>
          <p:cNvSpPr txBox="1"/>
          <p:nvPr/>
        </p:nvSpPr>
        <p:spPr>
          <a:xfrm>
            <a:off x="548640" y="4160520"/>
            <a:ext cx="2011680" cy="34747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understand</a:t>
            </a:r>
            <a:endParaRPr lang="en-US" sz="1200" dirty="0"/>
          </a:p>
        </p:txBody>
      </p:sp>
      <p:sp>
        <p:nvSpPr>
          <p:cNvPr id="33" name="text-166"/>
          <p:cNvSpPr txBox="1"/>
          <p:nvPr/>
        </p:nvSpPr>
        <p:spPr>
          <a:xfrm>
            <a:off x="2651760" y="4160520"/>
            <a:ext cx="8961120" cy="347472"/>
          </a:xfrm>
          <a:prstGeom prst="rect">
            <a:avLst/>
          </a:prstGeom>
          <a:noFill/>
          <a:ln/>
        </p:spPr>
        <p:txBody>
          <a:bodyPr wrap="square" lIns="0" tIns="0" rIns="0" bIns="0" rtlCol="0" anchor="t"/>
          <a:lstStyle/>
          <a:p>
            <a:pPr indent="0" marL="0">
              <a:buNone/>
            </a:pPr>
            <a:r>
              <a:rPr lang="en-US" sz="1400" dirty="0">
                <a:solidFill>
                  <a:schemeClr val="tx1"/>
                </a:solidFill>
              </a:rPr>
              <a:t>A rules planner (or a model, validated item by item) decides which questions to ask</a:t>
            </a:r>
            <a:endParaRPr lang="en-US" sz="1400" dirty="0"/>
          </a:p>
        </p:txBody>
      </p:sp>
      <p:sp>
        <p:nvSpPr>
          <p:cNvPr id="34" name="text-167"/>
          <p:cNvSpPr txBox="1"/>
          <p:nvPr/>
        </p:nvSpPr>
        <p:spPr>
          <a:xfrm>
            <a:off x="548640" y="4544568"/>
            <a:ext cx="2011680" cy="34747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features</a:t>
            </a:r>
            <a:endParaRPr lang="en-US" sz="1200" dirty="0"/>
          </a:p>
        </p:txBody>
      </p:sp>
      <p:sp>
        <p:nvSpPr>
          <p:cNvPr id="35" name="text-168"/>
          <p:cNvSpPr txBox="1"/>
          <p:nvPr/>
        </p:nvSpPr>
        <p:spPr>
          <a:xfrm>
            <a:off x="2651760" y="4544568"/>
            <a:ext cx="8961120" cy="347472"/>
          </a:xfrm>
          <a:prstGeom prst="rect">
            <a:avLst/>
          </a:prstGeom>
          <a:noFill/>
          <a:ln/>
        </p:spPr>
        <p:txBody>
          <a:bodyPr wrap="square" lIns="0" tIns="0" rIns="0" bIns="0" rtlCol="0" anchor="t"/>
          <a:lstStyle/>
          <a:p>
            <a:pPr indent="0" marL="0">
              <a:buNone/>
            </a:pPr>
            <a:r>
              <a:rPr lang="en-US" sz="1400" dirty="0">
                <a:solidFill>
                  <a:schemeClr val="tx1"/>
                </a:solidFill>
              </a:rPr>
              <a:t>A derived measure is kept only if it beats 19 random shuffles</a:t>
            </a:r>
            <a:endParaRPr lang="en-US" sz="1400" dirty="0"/>
          </a:p>
        </p:txBody>
      </p:sp>
      <p:sp>
        <p:nvSpPr>
          <p:cNvPr id="36" name="text-169"/>
          <p:cNvSpPr txBox="1"/>
          <p:nvPr/>
        </p:nvSpPr>
        <p:spPr>
          <a:xfrm>
            <a:off x="548640" y="4928616"/>
            <a:ext cx="2011680" cy="34747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mine</a:t>
            </a:r>
            <a:endParaRPr lang="en-US" sz="1200" dirty="0"/>
          </a:p>
        </p:txBody>
      </p:sp>
      <p:sp>
        <p:nvSpPr>
          <p:cNvPr id="37" name="text-170"/>
          <p:cNvSpPr txBox="1"/>
          <p:nvPr/>
        </p:nvSpPr>
        <p:spPr>
          <a:xfrm>
            <a:off x="2651760" y="4928616"/>
            <a:ext cx="8961120" cy="347472"/>
          </a:xfrm>
          <a:prstGeom prst="rect">
            <a:avLst/>
          </a:prstGeom>
          <a:noFill/>
          <a:ln/>
        </p:spPr>
        <p:txBody>
          <a:bodyPr wrap="square" lIns="0" tIns="0" rIns="0" bIns="0" rtlCol="0" anchor="t"/>
          <a:lstStyle/>
          <a:p>
            <a:pPr indent="0" marL="0">
              <a:buNone/>
            </a:pPr>
            <a:r>
              <a:rPr lang="en-US" sz="1400" dirty="0">
                <a:solidFill>
                  <a:schemeClr val="tx1"/>
                </a:solidFill>
              </a:rPr>
              <a:t>Nine miners test the questions; false discoveries controlled at 5% across the run</a:t>
            </a:r>
            <a:endParaRPr lang="en-US" sz="1400" dirty="0"/>
          </a:p>
        </p:txBody>
      </p:sp>
      <p:sp>
        <p:nvSpPr>
          <p:cNvPr id="38" name="text-171"/>
          <p:cNvSpPr txBox="1"/>
          <p:nvPr/>
        </p:nvSpPr>
        <p:spPr>
          <a:xfrm>
            <a:off x="548640" y="5312664"/>
            <a:ext cx="2011680" cy="34747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sensitivity</a:t>
            </a:r>
            <a:endParaRPr lang="en-US" sz="1200" dirty="0"/>
          </a:p>
        </p:txBody>
      </p:sp>
      <p:sp>
        <p:nvSpPr>
          <p:cNvPr id="39" name="text-172"/>
          <p:cNvSpPr txBox="1"/>
          <p:nvPr/>
        </p:nvSpPr>
        <p:spPr>
          <a:xfrm>
            <a:off x="2651760" y="5312664"/>
            <a:ext cx="8961120" cy="347472"/>
          </a:xfrm>
          <a:prstGeom prst="rect">
            <a:avLst/>
          </a:prstGeom>
          <a:noFill/>
          <a:ln/>
        </p:spPr>
        <p:txBody>
          <a:bodyPr wrap="square" lIns="0" tIns="0" rIns="0" bIns="0" rtlCol="0" anchor="t"/>
          <a:lstStyle/>
          <a:p>
            <a:pPr indent="0" marL="0">
              <a:buNone/>
            </a:pPr>
            <a:r>
              <a:rPr lang="en-US" sz="1400" dirty="0">
                <a:solidFill>
                  <a:schemeClr val="tx1"/>
                </a:solidFill>
              </a:rPr>
              <a:t>The top ten findings are re-tested on lossless-only data</a:t>
            </a:r>
            <a:endParaRPr lang="en-US" sz="1400" dirty="0"/>
          </a:p>
        </p:txBody>
      </p:sp>
      <p:sp>
        <p:nvSpPr>
          <p:cNvPr id="40" name="text-173"/>
          <p:cNvSpPr txBox="1"/>
          <p:nvPr/>
        </p:nvSpPr>
        <p:spPr>
          <a:xfrm>
            <a:off x="548640" y="5696712"/>
            <a:ext cx="2011680" cy="347472"/>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visualize · report</a:t>
            </a:r>
            <a:endParaRPr lang="en-US" sz="1200" dirty="0"/>
          </a:p>
        </p:txBody>
      </p:sp>
      <p:sp>
        <p:nvSpPr>
          <p:cNvPr id="41" name="text-174"/>
          <p:cNvSpPr txBox="1"/>
          <p:nvPr/>
        </p:nvSpPr>
        <p:spPr>
          <a:xfrm>
            <a:off x="2651760" y="5696712"/>
            <a:ext cx="8961120" cy="347472"/>
          </a:xfrm>
          <a:prstGeom prst="rect">
            <a:avLst/>
          </a:prstGeom>
          <a:noFill/>
          <a:ln/>
        </p:spPr>
        <p:txBody>
          <a:bodyPr wrap="square" lIns="0" tIns="0" rIns="0" bIns="0" rtlCol="0" anchor="t"/>
          <a:lstStyle/>
          <a:p>
            <a:pPr indent="0" marL="0">
              <a:buNone/>
            </a:pPr>
            <a:r>
              <a:rPr lang="en-US" sz="1400" dirty="0">
                <a:solidFill>
                  <a:schemeClr val="tx1"/>
                </a:solidFill>
              </a:rPr>
              <a:t>Charts recomputed; sentences narrated from facts and verified</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Numbers come from facts, never from the model</a:t>
            </a:r>
            <a:endParaRPr lang="en-US" sz="3000" dirty="0"/>
          </a:p>
        </p:txBody>
      </p:sp>
      <p:sp>
        <p:nvSpPr>
          <p:cNvPr id="3" name="card-175"/>
          <p:cNvSpPr/>
          <p:nvPr/>
        </p:nvSpPr>
        <p:spPr>
          <a:xfrm>
            <a:off x="548640" y="1325880"/>
            <a:ext cx="2633472" cy="2514600"/>
          </a:xfrm>
          <a:prstGeom prst="roundRect">
            <a:avLst>
              <a:gd name="adj" fmla="val 3636"/>
            </a:avLst>
          </a:prstGeom>
          <a:solidFill>
            <a:schemeClr val="bg1"/>
          </a:solidFill>
          <a:ln w="9525">
            <a:solidFill>
              <a:srgbClr val="DEDCD6"/>
            </a:solidFill>
            <a:prstDash val="solid"/>
          </a:ln>
        </p:spPr>
      </p:sp>
      <p:sp>
        <p:nvSpPr>
          <p:cNvPr id="4" name="num-176"/>
          <p:cNvSpPr/>
          <p:nvPr/>
        </p:nvSpPr>
        <p:spPr>
          <a:xfrm>
            <a:off x="777240" y="1554480"/>
            <a:ext cx="457200" cy="457200"/>
          </a:xfrm>
          <a:prstGeom prst="ellipse">
            <a:avLst/>
          </a:prstGeom>
          <a:solidFill>
            <a:srgbClr val="2F6F62"/>
          </a:solidFill>
          <a:ln w="12700">
            <a:solidFill>
              <a:srgbClr val="2F6F62"/>
            </a:solidFill>
            <a:prstDash val="solid"/>
          </a:ln>
        </p:spPr>
      </p:sp>
      <p:sp>
        <p:nvSpPr>
          <p:cNvPr id="5" name="text-177"/>
          <p:cNvSpPr txBox="1"/>
          <p:nvPr/>
        </p:nvSpPr>
        <p:spPr>
          <a:xfrm>
            <a:off x="77724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6" name="text-178"/>
          <p:cNvSpPr txBox="1"/>
          <p:nvPr/>
        </p:nvSpPr>
        <p:spPr>
          <a:xfrm>
            <a:off x="777240" y="214884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Fact stored</a:t>
            </a:r>
            <a:endParaRPr lang="en-US" sz="1700" dirty="0"/>
          </a:p>
        </p:txBody>
      </p:sp>
      <p:sp>
        <p:nvSpPr>
          <p:cNvPr id="7" name="text-179"/>
          <p:cNvSpPr txBox="1"/>
          <p:nvPr/>
        </p:nvSpPr>
        <p:spPr>
          <a:xfrm>
            <a:off x="777240" y="2606040"/>
            <a:ext cx="2240280" cy="1188720"/>
          </a:xfrm>
          <a:prstGeom prst="rect">
            <a:avLst/>
          </a:prstGeom>
          <a:noFill/>
          <a:ln/>
        </p:spPr>
        <p:txBody>
          <a:bodyPr wrap="square" lIns="0" tIns="0" rIns="0" bIns="0" rtlCol="0" anchor="t"/>
          <a:lstStyle/>
          <a:p>
            <a:pPr indent="0" marL="0">
              <a:buNone/>
            </a:pPr>
            <a:r>
              <a:rPr lang="en-US" sz="1300" dirty="0">
                <a:solidFill>
                  <a:schemeClr val="accent5"/>
                </a:solidFill>
              </a:rPr>
              <a:t>The engine stores each finding: numbers, test, interval, p and q, provenance, content hash. Append-only.</a:t>
            </a:r>
            <a:endParaRPr lang="en-US" sz="1300" dirty="0"/>
          </a:p>
        </p:txBody>
      </p:sp>
      <p:sp>
        <p:nvSpPr>
          <p:cNvPr id="8" name="text-180"/>
          <p:cNvSpPr txBox="1"/>
          <p:nvPr/>
        </p:nvSpPr>
        <p:spPr>
          <a:xfrm>
            <a:off x="3182112" y="2331720"/>
            <a:ext cx="182880" cy="365760"/>
          </a:xfrm>
          <a:prstGeom prst="rect">
            <a:avLst/>
          </a:prstGeom>
          <a:noFill/>
          <a:ln/>
        </p:spPr>
        <p:txBody>
          <a:bodyPr wrap="square" lIns="0" tIns="0" rIns="0" bIns="0" rtlCol="0" anchor="t"/>
          <a:lstStyle/>
          <a:p>
            <a:pPr algn="ctr" indent="0" marL="0">
              <a:buNone/>
            </a:pPr>
            <a:r>
              <a:rPr lang="en-US" sz="1600" dirty="0">
                <a:solidFill>
                  <a:schemeClr val="accent5"/>
                </a:solidFill>
              </a:rPr>
              <a:t>→</a:t>
            </a:r>
            <a:endParaRPr lang="en-US" sz="1600" dirty="0"/>
          </a:p>
        </p:txBody>
      </p:sp>
      <p:sp>
        <p:nvSpPr>
          <p:cNvPr id="9" name="card-181"/>
          <p:cNvSpPr/>
          <p:nvPr/>
        </p:nvSpPr>
        <p:spPr>
          <a:xfrm>
            <a:off x="3364992" y="1325880"/>
            <a:ext cx="2633472" cy="2514600"/>
          </a:xfrm>
          <a:prstGeom prst="roundRect">
            <a:avLst>
              <a:gd name="adj" fmla="val 3636"/>
            </a:avLst>
          </a:prstGeom>
          <a:solidFill>
            <a:schemeClr val="bg1"/>
          </a:solidFill>
          <a:ln w="9525">
            <a:solidFill>
              <a:srgbClr val="DEDCD6"/>
            </a:solidFill>
            <a:prstDash val="solid"/>
          </a:ln>
        </p:spPr>
      </p:sp>
      <p:sp>
        <p:nvSpPr>
          <p:cNvPr id="10" name="num-182"/>
          <p:cNvSpPr/>
          <p:nvPr/>
        </p:nvSpPr>
        <p:spPr>
          <a:xfrm>
            <a:off x="3593592" y="1554480"/>
            <a:ext cx="457200" cy="457200"/>
          </a:xfrm>
          <a:prstGeom prst="ellipse">
            <a:avLst/>
          </a:prstGeom>
          <a:solidFill>
            <a:srgbClr val="2F6F62"/>
          </a:solidFill>
          <a:ln w="12700">
            <a:solidFill>
              <a:srgbClr val="2F6F62"/>
            </a:solidFill>
            <a:prstDash val="solid"/>
          </a:ln>
        </p:spPr>
      </p:sp>
      <p:sp>
        <p:nvSpPr>
          <p:cNvPr id="11" name="text-183"/>
          <p:cNvSpPr txBox="1"/>
          <p:nvPr/>
        </p:nvSpPr>
        <p:spPr>
          <a:xfrm>
            <a:off x="3593592"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2" name="text-184"/>
          <p:cNvSpPr txBox="1"/>
          <p:nvPr/>
        </p:nvSpPr>
        <p:spPr>
          <a:xfrm>
            <a:off x="3593592" y="214884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Slots, not numbers</a:t>
            </a:r>
            <a:endParaRPr lang="en-US" sz="1700" dirty="0"/>
          </a:p>
        </p:txBody>
      </p:sp>
      <p:sp>
        <p:nvSpPr>
          <p:cNvPr id="13" name="text-185"/>
          <p:cNvSpPr txBox="1"/>
          <p:nvPr/>
        </p:nvSpPr>
        <p:spPr>
          <a:xfrm>
            <a:off x="3593592" y="2606040"/>
            <a:ext cx="2240280" cy="1188720"/>
          </a:xfrm>
          <a:prstGeom prst="rect">
            <a:avLst/>
          </a:prstGeom>
          <a:noFill/>
          <a:ln/>
        </p:spPr>
        <p:txBody>
          <a:bodyPr wrap="square" lIns="0" tIns="0" rIns="0" bIns="0" rtlCol="0" anchor="t"/>
          <a:lstStyle/>
          <a:p>
            <a:pPr indent="0" marL="0">
              <a:buNone/>
            </a:pPr>
            <a:r>
              <a:rPr lang="en-US" sz="1300" dirty="0">
                <a:solidFill>
                  <a:schemeClr val="accent5"/>
                </a:solidFill>
              </a:rPr>
              <a:t>A model (or a template) writes the sentence with numeric slots such as {F3.1}.</a:t>
            </a:r>
            <a:endParaRPr lang="en-US" sz="1300" dirty="0"/>
          </a:p>
        </p:txBody>
      </p:sp>
      <p:sp>
        <p:nvSpPr>
          <p:cNvPr id="14" name="text-186"/>
          <p:cNvSpPr txBox="1"/>
          <p:nvPr/>
        </p:nvSpPr>
        <p:spPr>
          <a:xfrm>
            <a:off x="5998464" y="2331720"/>
            <a:ext cx="182880" cy="365760"/>
          </a:xfrm>
          <a:prstGeom prst="rect">
            <a:avLst/>
          </a:prstGeom>
          <a:noFill/>
          <a:ln/>
        </p:spPr>
        <p:txBody>
          <a:bodyPr wrap="square" lIns="0" tIns="0" rIns="0" bIns="0" rtlCol="0" anchor="t"/>
          <a:lstStyle/>
          <a:p>
            <a:pPr algn="ctr" indent="0" marL="0">
              <a:buNone/>
            </a:pPr>
            <a:r>
              <a:rPr lang="en-US" sz="1600" dirty="0">
                <a:solidFill>
                  <a:schemeClr val="accent5"/>
                </a:solidFill>
              </a:rPr>
              <a:t>→</a:t>
            </a:r>
            <a:endParaRPr lang="en-US" sz="1600" dirty="0"/>
          </a:p>
        </p:txBody>
      </p:sp>
      <p:sp>
        <p:nvSpPr>
          <p:cNvPr id="15" name="card-187"/>
          <p:cNvSpPr/>
          <p:nvPr/>
        </p:nvSpPr>
        <p:spPr>
          <a:xfrm>
            <a:off x="6181344" y="1325880"/>
            <a:ext cx="2633472" cy="2514600"/>
          </a:xfrm>
          <a:prstGeom prst="roundRect">
            <a:avLst>
              <a:gd name="adj" fmla="val 3636"/>
            </a:avLst>
          </a:prstGeom>
          <a:solidFill>
            <a:schemeClr val="bg1"/>
          </a:solidFill>
          <a:ln w="9525">
            <a:solidFill>
              <a:srgbClr val="DEDCD6"/>
            </a:solidFill>
            <a:prstDash val="solid"/>
          </a:ln>
        </p:spPr>
      </p:sp>
      <p:sp>
        <p:nvSpPr>
          <p:cNvPr id="16" name="num-188"/>
          <p:cNvSpPr/>
          <p:nvPr/>
        </p:nvSpPr>
        <p:spPr>
          <a:xfrm>
            <a:off x="6409944" y="1554480"/>
            <a:ext cx="457200" cy="457200"/>
          </a:xfrm>
          <a:prstGeom prst="ellipse">
            <a:avLst/>
          </a:prstGeom>
          <a:solidFill>
            <a:srgbClr val="2F6F62"/>
          </a:solidFill>
          <a:ln w="12700">
            <a:solidFill>
              <a:srgbClr val="2F6F62"/>
            </a:solidFill>
            <a:prstDash val="solid"/>
          </a:ln>
        </p:spPr>
      </p:sp>
      <p:sp>
        <p:nvSpPr>
          <p:cNvPr id="17" name="text-189"/>
          <p:cNvSpPr txBox="1"/>
          <p:nvPr/>
        </p:nvSpPr>
        <p:spPr>
          <a:xfrm>
            <a:off x="6409944"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18" name="text-190"/>
          <p:cNvSpPr txBox="1"/>
          <p:nvPr/>
        </p:nvSpPr>
        <p:spPr>
          <a:xfrm>
            <a:off x="6409944" y="214884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Engine fills</a:t>
            </a:r>
            <a:endParaRPr lang="en-US" sz="1700" dirty="0"/>
          </a:p>
        </p:txBody>
      </p:sp>
      <p:sp>
        <p:nvSpPr>
          <p:cNvPr id="19" name="text-191"/>
          <p:cNvSpPr txBox="1"/>
          <p:nvPr/>
        </p:nvSpPr>
        <p:spPr>
          <a:xfrm>
            <a:off x="6409944" y="2606040"/>
            <a:ext cx="2240280" cy="1188720"/>
          </a:xfrm>
          <a:prstGeom prst="rect">
            <a:avLst/>
          </a:prstGeom>
          <a:noFill/>
          <a:ln/>
        </p:spPr>
        <p:txBody>
          <a:bodyPr wrap="square" lIns="0" tIns="0" rIns="0" bIns="0" rtlCol="0" anchor="t"/>
          <a:lstStyle/>
          <a:p>
            <a:pPr indent="0" marL="0">
              <a:buNone/>
            </a:pPr>
            <a:r>
              <a:rPr lang="en-US" sz="1300" dirty="0">
                <a:solidFill>
                  <a:schemeClr val="accent5"/>
                </a:solidFill>
              </a:rPr>
              <a:t>Numbers are copied from the fact, never from model text.</a:t>
            </a:r>
            <a:endParaRPr lang="en-US" sz="1300" dirty="0"/>
          </a:p>
        </p:txBody>
      </p:sp>
      <p:sp>
        <p:nvSpPr>
          <p:cNvPr id="20" name="text-192"/>
          <p:cNvSpPr txBox="1"/>
          <p:nvPr/>
        </p:nvSpPr>
        <p:spPr>
          <a:xfrm>
            <a:off x="8814816" y="2331720"/>
            <a:ext cx="182880" cy="365760"/>
          </a:xfrm>
          <a:prstGeom prst="rect">
            <a:avLst/>
          </a:prstGeom>
          <a:noFill/>
          <a:ln/>
        </p:spPr>
        <p:txBody>
          <a:bodyPr wrap="square" lIns="0" tIns="0" rIns="0" bIns="0" rtlCol="0" anchor="t"/>
          <a:lstStyle/>
          <a:p>
            <a:pPr algn="ctr" indent="0" marL="0">
              <a:buNone/>
            </a:pPr>
            <a:r>
              <a:rPr lang="en-US" sz="1600" dirty="0">
                <a:solidFill>
                  <a:schemeClr val="accent5"/>
                </a:solidFill>
              </a:rPr>
              <a:t>→</a:t>
            </a:r>
            <a:endParaRPr lang="en-US" sz="1600" dirty="0"/>
          </a:p>
        </p:txBody>
      </p:sp>
      <p:sp>
        <p:nvSpPr>
          <p:cNvPr id="21" name="card-193"/>
          <p:cNvSpPr/>
          <p:nvPr/>
        </p:nvSpPr>
        <p:spPr>
          <a:xfrm>
            <a:off x="8997696" y="1325880"/>
            <a:ext cx="2633472" cy="2514600"/>
          </a:xfrm>
          <a:prstGeom prst="roundRect">
            <a:avLst>
              <a:gd name="adj" fmla="val 3636"/>
            </a:avLst>
          </a:prstGeom>
          <a:solidFill>
            <a:schemeClr val="bg1"/>
          </a:solidFill>
          <a:ln w="9525">
            <a:solidFill>
              <a:srgbClr val="DEDCD6"/>
            </a:solidFill>
            <a:prstDash val="solid"/>
          </a:ln>
        </p:spPr>
      </p:sp>
      <p:sp>
        <p:nvSpPr>
          <p:cNvPr id="22" name="num-194"/>
          <p:cNvSpPr/>
          <p:nvPr/>
        </p:nvSpPr>
        <p:spPr>
          <a:xfrm>
            <a:off x="9226296" y="1554480"/>
            <a:ext cx="457200" cy="457200"/>
          </a:xfrm>
          <a:prstGeom prst="ellipse">
            <a:avLst/>
          </a:prstGeom>
          <a:solidFill>
            <a:srgbClr val="2F6F62"/>
          </a:solidFill>
          <a:ln w="12700">
            <a:solidFill>
              <a:srgbClr val="2F6F62"/>
            </a:solidFill>
            <a:prstDash val="solid"/>
          </a:ln>
        </p:spPr>
      </p:sp>
      <p:sp>
        <p:nvSpPr>
          <p:cNvPr id="23" name="text-195"/>
          <p:cNvSpPr txBox="1"/>
          <p:nvPr/>
        </p:nvSpPr>
        <p:spPr>
          <a:xfrm>
            <a:off x="9226296"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4</a:t>
            </a:r>
            <a:endParaRPr lang="en-US" sz="1600" dirty="0"/>
          </a:p>
        </p:txBody>
      </p:sp>
      <p:sp>
        <p:nvSpPr>
          <p:cNvPr id="24" name="text-196"/>
          <p:cNvSpPr txBox="1"/>
          <p:nvPr/>
        </p:nvSpPr>
        <p:spPr>
          <a:xfrm>
            <a:off x="9226296" y="2148840"/>
            <a:ext cx="224028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Verifier checks</a:t>
            </a:r>
            <a:endParaRPr lang="en-US" sz="1700" dirty="0"/>
          </a:p>
        </p:txBody>
      </p:sp>
      <p:sp>
        <p:nvSpPr>
          <p:cNvPr id="25" name="text-197"/>
          <p:cNvSpPr txBox="1"/>
          <p:nvPr/>
        </p:nvSpPr>
        <p:spPr>
          <a:xfrm>
            <a:off x="9226296" y="2606040"/>
            <a:ext cx="2240280" cy="1188720"/>
          </a:xfrm>
          <a:prstGeom prst="rect">
            <a:avLst/>
          </a:prstGeom>
          <a:noFill/>
          <a:ln/>
        </p:spPr>
        <p:txBody>
          <a:bodyPr wrap="square" lIns="0" tIns="0" rIns="0" bIns="0" rtlCol="0" anchor="t"/>
          <a:lstStyle/>
          <a:p>
            <a:pPr indent="0" marL="0">
              <a:buNone/>
            </a:pPr>
            <a:r>
              <a:rPr lang="en-US" sz="1300" dirty="0">
                <a:solidFill>
                  <a:schemeClr val="accent5"/>
                </a:solidFill>
              </a:rPr>
              <a:t>Citations, stray numbers, direction, strength words versus effect size, causal language.</a:t>
            </a:r>
            <a:endParaRPr lang="en-US" sz="1300" dirty="0"/>
          </a:p>
        </p:txBody>
      </p:sp>
      <p:sp>
        <p:nvSpPr>
          <p:cNvPr id="26" name="card-198"/>
          <p:cNvSpPr/>
          <p:nvPr/>
        </p:nvSpPr>
        <p:spPr>
          <a:xfrm>
            <a:off x="548640" y="4069080"/>
            <a:ext cx="11064240" cy="1280160"/>
          </a:xfrm>
          <a:prstGeom prst="roundRect">
            <a:avLst>
              <a:gd name="adj" fmla="val 7143"/>
            </a:avLst>
          </a:prstGeom>
          <a:solidFill>
            <a:schemeClr val="bg1"/>
          </a:solidFill>
          <a:ln w="9525">
            <a:solidFill>
              <a:srgbClr val="DEDCD6"/>
            </a:solidFill>
            <a:prstDash val="solid"/>
          </a:ln>
        </p:spPr>
      </p:sp>
      <p:sp>
        <p:nvSpPr>
          <p:cNvPr id="27" name="text-199"/>
          <p:cNvSpPr txBox="1"/>
          <p:nvPr/>
        </p:nvSpPr>
        <p:spPr>
          <a:xfrm>
            <a:off x="822960" y="4206240"/>
            <a:ext cx="10515600" cy="411480"/>
          </a:xfrm>
          <a:prstGeom prst="rect">
            <a:avLst/>
          </a:prstGeom>
          <a:noFill/>
          <a:ln/>
        </p:spPr>
        <p:txBody>
          <a:bodyPr wrap="square" lIns="0" tIns="0" rIns="0" bIns="0" rtlCol="0" anchor="t"/>
          <a:lstStyle/>
          <a:p>
            <a:pPr indent="0" marL="0">
              <a:buNone/>
            </a:pPr>
            <a:r>
              <a:rPr lang="en-US" sz="1300" dirty="0">
                <a:solidFill>
                  <a:schemeClr val="accent5"/>
                </a:solidFill>
              </a:rPr>
              <a:t>Model writes  </a:t>
            </a:r>
            <a:pPr indent="0" marL="0">
              <a:buNone/>
            </a:pPr>
            <a:r>
              <a:rPr lang="en-US" sz="1600" dirty="0">
                <a:solidFill>
                  <a:schemeClr val="tx1"/>
                </a:solidFill>
              </a:rPr>
              <a:t>Unit price and Revenue rise together: the link is strong (rank correlation </a:t>
            </a:r>
            <a:pPr indent="0" marL="0">
              <a:buNone/>
            </a:pPr>
            <a:r>
              <a:rPr lang="en-US" sz="1600" b="1" dirty="0">
                <a:solidFill>
                  <a:schemeClr val="accent1"/>
                </a:solidFill>
                <a:latin typeface="Courier New" pitchFamily="34" charset="0"/>
                <a:ea typeface="Courier New" pitchFamily="34" charset="-122"/>
                <a:cs typeface="Courier New" pitchFamily="34" charset="-120"/>
              </a:rPr>
              <a:t>{F13.r}</a:t>
            </a:r>
            <a:pPr indent="0" marL="0">
              <a:buNone/>
            </a:pPr>
            <a:r>
              <a:rPr lang="en-US" sz="1600" dirty="0">
                <a:solidFill>
                  <a:schemeClr val="tx1"/>
                </a:solidFill>
              </a:rPr>
              <a:t>).</a:t>
            </a:r>
            <a:endParaRPr lang="en-US" sz="1600" dirty="0"/>
          </a:p>
        </p:txBody>
      </p:sp>
      <p:sp>
        <p:nvSpPr>
          <p:cNvPr id="28" name="text-200"/>
          <p:cNvSpPr txBox="1"/>
          <p:nvPr/>
        </p:nvSpPr>
        <p:spPr>
          <a:xfrm>
            <a:off x="822960" y="4617720"/>
            <a:ext cx="10515600" cy="685800"/>
          </a:xfrm>
          <a:prstGeom prst="rect">
            <a:avLst/>
          </a:prstGeom>
          <a:noFill/>
          <a:ln/>
        </p:spPr>
        <p:txBody>
          <a:bodyPr wrap="square" lIns="0" tIns="0" rIns="0" bIns="0" rtlCol="0" anchor="t"/>
          <a:lstStyle/>
          <a:p>
            <a:pPr indent="0" marL="0">
              <a:buNone/>
            </a:pPr>
            <a:r>
              <a:rPr lang="en-US" sz="1300" dirty="0">
                <a:solidFill>
                  <a:schemeClr val="accent5"/>
                </a:solidFill>
              </a:rPr>
              <a:t>Reader sees  </a:t>
            </a:r>
            <a:pPr indent="0" marL="0">
              <a:buNone/>
            </a:pPr>
            <a:r>
              <a:rPr lang="en-US" sz="1600" dirty="0">
                <a:solidFill>
                  <a:schemeClr val="tx1"/>
                </a:solidFill>
              </a:rPr>
              <a:t>Unit price and Revenue rise together: the link is strong (rank correlation </a:t>
            </a:r>
            <a:pPr indent="0" marL="0">
              <a:buNone/>
            </a:pPr>
            <a:r>
              <a:rPr lang="en-US" sz="1600" b="1" dirty="0">
                <a:solidFill>
                  <a:schemeClr val="tx1"/>
                </a:solidFill>
                <a:latin typeface="Courier New" pitchFamily="34" charset="0"/>
                <a:ea typeface="Courier New" pitchFamily="34" charset="-122"/>
                <a:cs typeface="Courier New" pitchFamily="34" charset="-120"/>
              </a:rPr>
              <a:t>0.88</a:t>
            </a:r>
            <a:pPr indent="0" marL="0">
              <a:buNone/>
            </a:pPr>
            <a:r>
              <a:rPr lang="en-US" sz="1600" dirty="0">
                <a:solidFill>
                  <a:schemeClr val="tx1"/>
                </a:solidFill>
              </a:rPr>
              <a:t>; 95% interval 0.87 to 0.89).  </a:t>
            </a:r>
            <a:pPr indent="0" marL="0">
              <a:buNone/>
            </a:pPr>
            <a:r>
              <a:rPr lang="en-US" sz="1600" b="1" dirty="0">
                <a:solidFill>
                  <a:schemeClr val="accent1"/>
                </a:solidFill>
                <a:latin typeface="Courier New" pitchFamily="34" charset="0"/>
                <a:ea typeface="Courier New" pitchFamily="34" charset="-122"/>
                <a:cs typeface="Courier New" pitchFamily="34" charset="-120"/>
              </a:rPr>
              <a:t>F13</a:t>
            </a:r>
            <a:endParaRPr lang="en-US" sz="1600" dirty="0"/>
          </a:p>
        </p:txBody>
      </p:sp>
      <p:sp>
        <p:nvSpPr>
          <p:cNvPr id="29" name="text-201"/>
          <p:cNvSpPr txBox="1"/>
          <p:nvPr/>
        </p:nvSpPr>
        <p:spPr>
          <a:xfrm>
            <a:off x="548640" y="5532120"/>
            <a:ext cx="11064240" cy="640080"/>
          </a:xfrm>
          <a:prstGeom prst="rect">
            <a:avLst/>
          </a:prstGeom>
          <a:noFill/>
          <a:ln/>
        </p:spPr>
        <p:txBody>
          <a:bodyPr wrap="square" lIns="0" tIns="0" rIns="0" bIns="0" rtlCol="0" anchor="t"/>
          <a:lstStyle/>
          <a:p>
            <a:pPr indent="0" marL="0">
              <a:buNone/>
            </a:pPr>
            <a:r>
              <a:rPr lang="en-US" sz="1300" dirty="0">
                <a:solidFill>
                  <a:schemeClr val="accent5"/>
                </a:solidFill>
              </a:rPr>
              <a:t>A sentence that fails is rewritten once, then replaced by the fact’s own statement. The summary is written last, from verified findings only. Evaluation: all 31 planted errors in the corrupted-narrator suite are rejected.</a:t>
            </a:r>
            <a:endParaRPr lang="en-US" sz="13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Statistical rigour, by construction</a:t>
            </a:r>
            <a:endParaRPr lang="en-US" sz="3000" dirty="0"/>
          </a:p>
        </p:txBody>
      </p:sp>
      <p:sp>
        <p:nvSpPr>
          <p:cNvPr id="3" name="card-202"/>
          <p:cNvSpPr/>
          <p:nvPr/>
        </p:nvSpPr>
        <p:spPr>
          <a:xfrm>
            <a:off x="548640" y="1325880"/>
            <a:ext cx="5440680" cy="1920240"/>
          </a:xfrm>
          <a:prstGeom prst="roundRect">
            <a:avLst>
              <a:gd name="adj" fmla="val 4762"/>
            </a:avLst>
          </a:prstGeom>
          <a:solidFill>
            <a:schemeClr val="bg1"/>
          </a:solidFill>
          <a:ln w="9525">
            <a:solidFill>
              <a:srgbClr val="DEDCD6"/>
            </a:solidFill>
            <a:prstDash val="solid"/>
          </a:ln>
        </p:spPr>
      </p:sp>
      <p:sp>
        <p:nvSpPr>
          <p:cNvPr id="4" name="text-203"/>
          <p:cNvSpPr txBox="1"/>
          <p:nvPr/>
        </p:nvSpPr>
        <p:spPr>
          <a:xfrm>
            <a:off x="868680" y="1554480"/>
            <a:ext cx="1828800" cy="1280160"/>
          </a:xfrm>
          <a:prstGeom prst="rect">
            <a:avLst/>
          </a:prstGeom>
          <a:noFill/>
          <a:ln/>
        </p:spPr>
        <p:txBody>
          <a:bodyPr wrap="square" lIns="0" tIns="0" rIns="0" bIns="0" rtlCol="0" anchor="ctr"/>
          <a:lstStyle/>
          <a:p>
            <a:pPr indent="0" marL="0">
              <a:buNone/>
            </a:pPr>
            <a:r>
              <a:rPr lang="en-US" sz="6000" b="1" dirty="0">
                <a:solidFill>
                  <a:schemeClr val="accent1"/>
                </a:solidFill>
                <a:latin typeface="Courier New" pitchFamily="34" charset="0"/>
                <a:ea typeface="Courier New" pitchFamily="34" charset="-122"/>
                <a:cs typeface="Courier New" pitchFamily="34" charset="-120"/>
              </a:rPr>
              <a:t>5%</a:t>
            </a:r>
            <a:endParaRPr lang="en-US" sz="6000" dirty="0"/>
          </a:p>
        </p:txBody>
      </p:sp>
      <p:sp>
        <p:nvSpPr>
          <p:cNvPr id="5" name="text-204"/>
          <p:cNvSpPr txBox="1"/>
          <p:nvPr/>
        </p:nvSpPr>
        <p:spPr>
          <a:xfrm>
            <a:off x="2788920" y="1645920"/>
            <a:ext cx="2926080" cy="1325880"/>
          </a:xfrm>
          <a:prstGeom prst="rect">
            <a:avLst/>
          </a:prstGeom>
          <a:noFill/>
          <a:ln/>
        </p:spPr>
        <p:txBody>
          <a:bodyPr wrap="square" lIns="0" tIns="0" rIns="0" bIns="0" rtlCol="0" anchor="ctr"/>
          <a:lstStyle/>
          <a:p>
            <a:pPr indent="0" marL="0">
              <a:buNone/>
            </a:pPr>
            <a:r>
              <a:rPr lang="en-US" sz="1500" dirty="0">
                <a:solidFill>
                  <a:schemeClr val="tx1"/>
                </a:solidFill>
              </a:rPr>
              <a:t>False-discovery rate, controlled across the whole run (Benjamini–Hochberg), not per test</a:t>
            </a:r>
            <a:endParaRPr lang="en-US" sz="1500" dirty="0"/>
          </a:p>
        </p:txBody>
      </p:sp>
      <p:sp>
        <p:nvSpPr>
          <p:cNvPr id="6" name="card-205"/>
          <p:cNvSpPr/>
          <p:nvPr/>
        </p:nvSpPr>
        <p:spPr>
          <a:xfrm>
            <a:off x="6172200" y="1325880"/>
            <a:ext cx="5440680" cy="1920240"/>
          </a:xfrm>
          <a:prstGeom prst="roundRect">
            <a:avLst>
              <a:gd name="adj" fmla="val 4762"/>
            </a:avLst>
          </a:prstGeom>
          <a:solidFill>
            <a:schemeClr val="bg1"/>
          </a:solidFill>
          <a:ln w="9525">
            <a:solidFill>
              <a:srgbClr val="DEDCD6"/>
            </a:solidFill>
            <a:prstDash val="solid"/>
          </a:ln>
        </p:spPr>
      </p:sp>
      <p:sp>
        <p:nvSpPr>
          <p:cNvPr id="7" name="text-206"/>
          <p:cNvSpPr txBox="1"/>
          <p:nvPr/>
        </p:nvSpPr>
        <p:spPr>
          <a:xfrm>
            <a:off x="6492240" y="1554480"/>
            <a:ext cx="1828800" cy="1280160"/>
          </a:xfrm>
          <a:prstGeom prst="rect">
            <a:avLst/>
          </a:prstGeom>
          <a:noFill/>
          <a:ln/>
        </p:spPr>
        <p:txBody>
          <a:bodyPr wrap="square" lIns="0" tIns="0" rIns="0" bIns="0" rtlCol="0" anchor="ctr"/>
          <a:lstStyle/>
          <a:p>
            <a:pPr indent="0" marL="0">
              <a:buNone/>
            </a:pPr>
            <a:r>
              <a:rPr lang="en-US" sz="6000" b="1" dirty="0">
                <a:solidFill>
                  <a:schemeClr val="accent1"/>
                </a:solidFill>
                <a:latin typeface="Courier New" pitchFamily="34" charset="0"/>
                <a:ea typeface="Courier New" pitchFamily="34" charset="-122"/>
                <a:cs typeface="Courier New" pitchFamily="34" charset="-120"/>
              </a:rPr>
              <a:t>19</a:t>
            </a:r>
            <a:endParaRPr lang="en-US" sz="6000" dirty="0"/>
          </a:p>
        </p:txBody>
      </p:sp>
      <p:sp>
        <p:nvSpPr>
          <p:cNvPr id="8" name="text-207"/>
          <p:cNvSpPr txBox="1"/>
          <p:nvPr/>
        </p:nvSpPr>
        <p:spPr>
          <a:xfrm>
            <a:off x="8412480" y="1645920"/>
            <a:ext cx="2926080" cy="1325880"/>
          </a:xfrm>
          <a:prstGeom prst="rect">
            <a:avLst/>
          </a:prstGeom>
          <a:noFill/>
          <a:ln/>
        </p:spPr>
        <p:txBody>
          <a:bodyPr wrap="square" lIns="0" tIns="0" rIns="0" bIns="0" rtlCol="0" anchor="ctr"/>
          <a:lstStyle/>
          <a:p>
            <a:pPr indent="0" marL="0">
              <a:buNone/>
            </a:pPr>
            <a:r>
              <a:rPr lang="en-US" sz="1500" dirty="0">
                <a:solidFill>
                  <a:schemeClr val="tx1"/>
                </a:solidFill>
              </a:rPr>
              <a:t>Random shuffles a derived feature must beat before it is kept (signal gate)</a:t>
            </a:r>
            <a:endParaRPr lang="en-US" sz="1500" dirty="0"/>
          </a:p>
        </p:txBody>
      </p:sp>
      <p:sp>
        <p:nvSpPr>
          <p:cNvPr id="9" name="card-208"/>
          <p:cNvSpPr/>
          <p:nvPr/>
        </p:nvSpPr>
        <p:spPr>
          <a:xfrm>
            <a:off x="548640" y="3474720"/>
            <a:ext cx="5440680" cy="1920240"/>
          </a:xfrm>
          <a:prstGeom prst="roundRect">
            <a:avLst>
              <a:gd name="adj" fmla="val 4762"/>
            </a:avLst>
          </a:prstGeom>
          <a:solidFill>
            <a:schemeClr val="bg1"/>
          </a:solidFill>
          <a:ln w="9525">
            <a:solidFill>
              <a:srgbClr val="DEDCD6"/>
            </a:solidFill>
            <a:prstDash val="solid"/>
          </a:ln>
        </p:spPr>
      </p:sp>
      <p:sp>
        <p:nvSpPr>
          <p:cNvPr id="10" name="text-209"/>
          <p:cNvSpPr txBox="1"/>
          <p:nvPr/>
        </p:nvSpPr>
        <p:spPr>
          <a:xfrm>
            <a:off x="868680" y="3703320"/>
            <a:ext cx="1828800" cy="1280160"/>
          </a:xfrm>
          <a:prstGeom prst="rect">
            <a:avLst/>
          </a:prstGeom>
          <a:noFill/>
          <a:ln/>
        </p:spPr>
        <p:txBody>
          <a:bodyPr wrap="square" lIns="0" tIns="0" rIns="0" bIns="0" rtlCol="0" anchor="ctr"/>
          <a:lstStyle/>
          <a:p>
            <a:pPr indent="0" marL="0">
              <a:buNone/>
            </a:pPr>
            <a:r>
              <a:rPr lang="en-US" sz="6000" b="1" dirty="0">
                <a:solidFill>
                  <a:schemeClr val="accent1"/>
                </a:solidFill>
                <a:latin typeface="Courier New" pitchFamily="34" charset="0"/>
                <a:ea typeface="Courier New" pitchFamily="34" charset="-122"/>
                <a:cs typeface="Courier New" pitchFamily="34" charset="-120"/>
              </a:rPr>
              <a:t>10</a:t>
            </a:r>
            <a:endParaRPr lang="en-US" sz="6000" dirty="0"/>
          </a:p>
        </p:txBody>
      </p:sp>
      <p:sp>
        <p:nvSpPr>
          <p:cNvPr id="11" name="text-210"/>
          <p:cNvSpPr txBox="1"/>
          <p:nvPr/>
        </p:nvSpPr>
        <p:spPr>
          <a:xfrm>
            <a:off x="2788920" y="3794760"/>
            <a:ext cx="2926080" cy="1325880"/>
          </a:xfrm>
          <a:prstGeom prst="rect">
            <a:avLst/>
          </a:prstGeom>
          <a:noFill/>
          <a:ln/>
        </p:spPr>
        <p:txBody>
          <a:bodyPr wrap="square" lIns="0" tIns="0" rIns="0" bIns="0" rtlCol="0" anchor="ctr"/>
          <a:lstStyle/>
          <a:p>
            <a:pPr indent="0" marL="0">
              <a:buNone/>
            </a:pPr>
            <a:r>
              <a:rPr lang="en-US" sz="1500" dirty="0">
                <a:solidFill>
                  <a:schemeClr val="tx1"/>
                </a:solidFill>
              </a:rPr>
              <a:t>Strongest findings re-tested on lossless-only data, so cleaning cannot create them</a:t>
            </a:r>
            <a:endParaRPr lang="en-US" sz="1500" dirty="0"/>
          </a:p>
        </p:txBody>
      </p:sp>
      <p:sp>
        <p:nvSpPr>
          <p:cNvPr id="12" name="card-211"/>
          <p:cNvSpPr/>
          <p:nvPr/>
        </p:nvSpPr>
        <p:spPr>
          <a:xfrm>
            <a:off x="6172200" y="3474720"/>
            <a:ext cx="5440680" cy="1920240"/>
          </a:xfrm>
          <a:prstGeom prst="roundRect">
            <a:avLst>
              <a:gd name="adj" fmla="val 4762"/>
            </a:avLst>
          </a:prstGeom>
          <a:solidFill>
            <a:schemeClr val="bg1"/>
          </a:solidFill>
          <a:ln w="9525">
            <a:solidFill>
              <a:srgbClr val="DEDCD6"/>
            </a:solidFill>
            <a:prstDash val="solid"/>
          </a:ln>
        </p:spPr>
      </p:sp>
      <p:sp>
        <p:nvSpPr>
          <p:cNvPr id="13" name="text-212"/>
          <p:cNvSpPr txBox="1"/>
          <p:nvPr/>
        </p:nvSpPr>
        <p:spPr>
          <a:xfrm>
            <a:off x="6492240" y="3703320"/>
            <a:ext cx="1828800" cy="1280160"/>
          </a:xfrm>
          <a:prstGeom prst="rect">
            <a:avLst/>
          </a:prstGeom>
          <a:noFill/>
          <a:ln/>
        </p:spPr>
        <p:txBody>
          <a:bodyPr wrap="square" lIns="0" tIns="0" rIns="0" bIns="0" rtlCol="0" anchor="ctr"/>
          <a:lstStyle/>
          <a:p>
            <a:pPr indent="0" marL="0">
              <a:buNone/>
            </a:pPr>
            <a:r>
              <a:rPr lang="en-US" sz="6000" b="1" dirty="0">
                <a:solidFill>
                  <a:schemeClr val="accent1"/>
                </a:solidFill>
                <a:latin typeface="Courier New" pitchFamily="34" charset="0"/>
                <a:ea typeface="Courier New" pitchFamily="34" charset="-122"/>
                <a:cs typeface="Courier New" pitchFamily="34" charset="-120"/>
              </a:rPr>
              <a:t>9</a:t>
            </a:r>
            <a:endParaRPr lang="en-US" sz="6000" dirty="0"/>
          </a:p>
        </p:txBody>
      </p:sp>
      <p:sp>
        <p:nvSpPr>
          <p:cNvPr id="14" name="text-213"/>
          <p:cNvSpPr txBox="1"/>
          <p:nvPr/>
        </p:nvSpPr>
        <p:spPr>
          <a:xfrm>
            <a:off x="8412480" y="3794760"/>
            <a:ext cx="2926080" cy="1325880"/>
          </a:xfrm>
          <a:prstGeom prst="rect">
            <a:avLst/>
          </a:prstGeom>
          <a:noFill/>
          <a:ln/>
        </p:spPr>
        <p:txBody>
          <a:bodyPr wrap="square" lIns="0" tIns="0" rIns="0" bIns="0" rtlCol="0" anchor="ctr"/>
          <a:lstStyle/>
          <a:p>
            <a:pPr indent="0" marL="0">
              <a:buNone/>
            </a:pPr>
            <a:r>
              <a:rPr lang="en-US" sz="1500" dirty="0">
                <a:solidFill>
                  <a:schemeClr val="tx1"/>
                </a:solidFill>
              </a:rPr>
              <a:t>Miners: differences, relationships, trends, drivers, outliers and more; every test is logged</a:t>
            </a:r>
            <a:endParaRPr lang="en-US" sz="1500" dirty="0"/>
          </a:p>
        </p:txBody>
      </p:sp>
      <p:sp>
        <p:nvSpPr>
          <p:cNvPr id="15" name="text-214"/>
          <p:cNvSpPr txBox="1"/>
          <p:nvPr/>
        </p:nvSpPr>
        <p:spPr>
          <a:xfrm>
            <a:off x="548640" y="5715000"/>
            <a:ext cx="11064240" cy="502920"/>
          </a:xfrm>
          <a:prstGeom prst="rect">
            <a:avLst/>
          </a:prstGeom>
          <a:noFill/>
          <a:ln/>
        </p:spPr>
        <p:txBody>
          <a:bodyPr wrap="square" lIns="0" tIns="0" rIns="0" bIns="0" rtlCol="0" anchor="t"/>
          <a:lstStyle/>
          <a:p>
            <a:pPr indent="0" marL="0">
              <a:buNone/>
            </a:pPr>
            <a:r>
              <a:rPr lang="en-US" sz="1300" dirty="0">
                <a:solidFill>
                  <a:schemeClr val="accent5"/>
                </a:solidFill>
              </a:rPr>
              <a:t>Each finding gets an honest tier: Strong evidence · Supported · Not reliable · Descriptive. Intervals are reported with every estimate, and causal wording is rejected by the verifier.</a:t>
            </a:r>
            <a:endParaRPr lang="en-US" sz="13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Security and privacy, enforced in the database</a:t>
            </a:r>
            <a:endParaRPr lang="en-US" sz="3000" dirty="0"/>
          </a:p>
        </p:txBody>
      </p:sp>
      <p:sp>
        <p:nvSpPr>
          <p:cNvPr id="3" name="card-215"/>
          <p:cNvSpPr/>
          <p:nvPr/>
        </p:nvSpPr>
        <p:spPr>
          <a:xfrm>
            <a:off x="548640" y="1325880"/>
            <a:ext cx="3566160" cy="2148840"/>
          </a:xfrm>
          <a:prstGeom prst="roundRect">
            <a:avLst>
              <a:gd name="adj" fmla="val 4255"/>
            </a:avLst>
          </a:prstGeom>
          <a:solidFill>
            <a:schemeClr val="bg1"/>
          </a:solidFill>
          <a:ln w="9525">
            <a:solidFill>
              <a:srgbClr val="DEDCD6"/>
            </a:solidFill>
            <a:prstDash val="solid"/>
          </a:ln>
        </p:spPr>
      </p:sp>
      <p:sp>
        <p:nvSpPr>
          <p:cNvPr id="4" name="icon-dot-216"/>
          <p:cNvSpPr/>
          <p:nvPr/>
        </p:nvSpPr>
        <p:spPr>
          <a:xfrm>
            <a:off x="822960" y="1600200"/>
            <a:ext cx="548640" cy="548640"/>
          </a:xfrm>
          <a:prstGeom prst="ellipse">
            <a:avLst/>
          </a:prstGeom>
          <a:solidFill>
            <a:srgbClr val="E7F0EC"/>
          </a:solidFill>
          <a:ln w="12700">
            <a:solidFill>
              <a:srgbClr val="E7F0EC"/>
            </a:solidFill>
            <a:prstDash val="solid"/>
          </a:ln>
        </p:spPr>
      </p:sp>
      <p:pic>
        <p:nvPicPr>
          <p:cNvPr id="5" name="icon-217" descr="preencoded.png">    </p:cNvPr>
          <p:cNvPicPr>
            <a:picLocks noChangeAspect="1"/>
          </p:cNvPicPr>
          <p:nvPr/>
        </p:nvPicPr>
        <p:blipFill>
          <a:blip r:embed="rId1"/>
          <a:stretch>
            <a:fillRect/>
          </a:stretch>
        </p:blipFill>
        <p:spPr>
          <a:xfrm>
            <a:off x="954634" y="1731874"/>
            <a:ext cx="285293" cy="285293"/>
          </a:xfrm>
          <a:prstGeom prst="rect">
            <a:avLst/>
          </a:prstGeom>
        </p:spPr>
      </p:pic>
      <p:sp>
        <p:nvSpPr>
          <p:cNvPr id="6" name="text-218"/>
          <p:cNvSpPr txBox="1"/>
          <p:nvPr/>
        </p:nvSpPr>
        <p:spPr>
          <a:xfrm>
            <a:off x="1508760" y="167335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Tenant isolation</a:t>
            </a:r>
            <a:endParaRPr lang="en-US" sz="1600" dirty="0"/>
          </a:p>
        </p:txBody>
      </p:sp>
      <p:sp>
        <p:nvSpPr>
          <p:cNvPr id="7" name="text-219"/>
          <p:cNvSpPr txBox="1"/>
          <p:nvPr/>
        </p:nvSpPr>
        <p:spPr>
          <a:xfrm>
            <a:off x="822960" y="228600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Forced row-level security on every tenant table; the organisation comes only from the verified token</a:t>
            </a:r>
            <a:endParaRPr lang="en-US" sz="1300" dirty="0"/>
          </a:p>
        </p:txBody>
      </p:sp>
      <p:sp>
        <p:nvSpPr>
          <p:cNvPr id="8" name="card-220"/>
          <p:cNvSpPr/>
          <p:nvPr/>
        </p:nvSpPr>
        <p:spPr>
          <a:xfrm>
            <a:off x="4297680" y="1325880"/>
            <a:ext cx="3566160" cy="2148840"/>
          </a:xfrm>
          <a:prstGeom prst="roundRect">
            <a:avLst>
              <a:gd name="adj" fmla="val 4255"/>
            </a:avLst>
          </a:prstGeom>
          <a:solidFill>
            <a:schemeClr val="bg1"/>
          </a:solidFill>
          <a:ln w="9525">
            <a:solidFill>
              <a:srgbClr val="DEDCD6"/>
            </a:solidFill>
            <a:prstDash val="solid"/>
          </a:ln>
        </p:spPr>
      </p:sp>
      <p:sp>
        <p:nvSpPr>
          <p:cNvPr id="9" name="icon-dot-221"/>
          <p:cNvSpPr/>
          <p:nvPr/>
        </p:nvSpPr>
        <p:spPr>
          <a:xfrm>
            <a:off x="4572000" y="1600200"/>
            <a:ext cx="548640" cy="548640"/>
          </a:xfrm>
          <a:prstGeom prst="ellipse">
            <a:avLst/>
          </a:prstGeom>
          <a:solidFill>
            <a:srgbClr val="E7F0EC"/>
          </a:solidFill>
          <a:ln w="12700">
            <a:solidFill>
              <a:srgbClr val="E7F0EC"/>
            </a:solidFill>
            <a:prstDash val="solid"/>
          </a:ln>
        </p:spPr>
      </p:sp>
      <p:pic>
        <p:nvPicPr>
          <p:cNvPr id="10" name="icon-222" descr="preencoded.png">    </p:cNvPr>
          <p:cNvPicPr>
            <a:picLocks noChangeAspect="1"/>
          </p:cNvPicPr>
          <p:nvPr/>
        </p:nvPicPr>
        <p:blipFill>
          <a:blip r:embed="rId2"/>
          <a:stretch>
            <a:fillRect/>
          </a:stretch>
        </p:blipFill>
        <p:spPr>
          <a:xfrm>
            <a:off x="4703674" y="1731874"/>
            <a:ext cx="285293" cy="285293"/>
          </a:xfrm>
          <a:prstGeom prst="rect">
            <a:avLst/>
          </a:prstGeom>
        </p:spPr>
      </p:pic>
      <p:sp>
        <p:nvSpPr>
          <p:cNvPr id="11" name="text-223"/>
          <p:cNvSpPr txBox="1"/>
          <p:nvPr/>
        </p:nvSpPr>
        <p:spPr>
          <a:xfrm>
            <a:off x="5257800" y="167335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Short-lived identity</a:t>
            </a:r>
            <a:endParaRPr lang="en-US" sz="1600" dirty="0"/>
          </a:p>
        </p:txBody>
      </p:sp>
      <p:sp>
        <p:nvSpPr>
          <p:cNvPr id="12" name="text-224"/>
          <p:cNvSpPr txBox="1"/>
          <p:nvPr/>
        </p:nvSpPr>
        <p:spPr>
          <a:xfrm>
            <a:off x="4572000" y="228600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15-minute EdDSA tokens with a pinned algorithm; the browser never receives one</a:t>
            </a:r>
            <a:endParaRPr lang="en-US" sz="1300" dirty="0"/>
          </a:p>
        </p:txBody>
      </p:sp>
      <p:sp>
        <p:nvSpPr>
          <p:cNvPr id="13" name="card-225"/>
          <p:cNvSpPr/>
          <p:nvPr/>
        </p:nvSpPr>
        <p:spPr>
          <a:xfrm>
            <a:off x="8046720" y="1325880"/>
            <a:ext cx="3566160" cy="2148840"/>
          </a:xfrm>
          <a:prstGeom prst="roundRect">
            <a:avLst>
              <a:gd name="adj" fmla="val 4255"/>
            </a:avLst>
          </a:prstGeom>
          <a:solidFill>
            <a:schemeClr val="bg1"/>
          </a:solidFill>
          <a:ln w="9525">
            <a:solidFill>
              <a:srgbClr val="DEDCD6"/>
            </a:solidFill>
            <a:prstDash val="solid"/>
          </a:ln>
        </p:spPr>
      </p:sp>
      <p:sp>
        <p:nvSpPr>
          <p:cNvPr id="14" name="icon-dot-226"/>
          <p:cNvSpPr/>
          <p:nvPr/>
        </p:nvSpPr>
        <p:spPr>
          <a:xfrm>
            <a:off x="8321040" y="1600200"/>
            <a:ext cx="548640" cy="548640"/>
          </a:xfrm>
          <a:prstGeom prst="ellipse">
            <a:avLst/>
          </a:prstGeom>
          <a:solidFill>
            <a:srgbClr val="E7F0EC"/>
          </a:solidFill>
          <a:ln w="12700">
            <a:solidFill>
              <a:srgbClr val="E7F0EC"/>
            </a:solidFill>
            <a:prstDash val="solid"/>
          </a:ln>
        </p:spPr>
      </p:sp>
      <p:pic>
        <p:nvPicPr>
          <p:cNvPr id="15" name="icon-227" descr="preencoded.png">    </p:cNvPr>
          <p:cNvPicPr>
            <a:picLocks noChangeAspect="1"/>
          </p:cNvPicPr>
          <p:nvPr/>
        </p:nvPicPr>
        <p:blipFill>
          <a:blip r:embed="rId3"/>
          <a:stretch>
            <a:fillRect/>
          </a:stretch>
        </p:blipFill>
        <p:spPr>
          <a:xfrm>
            <a:off x="8452714" y="1731874"/>
            <a:ext cx="285293" cy="285293"/>
          </a:xfrm>
          <a:prstGeom prst="rect">
            <a:avLst/>
          </a:prstGeom>
        </p:spPr>
      </p:pic>
      <p:sp>
        <p:nvSpPr>
          <p:cNvPr id="16" name="text-228"/>
          <p:cNvSpPr txBox="1"/>
          <p:nvPr/>
        </p:nvSpPr>
        <p:spPr>
          <a:xfrm>
            <a:off x="9006840" y="167335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Personal data stays home</a:t>
            </a:r>
            <a:endParaRPr lang="en-US" sz="1600" dirty="0"/>
          </a:p>
        </p:txBody>
      </p:sp>
      <p:sp>
        <p:nvSpPr>
          <p:cNvPr id="17" name="text-229"/>
          <p:cNvSpPr txBox="1"/>
          <p:nvPr/>
        </p:nvSpPr>
        <p:spPr>
          <a:xfrm>
            <a:off x="8321040" y="228600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Detected at ingest, masked in the model card, blocked by the gateway</a:t>
            </a:r>
            <a:endParaRPr lang="en-US" sz="1300" dirty="0"/>
          </a:p>
        </p:txBody>
      </p:sp>
      <p:sp>
        <p:nvSpPr>
          <p:cNvPr id="18" name="card-230"/>
          <p:cNvSpPr/>
          <p:nvPr/>
        </p:nvSpPr>
        <p:spPr>
          <a:xfrm>
            <a:off x="548640" y="3657600"/>
            <a:ext cx="3566160" cy="2148840"/>
          </a:xfrm>
          <a:prstGeom prst="roundRect">
            <a:avLst>
              <a:gd name="adj" fmla="val 4255"/>
            </a:avLst>
          </a:prstGeom>
          <a:solidFill>
            <a:schemeClr val="bg1"/>
          </a:solidFill>
          <a:ln w="9525">
            <a:solidFill>
              <a:srgbClr val="DEDCD6"/>
            </a:solidFill>
            <a:prstDash val="solid"/>
          </a:ln>
        </p:spPr>
      </p:sp>
      <p:sp>
        <p:nvSpPr>
          <p:cNvPr id="19" name="icon-dot-231"/>
          <p:cNvSpPr/>
          <p:nvPr/>
        </p:nvSpPr>
        <p:spPr>
          <a:xfrm>
            <a:off x="822960" y="3931920"/>
            <a:ext cx="548640" cy="548640"/>
          </a:xfrm>
          <a:prstGeom prst="ellipse">
            <a:avLst/>
          </a:prstGeom>
          <a:solidFill>
            <a:srgbClr val="E7F0EC"/>
          </a:solidFill>
          <a:ln w="12700">
            <a:solidFill>
              <a:srgbClr val="E7F0EC"/>
            </a:solidFill>
            <a:prstDash val="solid"/>
          </a:ln>
        </p:spPr>
      </p:sp>
      <p:pic>
        <p:nvPicPr>
          <p:cNvPr id="20" name="icon-232" descr="preencoded.png">    </p:cNvPr>
          <p:cNvPicPr>
            <a:picLocks noChangeAspect="1"/>
          </p:cNvPicPr>
          <p:nvPr/>
        </p:nvPicPr>
        <p:blipFill>
          <a:blip r:embed="rId4"/>
          <a:stretch>
            <a:fillRect/>
          </a:stretch>
        </p:blipFill>
        <p:spPr>
          <a:xfrm>
            <a:off x="954634" y="4063594"/>
            <a:ext cx="285293" cy="285293"/>
          </a:xfrm>
          <a:prstGeom prst="rect">
            <a:avLst/>
          </a:prstGeom>
        </p:spPr>
      </p:pic>
      <p:sp>
        <p:nvSpPr>
          <p:cNvPr id="21" name="text-233"/>
          <p:cNvSpPr txBox="1"/>
          <p:nvPr/>
        </p:nvSpPr>
        <p:spPr>
          <a:xfrm>
            <a:off x="1508760" y="400507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Tamper evidence</a:t>
            </a:r>
            <a:endParaRPr lang="en-US" sz="1600" dirty="0"/>
          </a:p>
        </p:txBody>
      </p:sp>
      <p:sp>
        <p:nvSpPr>
          <p:cNvPr id="22" name="text-234"/>
          <p:cNvSpPr txBox="1"/>
          <p:nvPr/>
        </p:nvSpPr>
        <p:spPr>
          <a:xfrm>
            <a:off x="822960" y="461772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Facts, tests, events and model calls are append-only, enforced by triggers; facts carry content hashes</a:t>
            </a:r>
            <a:endParaRPr lang="en-US" sz="1300" dirty="0"/>
          </a:p>
        </p:txBody>
      </p:sp>
      <p:sp>
        <p:nvSpPr>
          <p:cNvPr id="23" name="card-235"/>
          <p:cNvSpPr/>
          <p:nvPr/>
        </p:nvSpPr>
        <p:spPr>
          <a:xfrm>
            <a:off x="4297680" y="3657600"/>
            <a:ext cx="3566160" cy="2148840"/>
          </a:xfrm>
          <a:prstGeom prst="roundRect">
            <a:avLst>
              <a:gd name="adj" fmla="val 4255"/>
            </a:avLst>
          </a:prstGeom>
          <a:solidFill>
            <a:schemeClr val="bg1"/>
          </a:solidFill>
          <a:ln w="9525">
            <a:solidFill>
              <a:srgbClr val="DEDCD6"/>
            </a:solidFill>
            <a:prstDash val="solid"/>
          </a:ln>
        </p:spPr>
      </p:sp>
      <p:sp>
        <p:nvSpPr>
          <p:cNvPr id="24" name="icon-dot-236"/>
          <p:cNvSpPr/>
          <p:nvPr/>
        </p:nvSpPr>
        <p:spPr>
          <a:xfrm>
            <a:off x="4572000" y="3931920"/>
            <a:ext cx="548640" cy="548640"/>
          </a:xfrm>
          <a:prstGeom prst="ellipse">
            <a:avLst/>
          </a:prstGeom>
          <a:solidFill>
            <a:srgbClr val="E7F0EC"/>
          </a:solidFill>
          <a:ln w="12700">
            <a:solidFill>
              <a:srgbClr val="E7F0EC"/>
            </a:solidFill>
            <a:prstDash val="solid"/>
          </a:ln>
        </p:spPr>
      </p:sp>
      <p:pic>
        <p:nvPicPr>
          <p:cNvPr id="25" name="icon-237" descr="preencoded.png">    </p:cNvPr>
          <p:cNvPicPr>
            <a:picLocks noChangeAspect="1"/>
          </p:cNvPicPr>
          <p:nvPr/>
        </p:nvPicPr>
        <p:blipFill>
          <a:blip r:embed="rId5"/>
          <a:stretch>
            <a:fillRect/>
          </a:stretch>
        </p:blipFill>
        <p:spPr>
          <a:xfrm>
            <a:off x="4703674" y="4063594"/>
            <a:ext cx="285293" cy="285293"/>
          </a:xfrm>
          <a:prstGeom prst="rect">
            <a:avLst/>
          </a:prstGeom>
        </p:spPr>
      </p:pic>
      <p:sp>
        <p:nvSpPr>
          <p:cNvPr id="26" name="text-238"/>
          <p:cNvSpPr txBox="1"/>
          <p:nvPr/>
        </p:nvSpPr>
        <p:spPr>
          <a:xfrm>
            <a:off x="5257800" y="400507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Hostile files</a:t>
            </a:r>
            <a:endParaRPr lang="en-US" sz="1600" dirty="0"/>
          </a:p>
        </p:txBody>
      </p:sp>
      <p:sp>
        <p:nvSpPr>
          <p:cNvPr id="27" name="text-239"/>
          <p:cNvSpPr txBox="1"/>
          <p:nvPr/>
        </p:nvSpPr>
        <p:spPr>
          <a:xfrm>
            <a:off x="4572000" y="461772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Extension allow-list, magic bytes, size and shape limits, zip-bomb guard, parsing only in the worker</a:t>
            </a:r>
            <a:endParaRPr lang="en-US" sz="1300" dirty="0"/>
          </a:p>
        </p:txBody>
      </p:sp>
      <p:sp>
        <p:nvSpPr>
          <p:cNvPr id="28" name="card-240"/>
          <p:cNvSpPr/>
          <p:nvPr/>
        </p:nvSpPr>
        <p:spPr>
          <a:xfrm>
            <a:off x="8046720" y="3657600"/>
            <a:ext cx="3566160" cy="2148840"/>
          </a:xfrm>
          <a:prstGeom prst="roundRect">
            <a:avLst>
              <a:gd name="adj" fmla="val 4255"/>
            </a:avLst>
          </a:prstGeom>
          <a:solidFill>
            <a:schemeClr val="bg1"/>
          </a:solidFill>
          <a:ln w="9525">
            <a:solidFill>
              <a:srgbClr val="DEDCD6"/>
            </a:solidFill>
            <a:prstDash val="solid"/>
          </a:ln>
        </p:spPr>
      </p:sp>
      <p:sp>
        <p:nvSpPr>
          <p:cNvPr id="29" name="icon-dot-241"/>
          <p:cNvSpPr/>
          <p:nvPr/>
        </p:nvSpPr>
        <p:spPr>
          <a:xfrm>
            <a:off x="8321040" y="3931920"/>
            <a:ext cx="548640" cy="548640"/>
          </a:xfrm>
          <a:prstGeom prst="ellipse">
            <a:avLst/>
          </a:prstGeom>
          <a:solidFill>
            <a:srgbClr val="E7F0EC"/>
          </a:solidFill>
          <a:ln w="12700">
            <a:solidFill>
              <a:srgbClr val="E7F0EC"/>
            </a:solidFill>
            <a:prstDash val="solid"/>
          </a:ln>
        </p:spPr>
      </p:sp>
      <p:pic>
        <p:nvPicPr>
          <p:cNvPr id="30" name="icon-242" descr="preencoded.png">    </p:cNvPr>
          <p:cNvPicPr>
            <a:picLocks noChangeAspect="1"/>
          </p:cNvPicPr>
          <p:nvPr/>
        </p:nvPicPr>
        <p:blipFill>
          <a:blip r:embed="rId6"/>
          <a:stretch>
            <a:fillRect/>
          </a:stretch>
        </p:blipFill>
        <p:spPr>
          <a:xfrm>
            <a:off x="8452714" y="4063594"/>
            <a:ext cx="285293" cy="285293"/>
          </a:xfrm>
          <a:prstGeom prst="rect">
            <a:avLst/>
          </a:prstGeom>
        </p:spPr>
      </p:pic>
      <p:sp>
        <p:nvSpPr>
          <p:cNvPr id="31" name="text-243"/>
          <p:cNvSpPr txBox="1"/>
          <p:nvPr/>
        </p:nvSpPr>
        <p:spPr>
          <a:xfrm>
            <a:off x="9006840" y="4005072"/>
            <a:ext cx="2468880" cy="41148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Hard spend cap</a:t>
            </a:r>
            <a:endParaRPr lang="en-US" sz="1600" dirty="0"/>
          </a:p>
        </p:txBody>
      </p:sp>
      <p:sp>
        <p:nvSpPr>
          <p:cNvPr id="32" name="text-244"/>
          <p:cNvSpPr txBox="1"/>
          <p:nvPr/>
        </p:nvSpPr>
        <p:spPr>
          <a:xfrm>
            <a:off x="8321040" y="4617720"/>
            <a:ext cx="3063240" cy="1097280"/>
          </a:xfrm>
          <a:prstGeom prst="rect">
            <a:avLst/>
          </a:prstGeom>
          <a:noFill/>
          <a:ln/>
        </p:spPr>
        <p:txBody>
          <a:bodyPr wrap="square" lIns="0" tIns="0" rIns="0" bIns="0" rtlCol="0" anchor="t"/>
          <a:lstStyle/>
          <a:p>
            <a:pPr indent="0" marL="0">
              <a:buNone/>
            </a:pPr>
            <a:r>
              <a:rPr lang="en-US" sz="1300" dirty="0">
                <a:solidFill>
                  <a:schemeClr val="accent5"/>
                </a:solidFill>
              </a:rPr>
              <a:t>Each model call reserves its worst-case cost first; the total can never pass the cap</a:t>
            </a:r>
            <a:endParaRPr lang="en-US" sz="1300" dirty="0"/>
          </a:p>
        </p:txBody>
      </p:sp>
      <p:sp>
        <p:nvSpPr>
          <p:cNvPr id="33" name="chip-245"/>
          <p:cNvSpPr/>
          <p:nvPr/>
        </p:nvSpPr>
        <p:spPr>
          <a:xfrm>
            <a:off x="548640" y="5989320"/>
            <a:ext cx="4572000" cy="274320"/>
          </a:xfrm>
          <a:prstGeom prst="roundRect">
            <a:avLst>
              <a:gd name="adj" fmla="val 20000"/>
            </a:avLst>
          </a:prstGeom>
          <a:solidFill>
            <a:srgbClr val="E7F0EC"/>
          </a:solidFill>
          <a:ln w="9525">
            <a:solidFill>
              <a:srgbClr val="2F6F62"/>
            </a:solidFill>
            <a:prstDash val="solid"/>
          </a:ln>
        </p:spPr>
      </p:sp>
      <p:sp>
        <p:nvSpPr>
          <p:cNvPr id="34" name="chip-text-246"/>
          <p:cNvSpPr txBox="1"/>
          <p:nvPr/>
        </p:nvSpPr>
        <p:spPr>
          <a:xfrm>
            <a:off x="548640" y="5989320"/>
            <a:ext cx="4572000" cy="274320"/>
          </a:xfrm>
          <a:prstGeom prst="rect">
            <a:avLst/>
          </a:prstGeom>
          <a:noFill/>
          <a:ln/>
        </p:spPr>
        <p:txBody>
          <a:bodyPr wrap="square" lIns="0" tIns="0" rIns="0" bIns="0" rtlCol="0" anchor="ctr"/>
          <a:lstStyle/>
          <a:p>
            <a:pPr algn="ctr" indent="0" marL="0">
              <a:buNone/>
            </a:pPr>
            <a:r>
              <a:rPr lang="en-US" sz="1000" dirty="0">
                <a:solidFill>
                  <a:srgbClr val="2F6F62"/>
                </a:solidFill>
                <a:latin typeface="Courier New" pitchFamily="34" charset="0"/>
                <a:ea typeface="Courier New" pitchFamily="34" charset="-122"/>
                <a:cs typeface="Courier New" pitchFamily="34" charset="-120"/>
              </a:rPr>
              <a:t>system test 18 Oct: 0 of 22 cross-tenant attacks succeeded</a:t>
            </a:r>
            <a:endParaRPr lang="en-US" sz="10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Live in production on AWS</a:t>
            </a:r>
            <a:endParaRPr lang="en-US" sz="3000" dirty="0"/>
          </a:p>
        </p:txBody>
      </p:sp>
      <p:sp>
        <p:nvSpPr>
          <p:cNvPr id="3" name="ec2"/>
          <p:cNvSpPr/>
          <p:nvPr/>
        </p:nvSpPr>
        <p:spPr>
          <a:xfrm>
            <a:off x="2103120" y="1280160"/>
            <a:ext cx="4572000" cy="3749040"/>
          </a:xfrm>
          <a:prstGeom prst="roundRect">
            <a:avLst>
              <a:gd name="adj" fmla="val 2439"/>
            </a:avLst>
          </a:prstGeom>
          <a:solidFill>
            <a:srgbClr val="E7F0EC"/>
          </a:solidFill>
          <a:ln w="9525">
            <a:solidFill>
              <a:srgbClr val="2F6F62"/>
            </a:solidFill>
            <a:prstDash val="dash"/>
          </a:ln>
        </p:spPr>
      </p:sp>
      <p:sp>
        <p:nvSpPr>
          <p:cNvPr id="4" name="text-247"/>
          <p:cNvSpPr txBox="1"/>
          <p:nvPr/>
        </p:nvSpPr>
        <p:spPr>
          <a:xfrm>
            <a:off x="2240280" y="1371600"/>
            <a:ext cx="4297680" cy="274320"/>
          </a:xfrm>
          <a:prstGeom prst="rect">
            <a:avLst/>
          </a:prstGeom>
          <a:noFill/>
          <a:ln/>
        </p:spPr>
        <p:txBody>
          <a:bodyPr wrap="square" lIns="0" tIns="0" rIns="0" bIns="0" rtlCol="0" anchor="t"/>
          <a:lstStyle/>
          <a:p>
            <a:pPr indent="0" marL="0">
              <a:buNone/>
            </a:pPr>
            <a:r>
              <a:rPr lang="en-US" sz="1100" b="1" dirty="0">
                <a:solidFill>
                  <a:schemeClr val="accent1"/>
                </a:solidFill>
              </a:rPr>
              <a:t>EC2 t3.micro · Docker Compose</a:t>
            </a:r>
            <a:endParaRPr lang="en-US" sz="1100" dirty="0"/>
          </a:p>
        </p:txBody>
      </p:sp>
      <p:sp>
        <p:nvSpPr>
          <p:cNvPr id="5" name="card-248"/>
          <p:cNvSpPr/>
          <p:nvPr/>
        </p:nvSpPr>
        <p:spPr>
          <a:xfrm>
            <a:off x="548640" y="2606040"/>
            <a:ext cx="1280160" cy="822960"/>
          </a:xfrm>
          <a:prstGeom prst="roundRect">
            <a:avLst>
              <a:gd name="adj" fmla="val 11111"/>
            </a:avLst>
          </a:prstGeom>
          <a:solidFill>
            <a:schemeClr val="bg1"/>
          </a:solidFill>
          <a:ln w="9525">
            <a:solidFill>
              <a:srgbClr val="DEDCD6"/>
            </a:solidFill>
            <a:prstDash val="solid"/>
          </a:ln>
        </p:spPr>
      </p:sp>
      <p:sp>
        <p:nvSpPr>
          <p:cNvPr id="6" name="text-249"/>
          <p:cNvSpPr txBox="1"/>
          <p:nvPr/>
        </p:nvSpPr>
        <p:spPr>
          <a:xfrm>
            <a:off x="640080" y="2651760"/>
            <a:ext cx="1097280" cy="731520"/>
          </a:xfrm>
          <a:prstGeom prst="rect">
            <a:avLst/>
          </a:prstGeom>
          <a:noFill/>
          <a:ln/>
        </p:spPr>
        <p:txBody>
          <a:bodyPr wrap="square" lIns="0" tIns="0" rIns="0" bIns="0" rtlCol="0" anchor="ctr"/>
          <a:lstStyle/>
          <a:p>
            <a:pPr algn="ctr" indent="0" marL="0">
              <a:buNone/>
            </a:pPr>
            <a:r>
              <a:rPr lang="en-US" sz="1300" b="1" dirty="0">
                <a:solidFill>
                  <a:schemeClr val="tx1"/>
                </a:solidFill>
              </a:rPr>
              <a:t>Browser</a:t>
            </a:r>
            <a:endParaRPr lang="en-US" sz="1300" dirty="0"/>
          </a:p>
          <a:p>
            <a:pPr algn="ctr" indent="0" marL="0">
              <a:buNone/>
            </a:pPr>
            <a:r>
              <a:rPr lang="en-US" sz="1100" dirty="0">
                <a:solidFill>
                  <a:schemeClr val="accent5"/>
                </a:solidFill>
              </a:rPr>
              <a:t>HTTPS</a:t>
            </a:r>
            <a:endParaRPr lang="en-US" sz="1300" dirty="0"/>
          </a:p>
        </p:txBody>
      </p:sp>
      <p:sp>
        <p:nvSpPr>
          <p:cNvPr id="7" name="card-250"/>
          <p:cNvSpPr/>
          <p:nvPr/>
        </p:nvSpPr>
        <p:spPr>
          <a:xfrm>
            <a:off x="2331720" y="2514600"/>
            <a:ext cx="1371600" cy="1005840"/>
          </a:xfrm>
          <a:prstGeom prst="roundRect">
            <a:avLst>
              <a:gd name="adj" fmla="val 9091"/>
            </a:avLst>
          </a:prstGeom>
          <a:solidFill>
            <a:schemeClr val="bg1"/>
          </a:solidFill>
          <a:ln w="9525">
            <a:solidFill>
              <a:srgbClr val="DEDCD6"/>
            </a:solidFill>
            <a:prstDash val="solid"/>
          </a:ln>
        </p:spPr>
      </p:sp>
      <p:sp>
        <p:nvSpPr>
          <p:cNvPr id="8" name="text-251"/>
          <p:cNvSpPr txBox="1"/>
          <p:nvPr/>
        </p:nvSpPr>
        <p:spPr>
          <a:xfrm>
            <a:off x="2423160" y="2560320"/>
            <a:ext cx="1188720" cy="914400"/>
          </a:xfrm>
          <a:prstGeom prst="rect">
            <a:avLst/>
          </a:prstGeom>
          <a:noFill/>
          <a:ln/>
        </p:spPr>
        <p:txBody>
          <a:bodyPr wrap="square" lIns="0" tIns="0" rIns="0" bIns="0" rtlCol="0" anchor="ctr"/>
          <a:lstStyle/>
          <a:p>
            <a:pPr algn="ctr" indent="0" marL="0">
              <a:buNone/>
            </a:pPr>
            <a:r>
              <a:rPr lang="en-US" sz="1300" b="1" dirty="0">
                <a:solidFill>
                  <a:schemeClr val="tx1"/>
                </a:solidFill>
              </a:rPr>
              <a:t>Caddy</a:t>
            </a:r>
            <a:endParaRPr lang="en-US" sz="1300" dirty="0"/>
          </a:p>
          <a:p>
            <a:pPr algn="ctr" indent="0" marL="0">
              <a:buNone/>
            </a:pPr>
            <a:r>
              <a:rPr lang="en-US" sz="1100" dirty="0">
                <a:solidFill>
                  <a:schemeClr val="accent5"/>
                </a:solidFill>
              </a:rPr>
              <a:t>auto-HTTPS</a:t>
            </a:r>
            <a:endParaRPr lang="en-US" sz="1300" dirty="0"/>
          </a:p>
        </p:txBody>
      </p:sp>
      <p:sp>
        <p:nvSpPr>
          <p:cNvPr id="9" name="card-252"/>
          <p:cNvSpPr/>
          <p:nvPr/>
        </p:nvSpPr>
        <p:spPr>
          <a:xfrm>
            <a:off x="4023360" y="1783080"/>
            <a:ext cx="1188720" cy="685800"/>
          </a:xfrm>
          <a:prstGeom prst="roundRect">
            <a:avLst>
              <a:gd name="adj" fmla="val 13333"/>
            </a:avLst>
          </a:prstGeom>
          <a:solidFill>
            <a:schemeClr val="bg1"/>
          </a:solidFill>
          <a:ln w="9525">
            <a:solidFill>
              <a:srgbClr val="DEDCD6"/>
            </a:solidFill>
            <a:prstDash val="solid"/>
          </a:ln>
        </p:spPr>
      </p:sp>
      <p:sp>
        <p:nvSpPr>
          <p:cNvPr id="10" name="text-253"/>
          <p:cNvSpPr txBox="1"/>
          <p:nvPr/>
        </p:nvSpPr>
        <p:spPr>
          <a:xfrm>
            <a:off x="4114800" y="1828800"/>
            <a:ext cx="1005840" cy="594360"/>
          </a:xfrm>
          <a:prstGeom prst="rect">
            <a:avLst/>
          </a:prstGeom>
          <a:noFill/>
          <a:ln/>
        </p:spPr>
        <p:txBody>
          <a:bodyPr wrap="square" lIns="0" tIns="0" rIns="0" bIns="0" rtlCol="0" anchor="ctr"/>
          <a:lstStyle/>
          <a:p>
            <a:pPr algn="ctr" indent="0" marL="0">
              <a:buNone/>
            </a:pPr>
            <a:r>
              <a:rPr lang="en-US" sz="1300" b="1" dirty="0">
                <a:solidFill>
                  <a:schemeClr val="tx1"/>
                </a:solidFill>
              </a:rPr>
              <a:t>web</a:t>
            </a:r>
            <a:endParaRPr lang="en-US" sz="1300" dirty="0"/>
          </a:p>
          <a:p>
            <a:pPr algn="ctr" indent="0" marL="0">
              <a:buNone/>
            </a:pPr>
            <a:r>
              <a:rPr lang="en-US" sz="1100" dirty="0">
                <a:solidFill>
                  <a:schemeClr val="accent5"/>
                </a:solidFill>
              </a:rPr>
              <a:t>Next.js</a:t>
            </a:r>
            <a:endParaRPr lang="en-US" sz="1300" dirty="0"/>
          </a:p>
        </p:txBody>
      </p:sp>
      <p:sp>
        <p:nvSpPr>
          <p:cNvPr id="11" name="card-254"/>
          <p:cNvSpPr/>
          <p:nvPr/>
        </p:nvSpPr>
        <p:spPr>
          <a:xfrm>
            <a:off x="4023360" y="2697480"/>
            <a:ext cx="1188720" cy="685800"/>
          </a:xfrm>
          <a:prstGeom prst="roundRect">
            <a:avLst>
              <a:gd name="adj" fmla="val 13333"/>
            </a:avLst>
          </a:prstGeom>
          <a:solidFill>
            <a:schemeClr val="bg1"/>
          </a:solidFill>
          <a:ln w="9525">
            <a:solidFill>
              <a:srgbClr val="DEDCD6"/>
            </a:solidFill>
            <a:prstDash val="solid"/>
          </a:ln>
        </p:spPr>
      </p:sp>
      <p:sp>
        <p:nvSpPr>
          <p:cNvPr id="12" name="text-255"/>
          <p:cNvSpPr txBox="1"/>
          <p:nvPr/>
        </p:nvSpPr>
        <p:spPr>
          <a:xfrm>
            <a:off x="4114800" y="2743200"/>
            <a:ext cx="1005840" cy="594360"/>
          </a:xfrm>
          <a:prstGeom prst="rect">
            <a:avLst/>
          </a:prstGeom>
          <a:noFill/>
          <a:ln/>
        </p:spPr>
        <p:txBody>
          <a:bodyPr wrap="square" lIns="0" tIns="0" rIns="0" bIns="0" rtlCol="0" anchor="ctr"/>
          <a:lstStyle/>
          <a:p>
            <a:pPr algn="ctr" indent="0" marL="0">
              <a:buNone/>
            </a:pPr>
            <a:r>
              <a:rPr lang="en-US" sz="1300" b="1" dirty="0">
                <a:solidFill>
                  <a:schemeClr val="tx1"/>
                </a:solidFill>
              </a:rPr>
              <a:t>api</a:t>
            </a:r>
            <a:endParaRPr lang="en-US" sz="1300" dirty="0"/>
          </a:p>
          <a:p>
            <a:pPr algn="ctr" indent="0" marL="0">
              <a:buNone/>
            </a:pPr>
            <a:r>
              <a:rPr lang="en-US" sz="1100" dirty="0">
                <a:solidFill>
                  <a:schemeClr val="accent5"/>
                </a:solidFill>
              </a:rPr>
              <a:t>FastAPI</a:t>
            </a:r>
            <a:endParaRPr lang="en-US" sz="1300" dirty="0"/>
          </a:p>
        </p:txBody>
      </p:sp>
      <p:sp>
        <p:nvSpPr>
          <p:cNvPr id="13" name="card-256"/>
          <p:cNvSpPr/>
          <p:nvPr/>
        </p:nvSpPr>
        <p:spPr>
          <a:xfrm>
            <a:off x="4023360" y="3611880"/>
            <a:ext cx="1188720" cy="685800"/>
          </a:xfrm>
          <a:prstGeom prst="roundRect">
            <a:avLst>
              <a:gd name="adj" fmla="val 13333"/>
            </a:avLst>
          </a:prstGeom>
          <a:solidFill>
            <a:schemeClr val="bg1"/>
          </a:solidFill>
          <a:ln w="9525">
            <a:solidFill>
              <a:srgbClr val="DEDCD6"/>
            </a:solidFill>
            <a:prstDash val="solid"/>
          </a:ln>
        </p:spPr>
      </p:sp>
      <p:sp>
        <p:nvSpPr>
          <p:cNvPr id="14" name="text-257"/>
          <p:cNvSpPr txBox="1"/>
          <p:nvPr/>
        </p:nvSpPr>
        <p:spPr>
          <a:xfrm>
            <a:off x="4114800" y="3657600"/>
            <a:ext cx="1005840" cy="594360"/>
          </a:xfrm>
          <a:prstGeom prst="rect">
            <a:avLst/>
          </a:prstGeom>
          <a:noFill/>
          <a:ln/>
        </p:spPr>
        <p:txBody>
          <a:bodyPr wrap="square" lIns="0" tIns="0" rIns="0" bIns="0" rtlCol="0" anchor="ctr"/>
          <a:lstStyle/>
          <a:p>
            <a:pPr algn="ctr" indent="0" marL="0">
              <a:buNone/>
            </a:pPr>
            <a:r>
              <a:rPr lang="en-US" sz="1300" b="1" dirty="0">
                <a:solidFill>
                  <a:schemeClr val="tx1"/>
                </a:solidFill>
              </a:rPr>
              <a:t>worker</a:t>
            </a:r>
            <a:endParaRPr lang="en-US" sz="1300" dirty="0"/>
          </a:p>
          <a:p>
            <a:pPr algn="ctr" indent="0" marL="0">
              <a:buNone/>
            </a:pPr>
            <a:r>
              <a:rPr lang="en-US" sz="1100" dirty="0">
                <a:solidFill>
                  <a:schemeClr val="accent5"/>
                </a:solidFill>
              </a:rPr>
              <a:t>1 run at a time</a:t>
            </a:r>
            <a:endParaRPr lang="en-US" sz="1300" dirty="0"/>
          </a:p>
        </p:txBody>
      </p:sp>
      <p:sp>
        <p:nvSpPr>
          <p:cNvPr id="15" name="card-258"/>
          <p:cNvSpPr/>
          <p:nvPr/>
        </p:nvSpPr>
        <p:spPr>
          <a:xfrm>
            <a:off x="5440680" y="2697480"/>
            <a:ext cx="1051560" cy="868680"/>
          </a:xfrm>
          <a:prstGeom prst="roundRect">
            <a:avLst>
              <a:gd name="adj" fmla="val 10526"/>
            </a:avLst>
          </a:prstGeom>
          <a:solidFill>
            <a:schemeClr val="bg1"/>
          </a:solidFill>
          <a:ln w="9525">
            <a:solidFill>
              <a:srgbClr val="DEDCD6"/>
            </a:solidFill>
            <a:prstDash val="solid"/>
          </a:ln>
        </p:spPr>
      </p:sp>
      <p:sp>
        <p:nvSpPr>
          <p:cNvPr id="16" name="text-259"/>
          <p:cNvSpPr txBox="1"/>
          <p:nvPr/>
        </p:nvSpPr>
        <p:spPr>
          <a:xfrm>
            <a:off x="5532120" y="2743200"/>
            <a:ext cx="868680" cy="777240"/>
          </a:xfrm>
          <a:prstGeom prst="rect">
            <a:avLst/>
          </a:prstGeom>
          <a:noFill/>
          <a:ln/>
        </p:spPr>
        <p:txBody>
          <a:bodyPr wrap="square" lIns="0" tIns="0" rIns="0" bIns="0" rtlCol="0" anchor="ctr"/>
          <a:lstStyle/>
          <a:p>
            <a:pPr algn="ctr" indent="0" marL="0">
              <a:buNone/>
            </a:pPr>
            <a:r>
              <a:rPr lang="en-US" sz="1300" b="1" dirty="0">
                <a:solidFill>
                  <a:schemeClr val="tx1"/>
                </a:solidFill>
              </a:rPr>
              <a:t>postgres</a:t>
            </a:r>
            <a:endParaRPr lang="en-US" sz="1300" dirty="0"/>
          </a:p>
          <a:p>
            <a:pPr algn="ctr" indent="0" marL="0">
              <a:buNone/>
            </a:pPr>
            <a:r>
              <a:rPr lang="en-US" sz="1100" dirty="0">
                <a:solidFill>
                  <a:schemeClr val="accent5"/>
                </a:solidFill>
              </a:rPr>
              <a:t>private</a:t>
            </a:r>
            <a:endParaRPr lang="en-US" sz="1300" dirty="0"/>
          </a:p>
        </p:txBody>
      </p:sp>
      <p:sp>
        <p:nvSpPr>
          <p:cNvPr id="17" name="card-260"/>
          <p:cNvSpPr/>
          <p:nvPr/>
        </p:nvSpPr>
        <p:spPr>
          <a:xfrm>
            <a:off x="3703320" y="5257800"/>
            <a:ext cx="1737360" cy="777240"/>
          </a:xfrm>
          <a:prstGeom prst="roundRect">
            <a:avLst>
              <a:gd name="adj" fmla="val 11765"/>
            </a:avLst>
          </a:prstGeom>
          <a:solidFill>
            <a:srgbClr val="E7F0EC"/>
          </a:solidFill>
          <a:ln w="9525">
            <a:solidFill>
              <a:srgbClr val="DEDCD6"/>
            </a:solidFill>
            <a:prstDash val="solid"/>
          </a:ln>
        </p:spPr>
      </p:sp>
      <p:sp>
        <p:nvSpPr>
          <p:cNvPr id="18" name="text-261"/>
          <p:cNvSpPr txBox="1"/>
          <p:nvPr/>
        </p:nvSpPr>
        <p:spPr>
          <a:xfrm>
            <a:off x="3794760" y="5303520"/>
            <a:ext cx="1554480" cy="685800"/>
          </a:xfrm>
          <a:prstGeom prst="rect">
            <a:avLst/>
          </a:prstGeom>
          <a:noFill/>
          <a:ln/>
        </p:spPr>
        <p:txBody>
          <a:bodyPr wrap="square" lIns="0" tIns="0" rIns="0" bIns="0" rtlCol="0" anchor="ctr"/>
          <a:lstStyle/>
          <a:p>
            <a:pPr algn="ctr" indent="0" marL="0">
              <a:buNone/>
            </a:pPr>
            <a:r>
              <a:rPr lang="en-US" sz="1300" b="1" dirty="0">
                <a:solidFill>
                  <a:schemeClr val="tx1"/>
                </a:solidFill>
              </a:rPr>
              <a:t>S3 uploads</a:t>
            </a:r>
            <a:endParaRPr lang="en-US" sz="1300" dirty="0"/>
          </a:p>
          <a:p>
            <a:pPr algn="ctr" indent="0" marL="0">
              <a:buNone/>
            </a:pPr>
            <a:r>
              <a:rPr lang="en-US" sz="1100" dirty="0">
                <a:solidFill>
                  <a:schemeClr val="accent5"/>
                </a:solidFill>
              </a:rPr>
              <a:t>instance role</a:t>
            </a:r>
            <a:endParaRPr lang="en-US" sz="1300" dirty="0"/>
          </a:p>
        </p:txBody>
      </p:sp>
      <p:sp>
        <p:nvSpPr>
          <p:cNvPr id="19" name="card-262"/>
          <p:cNvSpPr/>
          <p:nvPr/>
        </p:nvSpPr>
        <p:spPr>
          <a:xfrm>
            <a:off x="5623560" y="5257800"/>
            <a:ext cx="1463040" cy="777240"/>
          </a:xfrm>
          <a:prstGeom prst="roundRect">
            <a:avLst>
              <a:gd name="adj" fmla="val 11765"/>
            </a:avLst>
          </a:prstGeom>
          <a:solidFill>
            <a:srgbClr val="E7F0EC"/>
          </a:solidFill>
          <a:ln w="9525">
            <a:solidFill>
              <a:srgbClr val="DEDCD6"/>
            </a:solidFill>
            <a:prstDash val="solid"/>
          </a:ln>
        </p:spPr>
      </p:sp>
      <p:sp>
        <p:nvSpPr>
          <p:cNvPr id="20" name="text-263"/>
          <p:cNvSpPr txBox="1"/>
          <p:nvPr/>
        </p:nvSpPr>
        <p:spPr>
          <a:xfrm>
            <a:off x="5715000" y="5303520"/>
            <a:ext cx="1280160" cy="685800"/>
          </a:xfrm>
          <a:prstGeom prst="rect">
            <a:avLst/>
          </a:prstGeom>
          <a:noFill/>
          <a:ln/>
        </p:spPr>
        <p:txBody>
          <a:bodyPr wrap="square" lIns="0" tIns="0" rIns="0" bIns="0" rtlCol="0" anchor="ctr"/>
          <a:lstStyle/>
          <a:p>
            <a:pPr algn="ctr" indent="0" marL="0">
              <a:buNone/>
            </a:pPr>
            <a:r>
              <a:rPr lang="en-US" sz="1300" b="1" dirty="0">
                <a:solidFill>
                  <a:schemeClr val="tx1"/>
                </a:solidFill>
              </a:rPr>
              <a:t>S3 backups</a:t>
            </a:r>
            <a:endParaRPr lang="en-US" sz="1300" dirty="0"/>
          </a:p>
          <a:p>
            <a:pPr algn="ctr" indent="0" marL="0">
              <a:buNone/>
            </a:pPr>
            <a:r>
              <a:rPr lang="en-US" sz="1100" dirty="0">
                <a:solidFill>
                  <a:schemeClr val="accent5"/>
                </a:solidFill>
              </a:rPr>
              <a:t>nightly dump</a:t>
            </a:r>
            <a:endParaRPr lang="en-US" sz="1300" dirty="0"/>
          </a:p>
        </p:txBody>
      </p:sp>
      <p:sp>
        <p:nvSpPr>
          <p:cNvPr id="21" name="card-264"/>
          <p:cNvSpPr/>
          <p:nvPr/>
        </p:nvSpPr>
        <p:spPr>
          <a:xfrm>
            <a:off x="548640" y="5257800"/>
            <a:ext cx="2926080" cy="777240"/>
          </a:xfrm>
          <a:prstGeom prst="roundRect">
            <a:avLst>
              <a:gd name="adj" fmla="val 11765"/>
            </a:avLst>
          </a:prstGeom>
          <a:solidFill>
            <a:srgbClr val="E7F0EC"/>
          </a:solidFill>
          <a:ln w="9525">
            <a:solidFill>
              <a:srgbClr val="DEDCD6"/>
            </a:solidFill>
            <a:prstDash val="solid"/>
          </a:ln>
        </p:spPr>
      </p:sp>
      <p:sp>
        <p:nvSpPr>
          <p:cNvPr id="22" name="text-265"/>
          <p:cNvSpPr txBox="1"/>
          <p:nvPr/>
        </p:nvSpPr>
        <p:spPr>
          <a:xfrm>
            <a:off x="640080" y="5303520"/>
            <a:ext cx="2743200" cy="685800"/>
          </a:xfrm>
          <a:prstGeom prst="rect">
            <a:avLst/>
          </a:prstGeom>
          <a:noFill/>
          <a:ln/>
        </p:spPr>
        <p:txBody>
          <a:bodyPr wrap="square" lIns="0" tIns="0" rIns="0" bIns="0" rtlCol="0" anchor="ctr"/>
          <a:lstStyle/>
          <a:p>
            <a:pPr algn="ctr" indent="0" marL="0">
              <a:buNone/>
            </a:pPr>
            <a:r>
              <a:rPr lang="en-US" sz="1300" b="1" dirty="0">
                <a:solidFill>
                  <a:schemeClr val="tx1"/>
                </a:solidFill>
              </a:rPr>
              <a:t>GitHub Actions → ghcr.io</a:t>
            </a:r>
            <a:endParaRPr lang="en-US" sz="1300" dirty="0"/>
          </a:p>
          <a:p>
            <a:pPr algn="ctr" indent="0" marL="0">
              <a:buNone/>
            </a:pPr>
            <a:r>
              <a:rPr lang="en-US" sz="1100" dirty="0">
                <a:solidFill>
                  <a:schemeClr val="accent5"/>
                </a:solidFill>
              </a:rPr>
              <a:t>images per commit</a:t>
            </a:r>
            <a:endParaRPr lang="en-US" sz="1300" dirty="0"/>
          </a:p>
        </p:txBody>
      </p:sp>
      <p:sp>
        <p:nvSpPr>
          <p:cNvPr id="23" name="arrow-266"/>
          <p:cNvSpPr/>
          <p:nvPr/>
        </p:nvSpPr>
        <p:spPr>
          <a:xfrm>
            <a:off x="1828800" y="3017520"/>
            <a:ext cx="502920" cy="914"/>
          </a:xfrm>
          <a:prstGeom prst="line">
            <a:avLst/>
          </a:prstGeom>
          <a:noFill/>
          <a:ln w="15875">
            <a:solidFill>
              <a:srgbClr val="5E625E"/>
            </a:solidFill>
            <a:prstDash val="solid"/>
            <a:tailEnd type="triangle"/>
          </a:ln>
        </p:spPr>
      </p:sp>
      <p:sp>
        <p:nvSpPr>
          <p:cNvPr id="24" name="arrow-267"/>
          <p:cNvSpPr/>
          <p:nvPr/>
        </p:nvSpPr>
        <p:spPr>
          <a:xfrm flipV="1">
            <a:off x="3703320" y="2148840"/>
            <a:ext cx="320040" cy="685800"/>
          </a:xfrm>
          <a:prstGeom prst="line">
            <a:avLst/>
          </a:prstGeom>
          <a:noFill/>
          <a:ln w="15875">
            <a:solidFill>
              <a:srgbClr val="5E625E"/>
            </a:solidFill>
            <a:prstDash val="solid"/>
            <a:tailEnd type="triangle"/>
          </a:ln>
        </p:spPr>
      </p:sp>
      <p:sp>
        <p:nvSpPr>
          <p:cNvPr id="25" name="arrow-268"/>
          <p:cNvSpPr/>
          <p:nvPr/>
        </p:nvSpPr>
        <p:spPr>
          <a:xfrm>
            <a:off x="3703320" y="3017520"/>
            <a:ext cx="320040" cy="914"/>
          </a:xfrm>
          <a:prstGeom prst="line">
            <a:avLst/>
          </a:prstGeom>
          <a:noFill/>
          <a:ln w="15875">
            <a:solidFill>
              <a:srgbClr val="5E625E"/>
            </a:solidFill>
            <a:prstDash val="solid"/>
            <a:tailEnd type="triangle"/>
          </a:ln>
        </p:spPr>
      </p:sp>
      <p:sp>
        <p:nvSpPr>
          <p:cNvPr id="26" name="arrow-269"/>
          <p:cNvSpPr/>
          <p:nvPr/>
        </p:nvSpPr>
        <p:spPr>
          <a:xfrm>
            <a:off x="4572000" y="4297680"/>
            <a:ext cx="914" cy="960120"/>
          </a:xfrm>
          <a:prstGeom prst="line">
            <a:avLst/>
          </a:prstGeom>
          <a:noFill/>
          <a:ln w="15875">
            <a:solidFill>
              <a:srgbClr val="5E625E"/>
            </a:solidFill>
            <a:prstDash val="solid"/>
            <a:tailEnd type="triangle"/>
          </a:ln>
        </p:spPr>
      </p:sp>
      <p:sp>
        <p:nvSpPr>
          <p:cNvPr id="27" name="arrow-270"/>
          <p:cNvSpPr/>
          <p:nvPr/>
        </p:nvSpPr>
        <p:spPr>
          <a:xfrm>
            <a:off x="5943600" y="3566160"/>
            <a:ext cx="365760" cy="1691640"/>
          </a:xfrm>
          <a:prstGeom prst="line">
            <a:avLst/>
          </a:prstGeom>
          <a:noFill/>
          <a:ln w="15875">
            <a:solidFill>
              <a:srgbClr val="5E625E"/>
            </a:solidFill>
            <a:prstDash val="solid"/>
            <a:tailEnd type="triangle"/>
          </a:ln>
        </p:spPr>
      </p:sp>
      <p:sp>
        <p:nvSpPr>
          <p:cNvPr id="28" name="arrow-271"/>
          <p:cNvSpPr/>
          <p:nvPr/>
        </p:nvSpPr>
        <p:spPr>
          <a:xfrm flipV="1">
            <a:off x="2011680" y="5029200"/>
            <a:ext cx="640080" cy="228600"/>
          </a:xfrm>
          <a:prstGeom prst="line">
            <a:avLst/>
          </a:prstGeom>
          <a:noFill/>
          <a:ln w="15875">
            <a:solidFill>
              <a:srgbClr val="5E625E"/>
            </a:solidFill>
            <a:prstDash val="solid"/>
            <a:tailEnd type="triangle"/>
          </a:ln>
        </p:spPr>
      </p:sp>
      <p:sp>
        <p:nvSpPr>
          <p:cNvPr id="29" name="bullets-272"/>
          <p:cNvSpPr txBox="1"/>
          <p:nvPr/>
        </p:nvSpPr>
        <p:spPr>
          <a:xfrm>
            <a:off x="7315200" y="1371600"/>
            <a:ext cx="4297680" cy="402336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tx1"/>
                </a:solidFill>
              </a:rPr>
              <a:t>One command to release: </a:t>
            </a:r>
            <a:pPr indent="0" marL="0">
              <a:spcAft>
                <a:spcPts val="800"/>
              </a:spcAft>
              <a:buNone/>
            </a:pPr>
            <a:r>
              <a:rPr lang="en-US" sz="1400" dirty="0">
                <a:solidFill>
                  <a:schemeClr val="tx1"/>
                </a:solidFill>
              </a:rPr>
              <a:t>./deploy.sh pulls the images, migrates and waits for health</a:t>
            </a:r>
            <a:endParaRPr lang="en-US" sz="1400" dirty="0"/>
          </a:p>
          <a:p>
            <a:pPr marL="203200" indent="-203200">
              <a:spcAft>
                <a:spcPts val="800"/>
              </a:spcAft>
              <a:buSzPct val="100000"/>
              <a:buChar char="•"/>
            </a:pPr>
            <a:r>
              <a:rPr lang="en-US" sz="1400" b="1" dirty="0">
                <a:solidFill>
                  <a:schemeClr val="tx1"/>
                </a:solidFill>
              </a:rPr>
              <a:t>Roll back </a:t>
            </a:r>
            <a:pPr indent="0" marL="0">
              <a:spcAft>
                <a:spcPts val="800"/>
              </a:spcAft>
              <a:buNone/>
            </a:pPr>
            <a:r>
              <a:rPr lang="en-US" sz="1400" dirty="0">
                <a:solidFill>
                  <a:schemeClr val="tx1"/>
                </a:solidFill>
              </a:rPr>
              <a:t>by deploying an earlier commit’s images</a:t>
            </a:r>
            <a:endParaRPr lang="en-US" sz="1400" dirty="0"/>
          </a:p>
          <a:p>
            <a:pPr marL="203200" indent="-203200">
              <a:spcAft>
                <a:spcPts val="800"/>
              </a:spcAft>
              <a:buSzPct val="100000"/>
              <a:buChar char="•"/>
            </a:pPr>
            <a:r>
              <a:rPr lang="en-US" sz="1400" b="1" dirty="0">
                <a:solidFill>
                  <a:schemeClr val="tx1"/>
                </a:solidFill>
              </a:rPr>
              <a:t>No storage keys anywhere: </a:t>
            </a:r>
            <a:pPr indent="0" marL="0">
              <a:spcAft>
                <a:spcPts val="800"/>
              </a:spcAft>
              <a:buNone/>
            </a:pPr>
            <a:r>
              <a:rPr lang="en-US" sz="1400" dirty="0">
                <a:solidFill>
                  <a:schemeClr val="tx1"/>
                </a:solidFill>
              </a:rPr>
              <a:t>S3 access comes from the instance role</a:t>
            </a:r>
            <a:endParaRPr lang="en-US" sz="1400" dirty="0"/>
          </a:p>
          <a:p>
            <a:pPr marL="203200" indent="-203200">
              <a:spcAft>
                <a:spcPts val="800"/>
              </a:spcAft>
              <a:buSzPct val="100000"/>
              <a:buChar char="•"/>
            </a:pPr>
            <a:r>
              <a:rPr lang="en-US" sz="1400" b="1" dirty="0">
                <a:solidFill>
                  <a:schemeClr val="tx1"/>
                </a:solidFill>
              </a:rPr>
              <a:t>Cost: </a:t>
            </a:r>
            <a:pPr indent="0" marL="0">
              <a:spcAft>
                <a:spcPts val="800"/>
              </a:spcAft>
              <a:buNone/>
            </a:pPr>
            <a:r>
              <a:rPr lang="en-US" sz="1400" dirty="0">
                <a:solidFill>
                  <a:schemeClr val="tx1"/>
                </a:solidFill>
              </a:rPr>
              <a:t>free-tier instance; about US$3.6 a month for the IP address outside it</a:t>
            </a:r>
            <a:endParaRPr lang="en-US" sz="1400" dirty="0"/>
          </a:p>
          <a:p>
            <a:pPr marL="203200" indent="-203200">
              <a:spcAft>
                <a:spcPts val="800"/>
              </a:spcAft>
              <a:buSzPct val="100000"/>
              <a:buChar char="•"/>
            </a:pPr>
            <a:r>
              <a:rPr lang="en-US" sz="1400" b="1" dirty="0">
                <a:solidFill>
                  <a:schemeClr val="tx1"/>
                </a:solidFill>
              </a:rPr>
              <a:t>Only change needed: </a:t>
            </a:r>
            <a:pPr indent="0" marL="0">
              <a:spcAft>
                <a:spcPts val="800"/>
              </a:spcAft>
              <a:buNone/>
            </a:pPr>
            <a:r>
              <a:rPr lang="en-US" sz="1400" dirty="0">
                <a:solidFill>
                  <a:schemeClr val="tx1"/>
                </a:solidFill>
              </a:rPr>
              <a:t>upload links signed for the bucket’s regional S3 host</a:t>
            </a:r>
            <a:endParaRPr lang="en-US" sz="1400" dirty="0"/>
          </a:p>
        </p:txBody>
      </p:sp>
      <p:sp>
        <p:nvSpPr>
          <p:cNvPr id="30" name="chip-273"/>
          <p:cNvSpPr/>
          <p:nvPr/>
        </p:nvSpPr>
        <p:spPr>
          <a:xfrm>
            <a:off x="7315200" y="5760720"/>
            <a:ext cx="3017520" cy="274320"/>
          </a:xfrm>
          <a:prstGeom prst="roundRect">
            <a:avLst>
              <a:gd name="adj" fmla="val 20000"/>
            </a:avLst>
          </a:prstGeom>
          <a:solidFill>
            <a:srgbClr val="E7F0EC"/>
          </a:solidFill>
          <a:ln w="9525">
            <a:solidFill>
              <a:srgbClr val="2F6F62"/>
            </a:solidFill>
            <a:prstDash val="solid"/>
          </a:ln>
        </p:spPr>
      </p:sp>
      <p:sp>
        <p:nvSpPr>
          <p:cNvPr id="31" name="chip-text-274"/>
          <p:cNvSpPr txBox="1"/>
          <p:nvPr/>
        </p:nvSpPr>
        <p:spPr>
          <a:xfrm>
            <a:off x="7315200" y="5760720"/>
            <a:ext cx="3017520" cy="274320"/>
          </a:xfrm>
          <a:prstGeom prst="rect">
            <a:avLst/>
          </a:prstGeom>
          <a:noFill/>
          <a:ln/>
        </p:spPr>
        <p:txBody>
          <a:bodyPr wrap="square" lIns="0" tIns="0" rIns="0" bIns="0" rtlCol="0" anchor="ctr"/>
          <a:lstStyle/>
          <a:p>
            <a:pPr algn="ctr" indent="0" marL="0">
              <a:buNone/>
            </a:pPr>
            <a:r>
              <a:rPr lang="en-US" sz="1000" dirty="0">
                <a:solidFill>
                  <a:srgbClr val="2F6F62"/>
                </a:solidFill>
                <a:latin typeface="Courier New" pitchFamily="34" charset="0"/>
                <a:ea typeface="Courier New" pitchFamily="34" charset="-122"/>
                <a:cs typeface="Courier New" pitchFamily="34" charset="-120"/>
              </a:rPr>
              <a:t>deploy/aws · live since 22 Oct 2026</a:t>
            </a:r>
            <a:endParaRPr lang="en-US" sz="10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Engineering quality you can measure</a:t>
            </a:r>
            <a:endParaRPr lang="en-US" sz="3000" dirty="0"/>
          </a:p>
        </p:txBody>
      </p:sp>
      <p:sp>
        <p:nvSpPr>
          <p:cNvPr id="3" name="text-275"/>
          <p:cNvSpPr txBox="1"/>
          <p:nvPr/>
        </p:nvSpPr>
        <p:spPr>
          <a:xfrm>
            <a:off x="548640" y="137160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ourier New" pitchFamily="34" charset="0"/>
                <a:ea typeface="Courier New" pitchFamily="34" charset="-122"/>
                <a:cs typeface="Courier New" pitchFamily="34" charset="-120"/>
              </a:rPr>
              <a:t>719</a:t>
            </a:r>
            <a:endParaRPr lang="en-US" sz="4800" dirty="0"/>
          </a:p>
        </p:txBody>
      </p:sp>
      <p:sp>
        <p:nvSpPr>
          <p:cNvPr id="4" name="text-276"/>
          <p:cNvSpPr txBox="1"/>
          <p:nvPr/>
        </p:nvSpPr>
        <p:spPr>
          <a:xfrm>
            <a:off x="548640" y="2331720"/>
            <a:ext cx="2514600" cy="822960"/>
          </a:xfrm>
          <a:prstGeom prst="rect">
            <a:avLst/>
          </a:prstGeom>
          <a:noFill/>
          <a:ln/>
        </p:spPr>
        <p:txBody>
          <a:bodyPr wrap="square" lIns="0" tIns="0" rIns="0" bIns="0" rtlCol="0" anchor="t"/>
          <a:lstStyle/>
          <a:p>
            <a:pPr indent="0" marL="0">
              <a:buNone/>
            </a:pPr>
            <a:r>
              <a:rPr lang="en-US" sz="1400" dirty="0">
                <a:solidFill>
                  <a:schemeClr val="accent5"/>
                </a:solidFill>
              </a:rPr>
              <a:t>backend tests (unit + integration on real PostgreSQL and S3)</a:t>
            </a:r>
            <a:endParaRPr lang="en-US" sz="1400" dirty="0"/>
          </a:p>
        </p:txBody>
      </p:sp>
      <p:sp>
        <p:nvSpPr>
          <p:cNvPr id="5" name="text-277"/>
          <p:cNvSpPr txBox="1"/>
          <p:nvPr/>
        </p:nvSpPr>
        <p:spPr>
          <a:xfrm>
            <a:off x="3364992" y="137160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ourier New" pitchFamily="34" charset="0"/>
                <a:ea typeface="Courier New" pitchFamily="34" charset="-122"/>
                <a:cs typeface="Courier New" pitchFamily="34" charset="-120"/>
              </a:rPr>
              <a:t>93%</a:t>
            </a:r>
            <a:endParaRPr lang="en-US" sz="4800" dirty="0"/>
          </a:p>
        </p:txBody>
      </p:sp>
      <p:sp>
        <p:nvSpPr>
          <p:cNvPr id="6" name="text-278"/>
          <p:cNvSpPr txBox="1"/>
          <p:nvPr/>
        </p:nvSpPr>
        <p:spPr>
          <a:xfrm>
            <a:off x="3364992" y="2331720"/>
            <a:ext cx="2514600" cy="822960"/>
          </a:xfrm>
          <a:prstGeom prst="rect">
            <a:avLst/>
          </a:prstGeom>
          <a:noFill/>
          <a:ln/>
        </p:spPr>
        <p:txBody>
          <a:bodyPr wrap="square" lIns="0" tIns="0" rIns="0" bIns="0" rtlCol="0" anchor="t"/>
          <a:lstStyle/>
          <a:p>
            <a:pPr indent="0" marL="0">
              <a:buNone/>
            </a:pPr>
            <a:r>
              <a:rPr lang="en-US" sz="1400" dirty="0">
                <a:solidFill>
                  <a:schemeClr val="accent5"/>
                </a:solidFill>
              </a:rPr>
              <a:t>backend line coverage (full gate, 21 Oct 2026)</a:t>
            </a:r>
            <a:endParaRPr lang="en-US" sz="1400" dirty="0"/>
          </a:p>
        </p:txBody>
      </p:sp>
      <p:sp>
        <p:nvSpPr>
          <p:cNvPr id="7" name="text-279"/>
          <p:cNvSpPr txBox="1"/>
          <p:nvPr/>
        </p:nvSpPr>
        <p:spPr>
          <a:xfrm>
            <a:off x="6181344" y="137160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ourier New" pitchFamily="34" charset="0"/>
                <a:ea typeface="Courier New" pitchFamily="34" charset="-122"/>
                <a:cs typeface="Courier New" pitchFamily="34" charset="-120"/>
              </a:rPr>
              <a:t>422</a:t>
            </a:r>
            <a:endParaRPr lang="en-US" sz="4800" dirty="0"/>
          </a:p>
        </p:txBody>
      </p:sp>
      <p:sp>
        <p:nvSpPr>
          <p:cNvPr id="8" name="text-280"/>
          <p:cNvSpPr txBox="1"/>
          <p:nvPr/>
        </p:nvSpPr>
        <p:spPr>
          <a:xfrm>
            <a:off x="6181344" y="2331720"/>
            <a:ext cx="2514600" cy="822960"/>
          </a:xfrm>
          <a:prstGeom prst="rect">
            <a:avLst/>
          </a:prstGeom>
          <a:noFill/>
          <a:ln/>
        </p:spPr>
        <p:txBody>
          <a:bodyPr wrap="square" lIns="0" tIns="0" rIns="0" bIns="0" rtlCol="0" anchor="t"/>
          <a:lstStyle/>
          <a:p>
            <a:pPr indent="0" marL="0">
              <a:buNone/>
            </a:pPr>
            <a:r>
              <a:rPr lang="en-US" sz="1400" dirty="0">
                <a:solidFill>
                  <a:schemeClr val="accent5"/>
                </a:solidFill>
              </a:rPr>
              <a:t>frontend tests, each component with an axe accessibility check</a:t>
            </a:r>
            <a:endParaRPr lang="en-US" sz="1400" dirty="0"/>
          </a:p>
        </p:txBody>
      </p:sp>
      <p:sp>
        <p:nvSpPr>
          <p:cNvPr id="9" name="text-281"/>
          <p:cNvSpPr txBox="1"/>
          <p:nvPr/>
        </p:nvSpPr>
        <p:spPr>
          <a:xfrm>
            <a:off x="8997696" y="1371600"/>
            <a:ext cx="2651760" cy="914400"/>
          </a:xfrm>
          <a:prstGeom prst="rect">
            <a:avLst/>
          </a:prstGeom>
          <a:noFill/>
          <a:ln/>
        </p:spPr>
        <p:txBody>
          <a:bodyPr wrap="square" lIns="0" tIns="0" rIns="0" bIns="0" rtlCol="0" anchor="t"/>
          <a:lstStyle/>
          <a:p>
            <a:pPr indent="0" marL="0">
              <a:buNone/>
            </a:pPr>
            <a:r>
              <a:rPr lang="en-US" sz="4800" b="1" dirty="0">
                <a:solidFill>
                  <a:schemeClr val="accent1"/>
                </a:solidFill>
                <a:latin typeface="Courier New" pitchFamily="34" charset="0"/>
                <a:ea typeface="Courier New" pitchFamily="34" charset="-122"/>
                <a:cs typeface="Courier New" pitchFamily="34" charset="-120"/>
              </a:rPr>
              <a:t>6</a:t>
            </a:r>
            <a:endParaRPr lang="en-US" sz="4800" dirty="0"/>
          </a:p>
        </p:txBody>
      </p:sp>
      <p:sp>
        <p:nvSpPr>
          <p:cNvPr id="10" name="text-282"/>
          <p:cNvSpPr txBox="1"/>
          <p:nvPr/>
        </p:nvSpPr>
        <p:spPr>
          <a:xfrm>
            <a:off x="8997696" y="2331720"/>
            <a:ext cx="2514600" cy="822960"/>
          </a:xfrm>
          <a:prstGeom prst="rect">
            <a:avLst/>
          </a:prstGeom>
          <a:noFill/>
          <a:ln/>
        </p:spPr>
        <p:txBody>
          <a:bodyPr wrap="square" lIns="0" tIns="0" rIns="0" bIns="0" rtlCol="0" anchor="t"/>
          <a:lstStyle/>
          <a:p>
            <a:pPr indent="0" marL="0">
              <a:buNone/>
            </a:pPr>
            <a:r>
              <a:rPr lang="en-US" sz="1400" dirty="0">
                <a:solidFill>
                  <a:schemeClr val="accent5"/>
                </a:solidFill>
              </a:rPr>
              <a:t>architecture contracts enforced by import-linter in CI</a:t>
            </a:r>
            <a:endParaRPr lang="en-US" sz="1400" dirty="0"/>
          </a:p>
        </p:txBody>
      </p:sp>
      <p:sp>
        <p:nvSpPr>
          <p:cNvPr id="11" name="card-283"/>
          <p:cNvSpPr/>
          <p:nvPr/>
        </p:nvSpPr>
        <p:spPr>
          <a:xfrm>
            <a:off x="548640" y="3520440"/>
            <a:ext cx="5440680" cy="548640"/>
          </a:xfrm>
          <a:prstGeom prst="roundRect">
            <a:avLst>
              <a:gd name="adj" fmla="val 16667"/>
            </a:avLst>
          </a:prstGeom>
          <a:solidFill>
            <a:schemeClr val="bg1"/>
          </a:solidFill>
          <a:ln w="9525">
            <a:solidFill>
              <a:srgbClr val="DEDCD6"/>
            </a:solidFill>
            <a:prstDash val="solid"/>
          </a:ln>
        </p:spPr>
      </p:sp>
      <p:sp>
        <p:nvSpPr>
          <p:cNvPr id="12" name="text-284"/>
          <p:cNvSpPr txBox="1"/>
          <p:nvPr/>
        </p:nvSpPr>
        <p:spPr>
          <a:xfrm>
            <a:off x="777240" y="3520440"/>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Style and lint</a:t>
            </a:r>
            <a:endParaRPr lang="en-US" sz="1400" dirty="0"/>
          </a:p>
        </p:txBody>
      </p:sp>
      <p:sp>
        <p:nvSpPr>
          <p:cNvPr id="13" name="text-285"/>
          <p:cNvSpPr txBox="1"/>
          <p:nvPr/>
        </p:nvSpPr>
        <p:spPr>
          <a:xfrm>
            <a:off x="2651760" y="3520440"/>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ruff, prettier, eslint (jsx-a11y)</a:t>
            </a:r>
            <a:endParaRPr lang="en-US" sz="1400" dirty="0"/>
          </a:p>
        </p:txBody>
      </p:sp>
      <p:sp>
        <p:nvSpPr>
          <p:cNvPr id="14" name="card-286"/>
          <p:cNvSpPr/>
          <p:nvPr/>
        </p:nvSpPr>
        <p:spPr>
          <a:xfrm>
            <a:off x="6172200" y="3520440"/>
            <a:ext cx="5440680" cy="548640"/>
          </a:xfrm>
          <a:prstGeom prst="roundRect">
            <a:avLst>
              <a:gd name="adj" fmla="val 16667"/>
            </a:avLst>
          </a:prstGeom>
          <a:solidFill>
            <a:schemeClr val="bg1"/>
          </a:solidFill>
          <a:ln w="9525">
            <a:solidFill>
              <a:srgbClr val="DEDCD6"/>
            </a:solidFill>
            <a:prstDash val="solid"/>
          </a:ln>
        </p:spPr>
      </p:sp>
      <p:sp>
        <p:nvSpPr>
          <p:cNvPr id="15" name="text-287"/>
          <p:cNvSpPr txBox="1"/>
          <p:nvPr/>
        </p:nvSpPr>
        <p:spPr>
          <a:xfrm>
            <a:off x="6400800" y="3520440"/>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Types</a:t>
            </a:r>
            <a:endParaRPr lang="en-US" sz="1400" dirty="0"/>
          </a:p>
        </p:txBody>
      </p:sp>
      <p:sp>
        <p:nvSpPr>
          <p:cNvPr id="16" name="text-288"/>
          <p:cNvSpPr txBox="1"/>
          <p:nvPr/>
        </p:nvSpPr>
        <p:spPr>
          <a:xfrm>
            <a:off x="8275320" y="3520440"/>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mypy strict, TypeScript strict</a:t>
            </a:r>
            <a:endParaRPr lang="en-US" sz="1400" dirty="0"/>
          </a:p>
        </p:txBody>
      </p:sp>
      <p:sp>
        <p:nvSpPr>
          <p:cNvPr id="17" name="card-289"/>
          <p:cNvSpPr/>
          <p:nvPr/>
        </p:nvSpPr>
        <p:spPr>
          <a:xfrm>
            <a:off x="548640" y="4178808"/>
            <a:ext cx="5440680" cy="548640"/>
          </a:xfrm>
          <a:prstGeom prst="roundRect">
            <a:avLst>
              <a:gd name="adj" fmla="val 16667"/>
            </a:avLst>
          </a:prstGeom>
          <a:solidFill>
            <a:schemeClr val="bg1"/>
          </a:solidFill>
          <a:ln w="9525">
            <a:solidFill>
              <a:srgbClr val="DEDCD6"/>
            </a:solidFill>
            <a:prstDash val="solid"/>
          </a:ln>
        </p:spPr>
      </p:sp>
      <p:sp>
        <p:nvSpPr>
          <p:cNvPr id="18" name="text-290"/>
          <p:cNvSpPr txBox="1"/>
          <p:nvPr/>
        </p:nvSpPr>
        <p:spPr>
          <a:xfrm>
            <a:off x="777240" y="4178808"/>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Database</a:t>
            </a:r>
            <a:endParaRPr lang="en-US" sz="1400" dirty="0"/>
          </a:p>
        </p:txBody>
      </p:sp>
      <p:sp>
        <p:nvSpPr>
          <p:cNvPr id="19" name="text-291"/>
          <p:cNvSpPr txBox="1"/>
          <p:nvPr/>
        </p:nvSpPr>
        <p:spPr>
          <a:xfrm>
            <a:off x="2651760" y="4178808"/>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every migration up, down and up again</a:t>
            </a:r>
            <a:endParaRPr lang="en-US" sz="1400" dirty="0"/>
          </a:p>
        </p:txBody>
      </p:sp>
      <p:sp>
        <p:nvSpPr>
          <p:cNvPr id="20" name="card-292"/>
          <p:cNvSpPr/>
          <p:nvPr/>
        </p:nvSpPr>
        <p:spPr>
          <a:xfrm>
            <a:off x="6172200" y="4178808"/>
            <a:ext cx="5440680" cy="548640"/>
          </a:xfrm>
          <a:prstGeom prst="roundRect">
            <a:avLst>
              <a:gd name="adj" fmla="val 16667"/>
            </a:avLst>
          </a:prstGeom>
          <a:solidFill>
            <a:schemeClr val="bg1"/>
          </a:solidFill>
          <a:ln w="9525">
            <a:solidFill>
              <a:srgbClr val="DEDCD6"/>
            </a:solidFill>
            <a:prstDash val="solid"/>
          </a:ln>
        </p:spPr>
      </p:sp>
      <p:sp>
        <p:nvSpPr>
          <p:cNvPr id="21" name="text-293"/>
          <p:cNvSpPr txBox="1"/>
          <p:nvPr/>
        </p:nvSpPr>
        <p:spPr>
          <a:xfrm>
            <a:off x="6400800" y="4178808"/>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Contract</a:t>
            </a:r>
            <a:endParaRPr lang="en-US" sz="1400" dirty="0"/>
          </a:p>
        </p:txBody>
      </p:sp>
      <p:sp>
        <p:nvSpPr>
          <p:cNvPr id="22" name="text-294"/>
          <p:cNvSpPr txBox="1"/>
          <p:nvPr/>
        </p:nvSpPr>
        <p:spPr>
          <a:xfrm>
            <a:off x="8275320" y="4178808"/>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OpenAPI → TypeScript drift check</a:t>
            </a:r>
            <a:endParaRPr lang="en-US" sz="1400" dirty="0"/>
          </a:p>
        </p:txBody>
      </p:sp>
      <p:sp>
        <p:nvSpPr>
          <p:cNvPr id="23" name="card-295"/>
          <p:cNvSpPr/>
          <p:nvPr/>
        </p:nvSpPr>
        <p:spPr>
          <a:xfrm>
            <a:off x="548640" y="4837176"/>
            <a:ext cx="5440680" cy="548640"/>
          </a:xfrm>
          <a:prstGeom prst="roundRect">
            <a:avLst>
              <a:gd name="adj" fmla="val 16667"/>
            </a:avLst>
          </a:prstGeom>
          <a:solidFill>
            <a:schemeClr val="bg1"/>
          </a:solidFill>
          <a:ln w="9525">
            <a:solidFill>
              <a:srgbClr val="DEDCD6"/>
            </a:solidFill>
            <a:prstDash val="solid"/>
          </a:ln>
        </p:spPr>
      </p:sp>
      <p:sp>
        <p:nvSpPr>
          <p:cNvPr id="24" name="text-296"/>
          <p:cNvSpPr txBox="1"/>
          <p:nvPr/>
        </p:nvSpPr>
        <p:spPr>
          <a:xfrm>
            <a:off x="777240" y="4837176"/>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Browser journeys</a:t>
            </a:r>
            <a:endParaRPr lang="en-US" sz="1400" dirty="0"/>
          </a:p>
        </p:txBody>
      </p:sp>
      <p:sp>
        <p:nvSpPr>
          <p:cNvPr id="25" name="text-297"/>
          <p:cNvSpPr txBox="1"/>
          <p:nvPr/>
        </p:nvSpPr>
        <p:spPr>
          <a:xfrm>
            <a:off x="2651760" y="4837176"/>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Playwright, against a real worker</a:t>
            </a:r>
            <a:endParaRPr lang="en-US" sz="1400" dirty="0"/>
          </a:p>
        </p:txBody>
      </p:sp>
      <p:sp>
        <p:nvSpPr>
          <p:cNvPr id="26" name="card-298"/>
          <p:cNvSpPr/>
          <p:nvPr/>
        </p:nvSpPr>
        <p:spPr>
          <a:xfrm>
            <a:off x="6172200" y="4837176"/>
            <a:ext cx="5440680" cy="548640"/>
          </a:xfrm>
          <a:prstGeom prst="roundRect">
            <a:avLst>
              <a:gd name="adj" fmla="val 16667"/>
            </a:avLst>
          </a:prstGeom>
          <a:solidFill>
            <a:schemeClr val="bg1"/>
          </a:solidFill>
          <a:ln w="9525">
            <a:solidFill>
              <a:srgbClr val="DEDCD6"/>
            </a:solidFill>
            <a:prstDash val="solid"/>
          </a:ln>
        </p:spPr>
      </p:sp>
      <p:sp>
        <p:nvSpPr>
          <p:cNvPr id="27" name="text-299"/>
          <p:cNvSpPr txBox="1"/>
          <p:nvPr/>
        </p:nvSpPr>
        <p:spPr>
          <a:xfrm>
            <a:off x="6400800" y="4837176"/>
            <a:ext cx="1828800" cy="548640"/>
          </a:xfrm>
          <a:prstGeom prst="rect">
            <a:avLst/>
          </a:prstGeom>
          <a:noFill/>
          <a:ln/>
        </p:spPr>
        <p:txBody>
          <a:bodyPr wrap="square" lIns="0" tIns="0" rIns="0" bIns="0" rtlCol="0" anchor="ctr"/>
          <a:lstStyle/>
          <a:p>
            <a:pPr indent="0" marL="0">
              <a:buNone/>
            </a:pPr>
            <a:r>
              <a:rPr lang="en-US" sz="1400" b="1" dirty="0">
                <a:solidFill>
                  <a:schemeClr val="tx1"/>
                </a:solidFill>
              </a:rPr>
              <a:t>Supply chain</a:t>
            </a:r>
            <a:endParaRPr lang="en-US" sz="1400" dirty="0"/>
          </a:p>
        </p:txBody>
      </p:sp>
      <p:sp>
        <p:nvSpPr>
          <p:cNvPr id="28" name="text-300"/>
          <p:cNvSpPr txBox="1"/>
          <p:nvPr/>
        </p:nvSpPr>
        <p:spPr>
          <a:xfrm>
            <a:off x="8275320" y="4837176"/>
            <a:ext cx="3200400" cy="548640"/>
          </a:xfrm>
          <a:prstGeom prst="rect">
            <a:avLst/>
          </a:prstGeom>
          <a:noFill/>
          <a:ln/>
        </p:spPr>
        <p:txBody>
          <a:bodyPr wrap="square" lIns="0" tIns="0" rIns="0" bIns="0" rtlCol="0" anchor="ctr"/>
          <a:lstStyle/>
          <a:p>
            <a:pPr indent="0" marL="0">
              <a:buNone/>
            </a:pPr>
            <a:r>
              <a:rPr lang="en-US" sz="1400" dirty="0">
                <a:solidFill>
                  <a:schemeClr val="accent5"/>
                </a:solidFill>
              </a:rPr>
              <a:t>pip-audit, pnpm audit, secret scan</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468880"/>
            <a:ext cx="6949440" cy="118872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Business prospect</a:t>
            </a:r>
            <a:endParaRPr lang="en-US" sz="4400" dirty="0"/>
          </a:p>
        </p:txBody>
      </p:sp>
      <p:sp>
        <p:nvSpPr>
          <p:cNvPr id="3" name="Text 0"/>
          <p:cNvSpPr/>
          <p:nvPr>
            <p:ph idx="101" type="body" hasCustomPrompt="1"/>
          </p:nvPr>
        </p:nvSpPr>
        <p:spPr>
          <a:xfrm>
            <a:off x="548640" y="3703320"/>
            <a:ext cx="6949440" cy="128016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Who it serves, how it competes, how it could earn, and what is still open.</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Positioned where trust matters more than flair</a:t>
            </a:r>
            <a:endParaRPr lang="en-US" sz="3000" dirty="0"/>
          </a:p>
        </p:txBody>
      </p:sp>
      <p:graphicFrame>
        <p:nvGraphicFramePr>
          <p:cNvPr id="22" name="positioning"/>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2514600"/>
                <a:gridCol w="1600200"/>
                <a:gridCol w="1234440"/>
                <a:gridCol w="1417320"/>
              </a:tblGrid>
              <a:tr h="475488">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7F0EC"/>
                    </a:solidFill>
                  </a:tcPr>
                </a:tc>
                <a:tc>
                  <a:txBody>
                    <a:bodyPr/>
                    <a:lstStyle/>
                    <a:p>
                      <a:pPr algn="ctr" indent="0" marL="0">
                        <a:buNone/>
                      </a:pPr>
                      <a:r>
                        <a:rPr lang="en-US" sz="1400" b="1" dirty="0">
                          <a:solidFill>
                            <a:srgbClr val="1F2421"/>
                          </a:solidFill>
                          <a:latin typeface="Calibri" pitchFamily="34" charset="0"/>
                          <a:ea typeface="Calibri" pitchFamily="34" charset="-122"/>
                          <a:cs typeface="Calibri" pitchFamily="34" charset="-120"/>
                        </a:rPr>
                        <a:t>InsightfulCell</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7F0EC"/>
                    </a:solidFill>
                  </a:tcPr>
                </a:tc>
                <a:tc>
                  <a:txBody>
                    <a:bodyPr/>
                    <a:lstStyle/>
                    <a:p>
                      <a:pPr algn="ctr" indent="0" marL="0">
                        <a:buNone/>
                      </a:pPr>
                      <a:r>
                        <a:rPr lang="en-US" sz="1400" b="1" dirty="0">
                          <a:solidFill>
                            <a:srgbClr val="1F2421"/>
                          </a:solidFill>
                          <a:latin typeface="Calibri" pitchFamily="34" charset="0"/>
                          <a:ea typeface="Calibri" pitchFamily="34" charset="-122"/>
                          <a:cs typeface="Calibri" pitchFamily="34" charset="-120"/>
                        </a:rPr>
                        <a:t>AI assistant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7F0EC"/>
                    </a:solidFill>
                  </a:tcPr>
                </a:tc>
                <a:tc>
                  <a:txBody>
                    <a:bodyPr/>
                    <a:lstStyle/>
                    <a:p>
                      <a:pPr algn="ctr" indent="0" marL="0">
                        <a:buNone/>
                      </a:pPr>
                      <a:r>
                        <a:rPr lang="en-US" sz="1400" b="1" dirty="0">
                          <a:solidFill>
                            <a:srgbClr val="1F2421"/>
                          </a:solidFill>
                          <a:latin typeface="Calibri" pitchFamily="34" charset="0"/>
                          <a:ea typeface="Calibri" pitchFamily="34" charset="-122"/>
                          <a:cs typeface="Calibri" pitchFamily="34" charset="-120"/>
                        </a:rPr>
                        <a:t>BI / statistics tool</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7F0EC"/>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Every number traceable to a test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Raw rows stay private</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No analyst needed</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False discoveries controlled</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Manual</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Reproducible recipe</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Partly</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r h="475488">
                <a:tc>
                  <a:txBody>
                    <a:bodyPr/>
                    <a:lstStyle/>
                    <a:p>
                      <a:pPr algn="l" indent="0" marL="0">
                        <a:buNone/>
                      </a:pPr>
                      <a:r>
                        <a:rPr lang="en-US" sz="1400" b="1" dirty="0">
                          <a:solidFill>
                            <a:srgbClr val="1F2421"/>
                          </a:solidFill>
                          <a:latin typeface="Calibri" pitchFamily="34" charset="0"/>
                          <a:ea typeface="Calibri" pitchFamily="34" charset="-122"/>
                          <a:cs typeface="Calibri" pitchFamily="34" charset="-120"/>
                        </a:rPr>
                        <a:t>Plain-language report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2F6F62"/>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EEF4F1"/>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c>
                  <a:txBody>
                    <a:bodyPr/>
                    <a:lstStyle/>
                    <a:p>
                      <a:pPr algn="ctr" indent="0" marL="0">
                        <a:buNone/>
                      </a:pPr>
                      <a:r>
                        <a:rPr lang="en-US" sz="1400" dirty="0">
                          <a:solidFill>
                            <a:srgbClr val="1F2421"/>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DEDCD6"/>
                      </a:solidFill>
                      <a:prstDash val="solid"/>
                      <a:round/>
                      <a:headEnd type="none" w="med" len="med"/>
                      <a:tailEnd type="none" w="med" len="med"/>
                    </a:lnL>
                    <a:lnR w="9525" cap="flat" cmpd="sng" algn="ctr">
                      <a:solidFill>
                        <a:srgbClr val="DEDCD6"/>
                      </a:solidFill>
                      <a:prstDash val="solid"/>
                      <a:round/>
                      <a:headEnd type="none" w="med" len="med"/>
                      <a:tailEnd type="none" w="med" len="med"/>
                    </a:lnR>
                    <a:lnT w="9525" cap="flat" cmpd="sng" algn="ctr">
                      <a:solidFill>
                        <a:srgbClr val="DEDCD6"/>
                      </a:solidFill>
                      <a:prstDash val="solid"/>
                      <a:round/>
                      <a:headEnd type="none" w="med" len="med"/>
                      <a:tailEnd type="none" w="med" len="med"/>
                    </a:lnT>
                    <a:lnB w="9525" cap="flat" cmpd="sng" algn="ctr">
                      <a:solidFill>
                        <a:srgbClr val="DEDCD6"/>
                      </a:solidFill>
                      <a:prstDash val="solid"/>
                      <a:round/>
                      <a:headEnd type="none" w="med" len="med"/>
                      <a:tailEnd type="none" w="med" len="med"/>
                    </a:lnB>
                    <a:solidFill>
                      <a:srgbClr val="FCFCFA"/>
                    </a:solidFill>
                  </a:tcPr>
                </a:tc>
              </a:tr>
            </a:tbl>
          </a:graphicData>
        </a:graphic>
      </p:graphicFrame>
      <p:sp>
        <p:nvSpPr>
          <p:cNvPr id="4" name="text-301"/>
          <p:cNvSpPr txBox="1"/>
          <p:nvPr/>
        </p:nvSpPr>
        <p:spPr>
          <a:xfrm>
            <a:off x="7680960" y="1325880"/>
            <a:ext cx="393192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Who it is for</a:t>
            </a:r>
            <a:endParaRPr lang="en-US" sz="1800" dirty="0"/>
          </a:p>
        </p:txBody>
      </p:sp>
      <p:sp>
        <p:nvSpPr>
          <p:cNvPr id="5" name="icon-dot-302"/>
          <p:cNvSpPr/>
          <p:nvPr/>
        </p:nvSpPr>
        <p:spPr>
          <a:xfrm>
            <a:off x="7680960" y="1828800"/>
            <a:ext cx="502920" cy="502920"/>
          </a:xfrm>
          <a:prstGeom prst="ellipse">
            <a:avLst/>
          </a:prstGeom>
          <a:solidFill>
            <a:srgbClr val="E7F0EC"/>
          </a:solidFill>
          <a:ln w="12700">
            <a:solidFill>
              <a:srgbClr val="E7F0EC"/>
            </a:solidFill>
            <a:prstDash val="solid"/>
          </a:ln>
        </p:spPr>
      </p:sp>
      <p:pic>
        <p:nvPicPr>
          <p:cNvPr id="6" name="icon-303" descr="preencoded.png">    </p:cNvPr>
          <p:cNvPicPr>
            <a:picLocks noChangeAspect="1"/>
          </p:cNvPicPr>
          <p:nvPr/>
        </p:nvPicPr>
        <p:blipFill>
          <a:blip r:embed="rId1"/>
          <a:stretch>
            <a:fillRect/>
          </a:stretch>
        </p:blipFill>
        <p:spPr>
          <a:xfrm>
            <a:off x="7801661" y="1949501"/>
            <a:ext cx="261518" cy="261518"/>
          </a:xfrm>
          <a:prstGeom prst="rect">
            <a:avLst/>
          </a:prstGeom>
        </p:spPr>
      </p:pic>
      <p:sp>
        <p:nvSpPr>
          <p:cNvPr id="7" name="text-304"/>
          <p:cNvSpPr txBox="1"/>
          <p:nvPr/>
        </p:nvSpPr>
        <p:spPr>
          <a:xfrm>
            <a:off x="8321040" y="1810512"/>
            <a:ext cx="3291840" cy="868680"/>
          </a:xfrm>
          <a:prstGeom prst="rect">
            <a:avLst/>
          </a:prstGeom>
          <a:noFill/>
          <a:ln/>
        </p:spPr>
        <p:txBody>
          <a:bodyPr wrap="square" lIns="0" tIns="0" rIns="0" bIns="0" rtlCol="0" anchor="t"/>
          <a:lstStyle/>
          <a:p>
            <a:pPr indent="0" marL="0">
              <a:buNone/>
            </a:pPr>
            <a:r>
              <a:rPr lang="en-US" sz="1400" b="1" dirty="0">
                <a:solidFill>
                  <a:schemeClr val="tx1"/>
                </a:solidFill>
              </a:rPr>
              <a:t>Small and medium businesses</a:t>
            </a:r>
            <a:endParaRPr lang="en-US" sz="1400" dirty="0"/>
          </a:p>
          <a:p>
            <a:pPr indent="0" marL="0">
              <a:buNone/>
            </a:pPr>
            <a:r>
              <a:rPr lang="en-US" sz="1200" dirty="0">
                <a:solidFill>
                  <a:schemeClr val="accent5"/>
                </a:solidFill>
              </a:rPr>
              <a:t>sales, operations and service data, no analyst on staff</a:t>
            </a:r>
            <a:endParaRPr lang="en-US" sz="1400" dirty="0"/>
          </a:p>
        </p:txBody>
      </p:sp>
      <p:sp>
        <p:nvSpPr>
          <p:cNvPr id="8" name="icon-dot-305"/>
          <p:cNvSpPr/>
          <p:nvPr/>
        </p:nvSpPr>
        <p:spPr>
          <a:xfrm>
            <a:off x="7680960" y="2788920"/>
            <a:ext cx="502920" cy="502920"/>
          </a:xfrm>
          <a:prstGeom prst="ellipse">
            <a:avLst/>
          </a:prstGeom>
          <a:solidFill>
            <a:srgbClr val="E7F0EC"/>
          </a:solidFill>
          <a:ln w="12700">
            <a:solidFill>
              <a:srgbClr val="E7F0EC"/>
            </a:solidFill>
            <a:prstDash val="solid"/>
          </a:ln>
        </p:spPr>
      </p:sp>
      <p:pic>
        <p:nvPicPr>
          <p:cNvPr id="9" name="icon-306" descr="preencoded.png">    </p:cNvPr>
          <p:cNvPicPr>
            <a:picLocks noChangeAspect="1"/>
          </p:cNvPicPr>
          <p:nvPr/>
        </p:nvPicPr>
        <p:blipFill>
          <a:blip r:embed="rId2"/>
          <a:stretch>
            <a:fillRect/>
          </a:stretch>
        </p:blipFill>
        <p:spPr>
          <a:xfrm>
            <a:off x="7801661" y="2909621"/>
            <a:ext cx="261518" cy="261518"/>
          </a:xfrm>
          <a:prstGeom prst="rect">
            <a:avLst/>
          </a:prstGeom>
        </p:spPr>
      </p:pic>
      <p:sp>
        <p:nvSpPr>
          <p:cNvPr id="10" name="text-307"/>
          <p:cNvSpPr txBox="1"/>
          <p:nvPr/>
        </p:nvSpPr>
        <p:spPr>
          <a:xfrm>
            <a:off x="8321040" y="2770632"/>
            <a:ext cx="3291840" cy="868680"/>
          </a:xfrm>
          <a:prstGeom prst="rect">
            <a:avLst/>
          </a:prstGeom>
          <a:noFill/>
          <a:ln/>
        </p:spPr>
        <p:txBody>
          <a:bodyPr wrap="square" lIns="0" tIns="0" rIns="0" bIns="0" rtlCol="0" anchor="t"/>
          <a:lstStyle/>
          <a:p>
            <a:pPr indent="0" marL="0">
              <a:buNone/>
            </a:pPr>
            <a:r>
              <a:rPr lang="en-US" sz="1400" b="1" dirty="0">
                <a:solidFill>
                  <a:schemeClr val="tx1"/>
                </a:solidFill>
              </a:rPr>
              <a:t>NGOs and public sector</a:t>
            </a:r>
            <a:endParaRPr lang="en-US" sz="1400" dirty="0"/>
          </a:p>
          <a:p>
            <a:pPr indent="0" marL="0">
              <a:buNone/>
            </a:pPr>
            <a:r>
              <a:rPr lang="en-US" sz="1200" dirty="0">
                <a:solidFill>
                  <a:schemeClr val="accent5"/>
                </a:solidFill>
              </a:rPr>
              <a:t>sensitive records that cannot go to an AI vendor</a:t>
            </a:r>
            <a:endParaRPr lang="en-US" sz="1400" dirty="0"/>
          </a:p>
        </p:txBody>
      </p:sp>
      <p:sp>
        <p:nvSpPr>
          <p:cNvPr id="11" name="icon-dot-308"/>
          <p:cNvSpPr/>
          <p:nvPr/>
        </p:nvSpPr>
        <p:spPr>
          <a:xfrm>
            <a:off x="7680960" y="3749040"/>
            <a:ext cx="502920" cy="502920"/>
          </a:xfrm>
          <a:prstGeom prst="ellipse">
            <a:avLst/>
          </a:prstGeom>
          <a:solidFill>
            <a:srgbClr val="E7F0EC"/>
          </a:solidFill>
          <a:ln w="12700">
            <a:solidFill>
              <a:srgbClr val="E7F0EC"/>
            </a:solidFill>
            <a:prstDash val="solid"/>
          </a:ln>
        </p:spPr>
      </p:sp>
      <p:pic>
        <p:nvPicPr>
          <p:cNvPr id="12" name="icon-309" descr="preencoded.png">    </p:cNvPr>
          <p:cNvPicPr>
            <a:picLocks noChangeAspect="1"/>
          </p:cNvPicPr>
          <p:nvPr/>
        </p:nvPicPr>
        <p:blipFill>
          <a:blip r:embed="rId3"/>
          <a:stretch>
            <a:fillRect/>
          </a:stretch>
        </p:blipFill>
        <p:spPr>
          <a:xfrm>
            <a:off x="7801661" y="3869741"/>
            <a:ext cx="261518" cy="261518"/>
          </a:xfrm>
          <a:prstGeom prst="rect">
            <a:avLst/>
          </a:prstGeom>
        </p:spPr>
      </p:pic>
      <p:sp>
        <p:nvSpPr>
          <p:cNvPr id="13" name="text-310"/>
          <p:cNvSpPr txBox="1"/>
          <p:nvPr/>
        </p:nvSpPr>
        <p:spPr>
          <a:xfrm>
            <a:off x="8321040" y="3730752"/>
            <a:ext cx="3291840" cy="868680"/>
          </a:xfrm>
          <a:prstGeom prst="rect">
            <a:avLst/>
          </a:prstGeom>
          <a:noFill/>
          <a:ln/>
        </p:spPr>
        <p:txBody>
          <a:bodyPr wrap="square" lIns="0" tIns="0" rIns="0" bIns="0" rtlCol="0" anchor="t"/>
          <a:lstStyle/>
          <a:p>
            <a:pPr indent="0" marL="0">
              <a:buNone/>
            </a:pPr>
            <a:r>
              <a:rPr lang="en-US" sz="1400" b="1" dirty="0">
                <a:solidFill>
                  <a:schemeClr val="tx1"/>
                </a:solidFill>
              </a:rPr>
              <a:t>Students and researchers</a:t>
            </a:r>
            <a:endParaRPr lang="en-US" sz="1400" dirty="0"/>
          </a:p>
          <a:p>
            <a:pPr indent="0" marL="0">
              <a:buNone/>
            </a:pPr>
            <a:r>
              <a:rPr lang="en-US" sz="1200" dirty="0">
                <a:solidFill>
                  <a:schemeClr val="accent5"/>
                </a:solidFill>
              </a:rPr>
              <a:t>auditable statistics and a reproducible recipe</a:t>
            </a:r>
            <a:endParaRPr lang="en-US" sz="1400" dirty="0"/>
          </a:p>
        </p:txBody>
      </p:sp>
      <p:sp>
        <p:nvSpPr>
          <p:cNvPr id="14" name="icon-dot-311"/>
          <p:cNvSpPr/>
          <p:nvPr/>
        </p:nvSpPr>
        <p:spPr>
          <a:xfrm>
            <a:off x="7680960" y="4709160"/>
            <a:ext cx="502920" cy="502920"/>
          </a:xfrm>
          <a:prstGeom prst="ellipse">
            <a:avLst/>
          </a:prstGeom>
          <a:solidFill>
            <a:srgbClr val="E7F0EC"/>
          </a:solidFill>
          <a:ln w="12700">
            <a:solidFill>
              <a:srgbClr val="E7F0EC"/>
            </a:solidFill>
            <a:prstDash val="solid"/>
          </a:ln>
        </p:spPr>
      </p:sp>
      <p:pic>
        <p:nvPicPr>
          <p:cNvPr id="15" name="icon-312" descr="preencoded.png">    </p:cNvPr>
          <p:cNvPicPr>
            <a:picLocks noChangeAspect="1"/>
          </p:cNvPicPr>
          <p:nvPr/>
        </p:nvPicPr>
        <p:blipFill>
          <a:blip r:embed="rId4"/>
          <a:stretch>
            <a:fillRect/>
          </a:stretch>
        </p:blipFill>
        <p:spPr>
          <a:xfrm>
            <a:off x="7801661" y="4829861"/>
            <a:ext cx="261518" cy="261518"/>
          </a:xfrm>
          <a:prstGeom prst="rect">
            <a:avLst/>
          </a:prstGeom>
        </p:spPr>
      </p:pic>
      <p:sp>
        <p:nvSpPr>
          <p:cNvPr id="16" name="text-313"/>
          <p:cNvSpPr txBox="1"/>
          <p:nvPr/>
        </p:nvSpPr>
        <p:spPr>
          <a:xfrm>
            <a:off x="8321040" y="4690872"/>
            <a:ext cx="3291840" cy="868680"/>
          </a:xfrm>
          <a:prstGeom prst="rect">
            <a:avLst/>
          </a:prstGeom>
          <a:noFill/>
          <a:ln/>
        </p:spPr>
        <p:txBody>
          <a:bodyPr wrap="square" lIns="0" tIns="0" rIns="0" bIns="0" rtlCol="0" anchor="t"/>
          <a:lstStyle/>
          <a:p>
            <a:pPr indent="0" marL="0">
              <a:buNone/>
            </a:pPr>
            <a:r>
              <a:rPr lang="en-US" sz="1400" b="1" dirty="0">
                <a:solidFill>
                  <a:schemeClr val="tx1"/>
                </a:solidFill>
              </a:rPr>
              <a:t>Consultants</a:t>
            </a:r>
            <a:endParaRPr lang="en-US" sz="1400" dirty="0"/>
          </a:p>
          <a:p>
            <a:pPr indent="0" marL="0">
              <a:buNone/>
            </a:pPr>
            <a:r>
              <a:rPr lang="en-US" sz="1200" dirty="0">
                <a:solidFill>
                  <a:schemeClr val="accent5"/>
                </a:solidFill>
              </a:rPr>
              <a:t>fast first analysis with evidence for the client</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A proposed model: AI cost stays optional</a:t>
            </a:r>
            <a:endParaRPr lang="en-US" sz="3000" dirty="0"/>
          </a:p>
        </p:txBody>
      </p:sp>
      <p:sp>
        <p:nvSpPr>
          <p:cNvPr id="3" name="card-314"/>
          <p:cNvSpPr/>
          <p:nvPr/>
        </p:nvSpPr>
        <p:spPr>
          <a:xfrm>
            <a:off x="548640" y="1325880"/>
            <a:ext cx="3566160" cy="3291840"/>
          </a:xfrm>
          <a:prstGeom prst="roundRect">
            <a:avLst>
              <a:gd name="adj" fmla="val 2778"/>
            </a:avLst>
          </a:prstGeom>
          <a:solidFill>
            <a:schemeClr val="bg1"/>
          </a:solidFill>
          <a:ln w="9525">
            <a:solidFill>
              <a:srgbClr val="DEDCD6"/>
            </a:solidFill>
            <a:prstDash val="solid"/>
          </a:ln>
        </p:spPr>
      </p:sp>
      <p:sp>
        <p:nvSpPr>
          <p:cNvPr id="4" name="text-315"/>
          <p:cNvSpPr txBox="1"/>
          <p:nvPr/>
        </p:nvSpPr>
        <p:spPr>
          <a:xfrm>
            <a:off x="822960" y="1508760"/>
            <a:ext cx="30175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Community</a:t>
            </a:r>
            <a:endParaRPr lang="en-US" sz="2000" dirty="0"/>
          </a:p>
        </p:txBody>
      </p:sp>
      <p:sp>
        <p:nvSpPr>
          <p:cNvPr id="5" name="text-316"/>
          <p:cNvSpPr txBox="1"/>
          <p:nvPr/>
        </p:nvSpPr>
        <p:spPr>
          <a:xfrm>
            <a:off x="822960" y="1938528"/>
            <a:ext cx="3017520" cy="320040"/>
          </a:xfrm>
          <a:prstGeom prst="rect">
            <a:avLst/>
          </a:prstGeom>
          <a:noFill/>
          <a:ln/>
        </p:spPr>
        <p:txBody>
          <a:bodyPr wrap="square" lIns="0" tIns="0" rIns="0" bIns="0" rtlCol="0" anchor="t"/>
          <a:lstStyle/>
          <a:p>
            <a:pPr indent="0" marL="0">
              <a:buNone/>
            </a:pPr>
            <a:r>
              <a:rPr lang="en-US" sz="1400" b="1" dirty="0">
                <a:solidFill>
                  <a:schemeClr val="accent1"/>
                </a:solidFill>
              </a:rPr>
              <a:t>Free</a:t>
            </a:r>
            <a:endParaRPr lang="en-US" sz="1400" dirty="0"/>
          </a:p>
        </p:txBody>
      </p:sp>
      <p:sp>
        <p:nvSpPr>
          <p:cNvPr id="6" name="bullets-317"/>
          <p:cNvSpPr txBox="1"/>
          <p:nvPr/>
        </p:nvSpPr>
        <p:spPr>
          <a:xfrm>
            <a:off x="822960" y="2423160"/>
            <a:ext cx="306324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Rules planner and template narration</a:t>
            </a:r>
            <a:endParaRPr lang="en-US" sz="1400" dirty="0"/>
          </a:p>
          <a:p>
            <a:pPr marL="203200" indent="-203200">
              <a:spcAft>
                <a:spcPts val="800"/>
              </a:spcAft>
              <a:buSzPct val="100000"/>
              <a:buChar char="•"/>
            </a:pPr>
            <a:r>
              <a:rPr lang="en-US" sz="1400" dirty="0">
                <a:solidFill>
                  <a:schemeClr val="tx1"/>
                </a:solidFill>
              </a:rPr>
              <a:t>All checks, charts, maps, exports</a:t>
            </a:r>
            <a:endParaRPr lang="en-US" sz="1400" dirty="0"/>
          </a:p>
          <a:p>
            <a:pPr marL="203200" indent="-203200">
              <a:spcAft>
                <a:spcPts val="800"/>
              </a:spcAft>
              <a:buSzPct val="100000"/>
              <a:buChar char="•"/>
            </a:pPr>
            <a:r>
              <a:rPr lang="en-US" sz="1400" dirty="0">
                <a:solidFill>
                  <a:schemeClr val="tx1"/>
                </a:solidFill>
              </a:rPr>
              <a:t>No AI cost to serve</a:t>
            </a:r>
            <a:endParaRPr lang="en-US" sz="1400" dirty="0"/>
          </a:p>
        </p:txBody>
      </p:sp>
      <p:sp>
        <p:nvSpPr>
          <p:cNvPr id="7" name="card-318"/>
          <p:cNvSpPr/>
          <p:nvPr/>
        </p:nvSpPr>
        <p:spPr>
          <a:xfrm>
            <a:off x="4297680" y="1325880"/>
            <a:ext cx="3566160" cy="3291840"/>
          </a:xfrm>
          <a:prstGeom prst="roundRect">
            <a:avLst>
              <a:gd name="adj" fmla="val 2778"/>
            </a:avLst>
          </a:prstGeom>
          <a:solidFill>
            <a:srgbClr val="E7F0EC"/>
          </a:solidFill>
          <a:ln w="9525">
            <a:solidFill>
              <a:srgbClr val="DEDCD6"/>
            </a:solidFill>
            <a:prstDash val="solid"/>
          </a:ln>
        </p:spPr>
      </p:sp>
      <p:sp>
        <p:nvSpPr>
          <p:cNvPr id="8" name="text-319"/>
          <p:cNvSpPr txBox="1"/>
          <p:nvPr/>
        </p:nvSpPr>
        <p:spPr>
          <a:xfrm>
            <a:off x="4572000" y="1508760"/>
            <a:ext cx="30175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Pro</a:t>
            </a:r>
            <a:endParaRPr lang="en-US" sz="2000" dirty="0"/>
          </a:p>
        </p:txBody>
      </p:sp>
      <p:sp>
        <p:nvSpPr>
          <p:cNvPr id="9" name="text-320"/>
          <p:cNvSpPr txBox="1"/>
          <p:nvPr/>
        </p:nvSpPr>
        <p:spPr>
          <a:xfrm>
            <a:off x="4572000" y="1938528"/>
            <a:ext cx="3017520" cy="320040"/>
          </a:xfrm>
          <a:prstGeom prst="rect">
            <a:avLst/>
          </a:prstGeom>
          <a:noFill/>
          <a:ln/>
        </p:spPr>
        <p:txBody>
          <a:bodyPr wrap="square" lIns="0" tIns="0" rIns="0" bIns="0" rtlCol="0" anchor="t"/>
          <a:lstStyle/>
          <a:p>
            <a:pPr indent="0" marL="0">
              <a:buNone/>
            </a:pPr>
            <a:r>
              <a:rPr lang="en-US" sz="1400" b="1" dirty="0">
                <a:solidFill>
                  <a:schemeClr val="accent1"/>
                </a:solidFill>
              </a:rPr>
              <a:t>Per seat</a:t>
            </a:r>
            <a:endParaRPr lang="en-US" sz="1400" dirty="0"/>
          </a:p>
        </p:txBody>
      </p:sp>
      <p:sp>
        <p:nvSpPr>
          <p:cNvPr id="10" name="bullets-321"/>
          <p:cNvSpPr txBox="1"/>
          <p:nvPr/>
        </p:nvSpPr>
        <p:spPr>
          <a:xfrm>
            <a:off x="4572000" y="2423160"/>
            <a:ext cx="306324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Model-planned questions and narration</a:t>
            </a:r>
            <a:endParaRPr lang="en-US" sz="1400" dirty="0"/>
          </a:p>
          <a:p>
            <a:pPr marL="203200" indent="-203200">
              <a:spcAft>
                <a:spcPts val="800"/>
              </a:spcAft>
              <a:buSzPct val="100000"/>
              <a:buChar char="•"/>
            </a:pPr>
            <a:r>
              <a:rPr lang="en-US" sz="1400" dirty="0">
                <a:solidFill>
                  <a:schemeClr val="tx1"/>
                </a:solidFill>
              </a:rPr>
              <a:t>Per-person hard spend cap</a:t>
            </a:r>
            <a:endParaRPr lang="en-US" sz="1400" dirty="0"/>
          </a:p>
          <a:p>
            <a:pPr marL="203200" indent="-203200">
              <a:spcAft>
                <a:spcPts val="800"/>
              </a:spcAft>
              <a:buSzPct val="100000"/>
              <a:buChar char="•"/>
            </a:pPr>
            <a:r>
              <a:rPr lang="en-US" sz="1400" dirty="0">
                <a:solidFill>
                  <a:schemeClr val="tx1"/>
                </a:solidFill>
              </a:rPr>
              <a:t>Priority processing</a:t>
            </a:r>
            <a:endParaRPr lang="en-US" sz="1400" dirty="0"/>
          </a:p>
        </p:txBody>
      </p:sp>
      <p:sp>
        <p:nvSpPr>
          <p:cNvPr id="11" name="card-322"/>
          <p:cNvSpPr/>
          <p:nvPr/>
        </p:nvSpPr>
        <p:spPr>
          <a:xfrm>
            <a:off x="8046720" y="1325880"/>
            <a:ext cx="3566160" cy="3291840"/>
          </a:xfrm>
          <a:prstGeom prst="roundRect">
            <a:avLst>
              <a:gd name="adj" fmla="val 2778"/>
            </a:avLst>
          </a:prstGeom>
          <a:solidFill>
            <a:schemeClr val="bg1"/>
          </a:solidFill>
          <a:ln w="9525">
            <a:solidFill>
              <a:srgbClr val="DEDCD6"/>
            </a:solidFill>
            <a:prstDash val="solid"/>
          </a:ln>
        </p:spPr>
      </p:sp>
      <p:sp>
        <p:nvSpPr>
          <p:cNvPr id="12" name="text-323"/>
          <p:cNvSpPr txBox="1"/>
          <p:nvPr/>
        </p:nvSpPr>
        <p:spPr>
          <a:xfrm>
            <a:off x="8321040" y="1508760"/>
            <a:ext cx="3017520" cy="41148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Team / private</a:t>
            </a:r>
            <a:endParaRPr lang="en-US" sz="2000" dirty="0"/>
          </a:p>
        </p:txBody>
      </p:sp>
      <p:sp>
        <p:nvSpPr>
          <p:cNvPr id="13" name="text-324"/>
          <p:cNvSpPr txBox="1"/>
          <p:nvPr/>
        </p:nvSpPr>
        <p:spPr>
          <a:xfrm>
            <a:off x="8321040" y="1938528"/>
            <a:ext cx="3017520" cy="320040"/>
          </a:xfrm>
          <a:prstGeom prst="rect">
            <a:avLst/>
          </a:prstGeom>
          <a:noFill/>
          <a:ln/>
        </p:spPr>
        <p:txBody>
          <a:bodyPr wrap="square" lIns="0" tIns="0" rIns="0" bIns="0" rtlCol="0" anchor="t"/>
          <a:lstStyle/>
          <a:p>
            <a:pPr indent="0" marL="0">
              <a:buNone/>
            </a:pPr>
            <a:r>
              <a:rPr lang="en-US" sz="1400" b="1" dirty="0">
                <a:solidFill>
                  <a:schemeClr val="accent1"/>
                </a:solidFill>
              </a:rPr>
              <a:t>Per organisation</a:t>
            </a:r>
            <a:endParaRPr lang="en-US" sz="1400" dirty="0"/>
          </a:p>
        </p:txBody>
      </p:sp>
      <p:sp>
        <p:nvSpPr>
          <p:cNvPr id="14" name="bullets-325"/>
          <p:cNvSpPr txBox="1"/>
          <p:nvPr/>
        </p:nvSpPr>
        <p:spPr>
          <a:xfrm>
            <a:off x="8321040" y="2423160"/>
            <a:ext cx="3063240" cy="20116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Organisation workspaces and roles</a:t>
            </a:r>
            <a:endParaRPr lang="en-US" sz="1400" dirty="0"/>
          </a:p>
          <a:p>
            <a:pPr marL="203200" indent="-203200">
              <a:spcAft>
                <a:spcPts val="800"/>
              </a:spcAft>
              <a:buSzPct val="100000"/>
              <a:buChar char="•"/>
            </a:pPr>
            <a:r>
              <a:rPr lang="en-US" sz="1400" dirty="0">
                <a:solidFill>
                  <a:schemeClr val="tx1"/>
                </a:solidFill>
              </a:rPr>
              <a:t>Self-hosted on the customer’s cloud</a:t>
            </a:r>
            <a:endParaRPr lang="en-US" sz="1400" dirty="0"/>
          </a:p>
          <a:p>
            <a:pPr marL="203200" indent="-203200">
              <a:spcAft>
                <a:spcPts val="800"/>
              </a:spcAft>
              <a:buSzPct val="100000"/>
              <a:buChar char="•"/>
            </a:pPr>
            <a:r>
              <a:rPr lang="en-US" sz="1400" dirty="0">
                <a:solidFill>
                  <a:schemeClr val="tx1"/>
                </a:solidFill>
              </a:rPr>
              <a:t>Audit log and SSO (roadmap)</a:t>
            </a:r>
            <a:endParaRPr lang="en-US" sz="1400" dirty="0"/>
          </a:p>
        </p:txBody>
      </p:sp>
      <p:sp>
        <p:nvSpPr>
          <p:cNvPr id="15" name="text-326"/>
          <p:cNvSpPr txBox="1"/>
          <p:nvPr/>
        </p:nvSpPr>
        <p:spPr>
          <a:xfrm>
            <a:off x="548640" y="4846320"/>
            <a:ext cx="3566160" cy="54864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 US$0.26</a:t>
            </a:r>
            <a:endParaRPr lang="en-US" sz="2600" dirty="0"/>
          </a:p>
        </p:txBody>
      </p:sp>
      <p:sp>
        <p:nvSpPr>
          <p:cNvPr id="16" name="text-327"/>
          <p:cNvSpPr txBox="1"/>
          <p:nvPr/>
        </p:nvSpPr>
        <p:spPr>
          <a:xfrm>
            <a:off x="548640" y="5394960"/>
            <a:ext cx="3474720" cy="548640"/>
          </a:xfrm>
          <a:prstGeom prst="rect">
            <a:avLst/>
          </a:prstGeom>
          <a:noFill/>
          <a:ln/>
        </p:spPr>
        <p:txBody>
          <a:bodyPr wrap="square" lIns="0" tIns="0" rIns="0" bIns="0" rtlCol="0" anchor="t"/>
          <a:lstStyle/>
          <a:p>
            <a:pPr indent="0" marL="0">
              <a:buNone/>
            </a:pPr>
            <a:r>
              <a:rPr lang="en-US" sz="1300" dirty="0">
                <a:solidFill>
                  <a:schemeClr val="accent5"/>
                </a:solidFill>
              </a:rPr>
              <a:t>target model cost per run (baseline design)</a:t>
            </a:r>
            <a:endParaRPr lang="en-US" sz="1300" dirty="0"/>
          </a:p>
        </p:txBody>
      </p:sp>
      <p:sp>
        <p:nvSpPr>
          <p:cNvPr id="17" name="text-328"/>
          <p:cNvSpPr txBox="1"/>
          <p:nvPr/>
        </p:nvSpPr>
        <p:spPr>
          <a:xfrm>
            <a:off x="4297680" y="4846320"/>
            <a:ext cx="3566160" cy="54864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a:t>
            </a:r>
            <a:endParaRPr lang="en-US" sz="2600" dirty="0"/>
          </a:p>
        </p:txBody>
      </p:sp>
      <p:sp>
        <p:nvSpPr>
          <p:cNvPr id="18" name="text-329"/>
          <p:cNvSpPr txBox="1"/>
          <p:nvPr/>
        </p:nvSpPr>
        <p:spPr>
          <a:xfrm>
            <a:off x="4297680" y="5394960"/>
            <a:ext cx="3474720" cy="548640"/>
          </a:xfrm>
          <a:prstGeom prst="rect">
            <a:avLst/>
          </a:prstGeom>
          <a:noFill/>
          <a:ln/>
        </p:spPr>
        <p:txBody>
          <a:bodyPr wrap="square" lIns="0" tIns="0" rIns="0" bIns="0" rtlCol="0" anchor="t"/>
          <a:lstStyle/>
          <a:p>
            <a:pPr indent="0" marL="0">
              <a:buNone/>
            </a:pPr>
            <a:r>
              <a:rPr lang="en-US" sz="1300" dirty="0">
                <a:solidFill>
                  <a:schemeClr val="accent5"/>
                </a:solidFill>
              </a:rPr>
              <a:t>model cost per run in rules-only mode, as on the live site today</a:t>
            </a:r>
            <a:endParaRPr lang="en-US" sz="1300" dirty="0"/>
          </a:p>
        </p:txBody>
      </p:sp>
      <p:sp>
        <p:nvSpPr>
          <p:cNvPr id="19" name="text-330"/>
          <p:cNvSpPr txBox="1"/>
          <p:nvPr/>
        </p:nvSpPr>
        <p:spPr>
          <a:xfrm>
            <a:off x="8046720" y="4846320"/>
            <a:ext cx="3566160" cy="54864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1 host</a:t>
            </a:r>
            <a:endParaRPr lang="en-US" sz="2600" dirty="0"/>
          </a:p>
        </p:txBody>
      </p:sp>
      <p:sp>
        <p:nvSpPr>
          <p:cNvPr id="20" name="text-331"/>
          <p:cNvSpPr txBox="1"/>
          <p:nvPr/>
        </p:nvSpPr>
        <p:spPr>
          <a:xfrm>
            <a:off x="8046720" y="5394960"/>
            <a:ext cx="3474720" cy="548640"/>
          </a:xfrm>
          <a:prstGeom prst="rect">
            <a:avLst/>
          </a:prstGeom>
          <a:noFill/>
          <a:ln/>
        </p:spPr>
        <p:txBody>
          <a:bodyPr wrap="square" lIns="0" tIns="0" rIns="0" bIns="0" rtlCol="0" anchor="t"/>
          <a:lstStyle/>
          <a:p>
            <a:pPr indent="0" marL="0">
              <a:buNone/>
            </a:pPr>
            <a:r>
              <a:rPr lang="en-US" sz="1300" dirty="0">
                <a:solidFill>
                  <a:schemeClr val="accent5"/>
                </a:solidFill>
              </a:rPr>
              <a:t>runs the whole stack; scales by instance size first</a:t>
            </a:r>
            <a:endParaRPr lang="en-US" sz="1300" dirty="0"/>
          </a:p>
        </p:txBody>
      </p:sp>
      <p:sp>
        <p:nvSpPr>
          <p:cNvPr id="21" name="chip-332"/>
          <p:cNvSpPr/>
          <p:nvPr/>
        </p:nvSpPr>
        <p:spPr>
          <a:xfrm>
            <a:off x="548640" y="5943600"/>
            <a:ext cx="3108960" cy="274320"/>
          </a:xfrm>
          <a:prstGeom prst="roundRect">
            <a:avLst>
              <a:gd name="adj" fmla="val 20000"/>
            </a:avLst>
          </a:prstGeom>
          <a:solidFill>
            <a:srgbClr val="E7F0EC"/>
          </a:solidFill>
          <a:ln w="9525">
            <a:solidFill>
              <a:srgbClr val="2F6F62"/>
            </a:solidFill>
            <a:prstDash val="solid"/>
          </a:ln>
        </p:spPr>
      </p:sp>
      <p:sp>
        <p:nvSpPr>
          <p:cNvPr id="22" name="chip-text-333"/>
          <p:cNvSpPr txBox="1"/>
          <p:nvPr/>
        </p:nvSpPr>
        <p:spPr>
          <a:xfrm>
            <a:off x="548640" y="5943600"/>
            <a:ext cx="3108960" cy="274320"/>
          </a:xfrm>
          <a:prstGeom prst="rect">
            <a:avLst/>
          </a:prstGeom>
          <a:noFill/>
          <a:ln/>
        </p:spPr>
        <p:txBody>
          <a:bodyPr wrap="square" lIns="0" tIns="0" rIns="0" bIns="0" rtlCol="0" anchor="ctr"/>
          <a:lstStyle/>
          <a:p>
            <a:pPr algn="ctr" indent="0" marL="0">
              <a:buNone/>
            </a:pPr>
            <a:r>
              <a:rPr lang="en-US" sz="1000" dirty="0">
                <a:solidFill>
                  <a:srgbClr val="2F6F62"/>
                </a:solidFill>
                <a:latin typeface="Courier New" pitchFamily="34" charset="0"/>
                <a:ea typeface="Courier New" pitchFamily="34" charset="-122"/>
                <a:cs typeface="Courier New" pitchFamily="34" charset="-120"/>
              </a:rPr>
              <a:t>PROPOSED · pricing not yet validated</a:t>
            </a:r>
            <a:endParaRPr lang="en-US" sz="10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Honest limitations, and what we learned</a:t>
            </a:r>
            <a:endParaRPr lang="en-US" sz="3000" dirty="0"/>
          </a:p>
        </p:txBody>
      </p:sp>
      <p:sp>
        <p:nvSpPr>
          <p:cNvPr id="3" name="card-334"/>
          <p:cNvSpPr/>
          <p:nvPr/>
        </p:nvSpPr>
        <p:spPr>
          <a:xfrm>
            <a:off x="548640" y="1325880"/>
            <a:ext cx="6949440" cy="896112"/>
          </a:xfrm>
          <a:prstGeom prst="roundRect">
            <a:avLst>
              <a:gd name="adj" fmla="val 10204"/>
            </a:avLst>
          </a:prstGeom>
          <a:solidFill>
            <a:schemeClr val="bg1"/>
          </a:solidFill>
          <a:ln w="9525">
            <a:solidFill>
              <a:srgbClr val="DEDCD6"/>
            </a:solidFill>
            <a:prstDash val="solid"/>
          </a:ln>
        </p:spPr>
      </p:sp>
      <p:sp>
        <p:nvSpPr>
          <p:cNvPr id="4" name="warn-335"/>
          <p:cNvSpPr/>
          <p:nvPr/>
        </p:nvSpPr>
        <p:spPr>
          <a:xfrm>
            <a:off x="777240" y="1618488"/>
            <a:ext cx="310896" cy="310896"/>
          </a:xfrm>
          <a:prstGeom prst="ellipse">
            <a:avLst/>
          </a:prstGeom>
          <a:solidFill>
            <a:srgbClr val="86621F"/>
          </a:solidFill>
          <a:ln w="12700">
            <a:solidFill>
              <a:srgbClr val="86621F"/>
            </a:solidFill>
            <a:prstDash val="solid"/>
          </a:ln>
        </p:spPr>
      </p:sp>
      <p:sp>
        <p:nvSpPr>
          <p:cNvPr id="5" name="text-336"/>
          <p:cNvSpPr txBox="1"/>
          <p:nvPr/>
        </p:nvSpPr>
        <p:spPr>
          <a:xfrm>
            <a:off x="1280160" y="1417320"/>
            <a:ext cx="6080760" cy="777240"/>
          </a:xfrm>
          <a:prstGeom prst="rect">
            <a:avLst/>
          </a:prstGeom>
          <a:noFill/>
          <a:ln/>
        </p:spPr>
        <p:txBody>
          <a:bodyPr wrap="square" lIns="0" tIns="0" rIns="0" bIns="0" rtlCol="0" anchor="ctr"/>
          <a:lstStyle/>
          <a:p>
            <a:pPr indent="0" marL="0">
              <a:buNone/>
            </a:pPr>
            <a:r>
              <a:rPr lang="en-US" sz="1400" b="1" dirty="0">
                <a:solidFill>
                  <a:schemeClr val="tx1"/>
                </a:solidFill>
              </a:rPr>
              <a:t>Automatic cleaning can still change data silently</a:t>
            </a:r>
            <a:endParaRPr lang="en-US" sz="1400" dirty="0"/>
          </a:p>
          <a:p>
            <a:pPr indent="0" marL="0">
              <a:buNone/>
            </a:pPr>
            <a:r>
              <a:rPr lang="en-US" sz="1250" dirty="0">
                <a:solidFill>
                  <a:schemeClr val="accent5"/>
                </a:solidFill>
              </a:rPr>
              <a:t>in a few cases (0–100 percentage columns, decimal commas, close-sounding names). Use Manual review for sensitive work until fixed.</a:t>
            </a:r>
            <a:endParaRPr lang="en-US" sz="1400" dirty="0"/>
          </a:p>
        </p:txBody>
      </p:sp>
      <p:sp>
        <p:nvSpPr>
          <p:cNvPr id="6" name="card-337"/>
          <p:cNvSpPr/>
          <p:nvPr/>
        </p:nvSpPr>
        <p:spPr>
          <a:xfrm>
            <a:off x="548640" y="2350008"/>
            <a:ext cx="6949440" cy="896112"/>
          </a:xfrm>
          <a:prstGeom prst="roundRect">
            <a:avLst>
              <a:gd name="adj" fmla="val 10204"/>
            </a:avLst>
          </a:prstGeom>
          <a:solidFill>
            <a:schemeClr val="bg1"/>
          </a:solidFill>
          <a:ln w="9525">
            <a:solidFill>
              <a:srgbClr val="DEDCD6"/>
            </a:solidFill>
            <a:prstDash val="solid"/>
          </a:ln>
        </p:spPr>
      </p:sp>
      <p:sp>
        <p:nvSpPr>
          <p:cNvPr id="7" name="warn-338"/>
          <p:cNvSpPr/>
          <p:nvPr/>
        </p:nvSpPr>
        <p:spPr>
          <a:xfrm>
            <a:off x="777240" y="2642616"/>
            <a:ext cx="310896" cy="310896"/>
          </a:xfrm>
          <a:prstGeom prst="ellipse">
            <a:avLst/>
          </a:prstGeom>
          <a:solidFill>
            <a:srgbClr val="86621F"/>
          </a:solidFill>
          <a:ln w="12700">
            <a:solidFill>
              <a:srgbClr val="86621F"/>
            </a:solidFill>
            <a:prstDash val="solid"/>
          </a:ln>
        </p:spPr>
      </p:sp>
      <p:sp>
        <p:nvSpPr>
          <p:cNvPr id="8" name="text-339"/>
          <p:cNvSpPr txBox="1"/>
          <p:nvPr/>
        </p:nvSpPr>
        <p:spPr>
          <a:xfrm>
            <a:off x="1280160" y="2441448"/>
            <a:ext cx="6080760" cy="777240"/>
          </a:xfrm>
          <a:prstGeom prst="rect">
            <a:avLst/>
          </a:prstGeom>
          <a:noFill/>
          <a:ln/>
        </p:spPr>
        <p:txBody>
          <a:bodyPr wrap="square" lIns="0" tIns="0" rIns="0" bIns="0" rtlCol="0" anchor="ctr"/>
          <a:lstStyle/>
          <a:p>
            <a:pPr indent="0" marL="0">
              <a:buNone/>
            </a:pPr>
            <a:r>
              <a:rPr lang="en-US" sz="1400" b="1" dirty="0">
                <a:solidFill>
                  <a:schemeClr val="tx1"/>
                </a:solidFill>
              </a:rPr>
              <a:t>Asking questions in plain language is not built yet</a:t>
            </a:r>
            <a:endParaRPr lang="en-US" sz="1400" dirty="0"/>
          </a:p>
          <a:p>
            <a:pPr indent="0" marL="0">
              <a:buNone/>
            </a:pPr>
            <a:r>
              <a:rPr lang="en-US" sz="1250" dirty="0">
                <a:solidFill>
                  <a:schemeClr val="accent5"/>
                </a:solidFill>
              </a:rPr>
              <a:t>Phase 7: tiered Q&amp;A with closed tools, quotas and an answer cache.</a:t>
            </a:r>
            <a:endParaRPr lang="en-US" sz="1400" dirty="0"/>
          </a:p>
        </p:txBody>
      </p:sp>
      <p:sp>
        <p:nvSpPr>
          <p:cNvPr id="9" name="card-340"/>
          <p:cNvSpPr/>
          <p:nvPr/>
        </p:nvSpPr>
        <p:spPr>
          <a:xfrm>
            <a:off x="548640" y="3374136"/>
            <a:ext cx="6949440" cy="896112"/>
          </a:xfrm>
          <a:prstGeom prst="roundRect">
            <a:avLst>
              <a:gd name="adj" fmla="val 10204"/>
            </a:avLst>
          </a:prstGeom>
          <a:solidFill>
            <a:schemeClr val="bg1"/>
          </a:solidFill>
          <a:ln w="9525">
            <a:solidFill>
              <a:srgbClr val="DEDCD6"/>
            </a:solidFill>
            <a:prstDash val="solid"/>
          </a:ln>
        </p:spPr>
      </p:sp>
      <p:sp>
        <p:nvSpPr>
          <p:cNvPr id="10" name="warn-341"/>
          <p:cNvSpPr/>
          <p:nvPr/>
        </p:nvSpPr>
        <p:spPr>
          <a:xfrm>
            <a:off x="777240" y="3666744"/>
            <a:ext cx="310896" cy="310896"/>
          </a:xfrm>
          <a:prstGeom prst="ellipse">
            <a:avLst/>
          </a:prstGeom>
          <a:solidFill>
            <a:srgbClr val="86621F"/>
          </a:solidFill>
          <a:ln w="12700">
            <a:solidFill>
              <a:srgbClr val="86621F"/>
            </a:solidFill>
            <a:prstDash val="solid"/>
          </a:ln>
        </p:spPr>
      </p:sp>
      <p:sp>
        <p:nvSpPr>
          <p:cNvPr id="11" name="text-342"/>
          <p:cNvSpPr txBox="1"/>
          <p:nvPr/>
        </p:nvSpPr>
        <p:spPr>
          <a:xfrm>
            <a:off x="1280160" y="3465576"/>
            <a:ext cx="6080760" cy="777240"/>
          </a:xfrm>
          <a:prstGeom prst="rect">
            <a:avLst/>
          </a:prstGeom>
          <a:noFill/>
          <a:ln/>
        </p:spPr>
        <p:txBody>
          <a:bodyPr wrap="square" lIns="0" tIns="0" rIns="0" bIns="0" rtlCol="0" anchor="ctr"/>
          <a:lstStyle/>
          <a:p>
            <a:pPr indent="0" marL="0">
              <a:buNone/>
            </a:pPr>
            <a:r>
              <a:rPr lang="en-US" sz="1400" b="1" dirty="0">
                <a:solidFill>
                  <a:schemeClr val="tx1"/>
                </a:solidFill>
              </a:rPr>
              <a:t>Production is one small server</a:t>
            </a:r>
            <a:endParaRPr lang="en-US" sz="1400" dirty="0"/>
          </a:p>
          <a:p>
            <a:pPr indent="0" marL="0">
              <a:buNone/>
            </a:pPr>
            <a:r>
              <a:rPr lang="en-US" sz="1250" dirty="0">
                <a:solidFill>
                  <a:schemeClr val="accent5"/>
                </a:solidFill>
              </a:rPr>
              <a:t>no staging, monitoring, alerts or point-in-time recovery yet; one analysis at a time.</a:t>
            </a:r>
            <a:endParaRPr lang="en-US" sz="1400" dirty="0"/>
          </a:p>
        </p:txBody>
      </p:sp>
      <p:sp>
        <p:nvSpPr>
          <p:cNvPr id="12" name="card-343"/>
          <p:cNvSpPr/>
          <p:nvPr/>
        </p:nvSpPr>
        <p:spPr>
          <a:xfrm>
            <a:off x="548640" y="4398264"/>
            <a:ext cx="6949440" cy="896112"/>
          </a:xfrm>
          <a:prstGeom prst="roundRect">
            <a:avLst>
              <a:gd name="adj" fmla="val 10204"/>
            </a:avLst>
          </a:prstGeom>
          <a:solidFill>
            <a:schemeClr val="bg1"/>
          </a:solidFill>
          <a:ln w="9525">
            <a:solidFill>
              <a:srgbClr val="DEDCD6"/>
            </a:solidFill>
            <a:prstDash val="solid"/>
          </a:ln>
        </p:spPr>
      </p:sp>
      <p:sp>
        <p:nvSpPr>
          <p:cNvPr id="13" name="warn-344"/>
          <p:cNvSpPr/>
          <p:nvPr/>
        </p:nvSpPr>
        <p:spPr>
          <a:xfrm>
            <a:off x="777240" y="4690872"/>
            <a:ext cx="310896" cy="310896"/>
          </a:xfrm>
          <a:prstGeom prst="ellipse">
            <a:avLst/>
          </a:prstGeom>
          <a:solidFill>
            <a:srgbClr val="86621F"/>
          </a:solidFill>
          <a:ln w="12700">
            <a:solidFill>
              <a:srgbClr val="86621F"/>
            </a:solidFill>
            <a:prstDash val="solid"/>
          </a:ln>
        </p:spPr>
      </p:sp>
      <p:sp>
        <p:nvSpPr>
          <p:cNvPr id="14" name="text-345"/>
          <p:cNvSpPr txBox="1"/>
          <p:nvPr/>
        </p:nvSpPr>
        <p:spPr>
          <a:xfrm>
            <a:off x="1280160" y="4489704"/>
            <a:ext cx="6080760" cy="777240"/>
          </a:xfrm>
          <a:prstGeom prst="rect">
            <a:avLst/>
          </a:prstGeom>
          <a:noFill/>
          <a:ln/>
        </p:spPr>
        <p:txBody>
          <a:bodyPr wrap="square" lIns="0" tIns="0" rIns="0" bIns="0" rtlCol="0" anchor="ctr"/>
          <a:lstStyle/>
          <a:p>
            <a:pPr indent="0" marL="0">
              <a:buNone/>
            </a:pPr>
            <a:r>
              <a:rPr lang="en-US" sz="1400" b="1" dirty="0">
                <a:solidFill>
                  <a:schemeClr val="tx1"/>
                </a:solidFill>
              </a:rPr>
              <a:t>Accounts are basic</a:t>
            </a:r>
            <a:endParaRPr lang="en-US" sz="1400" dirty="0"/>
          </a:p>
          <a:p>
            <a:pPr indent="0" marL="0">
              <a:buNone/>
            </a:pPr>
            <a:r>
              <a:rPr lang="en-US" sz="1250" dirty="0">
                <a:solidFill>
                  <a:schemeClr val="accent5"/>
                </a:solidFill>
              </a:rPr>
              <a:t>one workspace per person, email not verified, no invitations in the UI.</a:t>
            </a:r>
            <a:endParaRPr lang="en-US" sz="1400" dirty="0"/>
          </a:p>
        </p:txBody>
      </p:sp>
      <p:sp>
        <p:nvSpPr>
          <p:cNvPr id="15" name="text-346"/>
          <p:cNvSpPr txBox="1"/>
          <p:nvPr/>
        </p:nvSpPr>
        <p:spPr>
          <a:xfrm>
            <a:off x="7818120" y="1325880"/>
            <a:ext cx="374904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we learned</a:t>
            </a:r>
            <a:endParaRPr lang="en-US" sz="1800" dirty="0"/>
          </a:p>
        </p:txBody>
      </p:sp>
      <p:sp>
        <p:nvSpPr>
          <p:cNvPr id="16" name="bullets-347"/>
          <p:cNvSpPr txBox="1"/>
          <p:nvPr/>
        </p:nvSpPr>
        <p:spPr>
          <a:xfrm>
            <a:off x="7818120" y="1828800"/>
            <a:ext cx="3794760" cy="39319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Data preparation, not statistics, is where trust is won or lost</a:t>
            </a:r>
            <a:endParaRPr lang="en-US" sz="1400" dirty="0"/>
          </a:p>
          <a:p>
            <a:pPr marL="203200" indent="-203200">
              <a:spcAft>
                <a:spcPts val="800"/>
              </a:spcAft>
              <a:buSzPct val="100000"/>
              <a:buChar char="•"/>
            </a:pPr>
            <a:r>
              <a:rPr lang="en-US" sz="1400" dirty="0">
                <a:solidFill>
                  <a:schemeClr val="tx1"/>
                </a:solidFill>
              </a:rPr>
              <a:t>A product that works without AI is cheaper, faster and easier to trust</a:t>
            </a:r>
            <a:endParaRPr lang="en-US" sz="1400" dirty="0"/>
          </a:p>
          <a:p>
            <a:pPr marL="203200" indent="-203200">
              <a:spcAft>
                <a:spcPts val="800"/>
              </a:spcAft>
              <a:buSzPct val="100000"/>
              <a:buChar char="•"/>
            </a:pPr>
            <a:r>
              <a:rPr lang="en-US" sz="1400" dirty="0">
                <a:solidFill>
                  <a:schemeClr val="tx1"/>
                </a:solidFill>
              </a:rPr>
              <a:t>Enforcing rules in the database and in CI beats relying on convention</a:t>
            </a:r>
            <a:endParaRPr lang="en-US" sz="1400" dirty="0"/>
          </a:p>
          <a:p>
            <a:pPr marL="203200" indent="-203200">
              <a:spcAft>
                <a:spcPts val="800"/>
              </a:spcAft>
              <a:buSzPct val="100000"/>
              <a:buChar char="•"/>
            </a:pPr>
            <a:r>
              <a:rPr lang="en-US" sz="1400" dirty="0">
                <a:solidFill>
                  <a:schemeClr val="tx1"/>
                </a:solidFill>
              </a:rPr>
              <a:t>Testing on a real deployment finds what local tests miss (the S3 regional host)</a:t>
            </a:r>
            <a:endParaRPr lang="en-US" sz="14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0241280" cy="68580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Roadmap</a:t>
            </a:r>
            <a:endParaRPr lang="en-US" sz="3000" dirty="0"/>
          </a:p>
        </p:txBody>
      </p:sp>
      <p:sp>
        <p:nvSpPr>
          <p:cNvPr id="3" name="timeline"/>
          <p:cNvSpPr/>
          <p:nvPr/>
        </p:nvSpPr>
        <p:spPr>
          <a:xfrm>
            <a:off x="731520" y="2743200"/>
            <a:ext cx="10698480" cy="0"/>
          </a:xfrm>
          <a:prstGeom prst="line">
            <a:avLst/>
          </a:prstGeom>
          <a:noFill/>
          <a:ln w="25400">
            <a:solidFill>
              <a:srgbClr val="DEDCD6"/>
            </a:solidFill>
            <a:prstDash val="solid"/>
          </a:ln>
        </p:spPr>
      </p:sp>
      <p:sp>
        <p:nvSpPr>
          <p:cNvPr id="4" name="ms-348"/>
          <p:cNvSpPr/>
          <p:nvPr/>
        </p:nvSpPr>
        <p:spPr>
          <a:xfrm>
            <a:off x="594360" y="2578608"/>
            <a:ext cx="329184" cy="329184"/>
          </a:xfrm>
          <a:prstGeom prst="ellipse">
            <a:avLst/>
          </a:prstGeom>
          <a:solidFill>
            <a:srgbClr val="2F6F62"/>
          </a:solidFill>
          <a:ln w="15875">
            <a:solidFill>
              <a:srgbClr val="2F6F62"/>
            </a:solidFill>
            <a:prstDash val="solid"/>
          </a:ln>
        </p:spPr>
      </p:sp>
      <p:sp>
        <p:nvSpPr>
          <p:cNvPr id="5" name="text-349"/>
          <p:cNvSpPr txBox="1"/>
          <p:nvPr/>
        </p:nvSpPr>
        <p:spPr>
          <a:xfrm>
            <a:off x="548640" y="2011680"/>
            <a:ext cx="1508760" cy="36576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Done</a:t>
            </a:r>
            <a:endParaRPr lang="en-US" sz="1100" dirty="0"/>
          </a:p>
        </p:txBody>
      </p:sp>
      <p:sp>
        <p:nvSpPr>
          <p:cNvPr id="6" name="text-350"/>
          <p:cNvSpPr txBox="1"/>
          <p:nvPr/>
        </p:nvSpPr>
        <p:spPr>
          <a:xfrm>
            <a:off x="548640"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Phases 0–6</a:t>
            </a:r>
            <a:endParaRPr lang="en-US" sz="1400" dirty="0"/>
          </a:p>
        </p:txBody>
      </p:sp>
      <p:sp>
        <p:nvSpPr>
          <p:cNvPr id="7" name="text-351"/>
          <p:cNvSpPr txBox="1"/>
          <p:nvPr/>
        </p:nvSpPr>
        <p:spPr>
          <a:xfrm>
            <a:off x="548640"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Sign-in, uploads, queue, pipeline, narration, report, dashboard, exports</a:t>
            </a:r>
            <a:endParaRPr lang="en-US" sz="1200" dirty="0"/>
          </a:p>
        </p:txBody>
      </p:sp>
      <p:sp>
        <p:nvSpPr>
          <p:cNvPr id="8" name="ms-352"/>
          <p:cNvSpPr/>
          <p:nvPr/>
        </p:nvSpPr>
        <p:spPr>
          <a:xfrm>
            <a:off x="2167128" y="2578608"/>
            <a:ext cx="329184" cy="329184"/>
          </a:xfrm>
          <a:prstGeom prst="ellipse">
            <a:avLst/>
          </a:prstGeom>
          <a:solidFill>
            <a:srgbClr val="2F6F62"/>
          </a:solidFill>
          <a:ln w="15875">
            <a:solidFill>
              <a:srgbClr val="2F6F62"/>
            </a:solidFill>
            <a:prstDash val="solid"/>
          </a:ln>
        </p:spPr>
      </p:sp>
      <p:sp>
        <p:nvSpPr>
          <p:cNvPr id="9" name="text-353"/>
          <p:cNvSpPr txBox="1"/>
          <p:nvPr/>
        </p:nvSpPr>
        <p:spPr>
          <a:xfrm>
            <a:off x="2121408" y="2011680"/>
            <a:ext cx="1508760" cy="36576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22 Oct 2026</a:t>
            </a:r>
            <a:endParaRPr lang="en-US" sz="1100" dirty="0"/>
          </a:p>
        </p:txBody>
      </p:sp>
      <p:sp>
        <p:nvSpPr>
          <p:cNvPr id="10" name="text-354"/>
          <p:cNvSpPr txBox="1"/>
          <p:nvPr/>
        </p:nvSpPr>
        <p:spPr>
          <a:xfrm>
            <a:off x="2121408"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Live on AWS</a:t>
            </a:r>
            <a:endParaRPr lang="en-US" sz="1400" dirty="0"/>
          </a:p>
        </p:txBody>
      </p:sp>
      <p:sp>
        <p:nvSpPr>
          <p:cNvPr id="11" name="text-355"/>
          <p:cNvSpPr txBox="1"/>
          <p:nvPr/>
        </p:nvSpPr>
        <p:spPr>
          <a:xfrm>
            <a:off x="2121408"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One host, HTTPS, S3, nightly backups, CI-built images</a:t>
            </a:r>
            <a:endParaRPr lang="en-US" sz="1200" dirty="0"/>
          </a:p>
        </p:txBody>
      </p:sp>
      <p:sp>
        <p:nvSpPr>
          <p:cNvPr id="12" name="ms-356"/>
          <p:cNvSpPr/>
          <p:nvPr/>
        </p:nvSpPr>
        <p:spPr>
          <a:xfrm>
            <a:off x="3739896" y="2578608"/>
            <a:ext cx="329184" cy="329184"/>
          </a:xfrm>
          <a:prstGeom prst="ellipse">
            <a:avLst/>
          </a:prstGeom>
          <a:solidFill>
            <a:srgbClr val="FCFCFA"/>
          </a:solidFill>
          <a:ln w="15875">
            <a:solidFill>
              <a:srgbClr val="2F6F62"/>
            </a:solidFill>
            <a:prstDash val="solid"/>
          </a:ln>
        </p:spPr>
      </p:sp>
      <p:sp>
        <p:nvSpPr>
          <p:cNvPr id="13" name="text-357"/>
          <p:cNvSpPr txBox="1"/>
          <p:nvPr/>
        </p:nvSpPr>
        <p:spPr>
          <a:xfrm>
            <a:off x="3694176" y="2011680"/>
            <a:ext cx="1508760" cy="365760"/>
          </a:xfrm>
          <a:prstGeom prst="rect">
            <a:avLst/>
          </a:prstGeom>
          <a:noFill/>
          <a:ln/>
        </p:spPr>
        <p:txBody>
          <a:bodyPr wrap="square" lIns="0" tIns="0" rIns="0" bIns="0" rtlCol="0" anchor="t"/>
          <a:lstStyle/>
          <a:p>
            <a:pPr indent="0" marL="0">
              <a:buNone/>
            </a:pPr>
            <a:r>
              <a:rPr lang="en-US" sz="1100" b="1" dirty="0">
                <a:solidFill>
                  <a:schemeClr val="accent5"/>
                </a:solidFill>
                <a:latin typeface="Courier New" pitchFamily="34" charset="0"/>
                <a:ea typeface="Courier New" pitchFamily="34" charset="-122"/>
                <a:cs typeface="Courier New" pitchFamily="34" charset="-120"/>
              </a:rPr>
              <a:t>Next</a:t>
            </a:r>
            <a:endParaRPr lang="en-US" sz="1100" dirty="0"/>
          </a:p>
        </p:txBody>
      </p:sp>
      <p:sp>
        <p:nvSpPr>
          <p:cNvPr id="14" name="text-358"/>
          <p:cNvSpPr txBox="1"/>
          <p:nvPr/>
        </p:nvSpPr>
        <p:spPr>
          <a:xfrm>
            <a:off x="3694176"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Phase 7 · Q&amp;A</a:t>
            </a:r>
            <a:endParaRPr lang="en-US" sz="1400" dirty="0"/>
          </a:p>
        </p:txBody>
      </p:sp>
      <p:sp>
        <p:nvSpPr>
          <p:cNvPr id="15" name="text-359"/>
          <p:cNvSpPr txBox="1"/>
          <p:nvPr/>
        </p:nvSpPr>
        <p:spPr>
          <a:xfrm>
            <a:off x="3694176"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Ask questions of your data with closed, verified tools</a:t>
            </a:r>
            <a:endParaRPr lang="en-US" sz="1200" dirty="0"/>
          </a:p>
        </p:txBody>
      </p:sp>
      <p:sp>
        <p:nvSpPr>
          <p:cNvPr id="16" name="ms-360"/>
          <p:cNvSpPr/>
          <p:nvPr/>
        </p:nvSpPr>
        <p:spPr>
          <a:xfrm>
            <a:off x="5312664" y="2578608"/>
            <a:ext cx="329184" cy="329184"/>
          </a:xfrm>
          <a:prstGeom prst="ellipse">
            <a:avLst/>
          </a:prstGeom>
          <a:solidFill>
            <a:srgbClr val="FCFCFA"/>
          </a:solidFill>
          <a:ln w="15875">
            <a:solidFill>
              <a:srgbClr val="2F6F62"/>
            </a:solidFill>
            <a:prstDash val="solid"/>
          </a:ln>
        </p:spPr>
      </p:sp>
      <p:sp>
        <p:nvSpPr>
          <p:cNvPr id="17" name="text-361"/>
          <p:cNvSpPr txBox="1"/>
          <p:nvPr/>
        </p:nvSpPr>
        <p:spPr>
          <a:xfrm>
            <a:off x="5266944" y="2011680"/>
            <a:ext cx="1508760" cy="365760"/>
          </a:xfrm>
          <a:prstGeom prst="rect">
            <a:avLst/>
          </a:prstGeom>
          <a:noFill/>
          <a:ln/>
        </p:spPr>
        <p:txBody>
          <a:bodyPr wrap="square" lIns="0" tIns="0" rIns="0" bIns="0" rtlCol="0" anchor="t"/>
          <a:lstStyle/>
          <a:p>
            <a:pPr indent="0" marL="0">
              <a:buNone/>
            </a:pPr>
            <a:r>
              <a:rPr lang="en-US" sz="1100" b="1" dirty="0">
                <a:solidFill>
                  <a:schemeClr val="accent5"/>
                </a:solidFill>
                <a:latin typeface="Courier New" pitchFamily="34" charset="0"/>
                <a:ea typeface="Courier New" pitchFamily="34" charset="-122"/>
                <a:cs typeface="Courier New" pitchFamily="34" charset="-120"/>
              </a:rPr>
              <a:t>Next</a:t>
            </a:r>
            <a:endParaRPr lang="en-US" sz="1100" dirty="0"/>
          </a:p>
        </p:txBody>
      </p:sp>
      <p:sp>
        <p:nvSpPr>
          <p:cNvPr id="18" name="text-362"/>
          <p:cNvSpPr txBox="1"/>
          <p:nvPr/>
        </p:nvSpPr>
        <p:spPr>
          <a:xfrm>
            <a:off x="5266944"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Phase 8 · Operations</a:t>
            </a:r>
            <a:endParaRPr lang="en-US" sz="1400" dirty="0"/>
          </a:p>
        </p:txBody>
      </p:sp>
      <p:sp>
        <p:nvSpPr>
          <p:cNvPr id="19" name="text-363"/>
          <p:cNvSpPr txBox="1"/>
          <p:nvPr/>
        </p:nvSpPr>
        <p:spPr>
          <a:xfrm>
            <a:off x="5266944"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Staging, monitoring, audit log, rate limits, retention</a:t>
            </a:r>
            <a:endParaRPr lang="en-US" sz="1200" dirty="0"/>
          </a:p>
        </p:txBody>
      </p:sp>
      <p:sp>
        <p:nvSpPr>
          <p:cNvPr id="20" name="ms-364"/>
          <p:cNvSpPr/>
          <p:nvPr/>
        </p:nvSpPr>
        <p:spPr>
          <a:xfrm>
            <a:off x="6885432" y="2578608"/>
            <a:ext cx="329184" cy="329184"/>
          </a:xfrm>
          <a:prstGeom prst="ellipse">
            <a:avLst/>
          </a:prstGeom>
          <a:solidFill>
            <a:srgbClr val="FCFCFA"/>
          </a:solidFill>
          <a:ln w="15875">
            <a:solidFill>
              <a:srgbClr val="2F6F62"/>
            </a:solidFill>
            <a:prstDash val="solid"/>
          </a:ln>
        </p:spPr>
      </p:sp>
      <p:sp>
        <p:nvSpPr>
          <p:cNvPr id="21" name="text-365"/>
          <p:cNvSpPr txBox="1"/>
          <p:nvPr/>
        </p:nvSpPr>
        <p:spPr>
          <a:xfrm>
            <a:off x="6839712" y="2011680"/>
            <a:ext cx="1508760" cy="365760"/>
          </a:xfrm>
          <a:prstGeom prst="rect">
            <a:avLst/>
          </a:prstGeom>
          <a:noFill/>
          <a:ln/>
        </p:spPr>
        <p:txBody>
          <a:bodyPr wrap="square" lIns="0" tIns="0" rIns="0" bIns="0" rtlCol="0" anchor="t"/>
          <a:lstStyle/>
          <a:p>
            <a:pPr indent="0" marL="0">
              <a:buNone/>
            </a:pPr>
            <a:r>
              <a:rPr lang="en-US" sz="1100" b="1" dirty="0">
                <a:solidFill>
                  <a:schemeClr val="accent5"/>
                </a:solidFill>
                <a:latin typeface="Courier New" pitchFamily="34" charset="0"/>
                <a:ea typeface="Courier New" pitchFamily="34" charset="-122"/>
                <a:cs typeface="Courier New" pitchFamily="34" charset="-120"/>
              </a:rPr>
              <a:t>11 Dec 2026</a:t>
            </a:r>
            <a:endParaRPr lang="en-US" sz="1100" dirty="0"/>
          </a:p>
        </p:txBody>
      </p:sp>
      <p:sp>
        <p:nvSpPr>
          <p:cNvPr id="22" name="text-366"/>
          <p:cNvSpPr txBox="1"/>
          <p:nvPr/>
        </p:nvSpPr>
        <p:spPr>
          <a:xfrm>
            <a:off x="6839712"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Release 1 alpha</a:t>
            </a:r>
            <a:endParaRPr lang="en-US" sz="1400" dirty="0"/>
          </a:p>
        </p:txBody>
      </p:sp>
      <p:sp>
        <p:nvSpPr>
          <p:cNvPr id="23" name="text-367"/>
          <p:cNvSpPr txBox="1"/>
          <p:nvPr/>
        </p:nvSpPr>
        <p:spPr>
          <a:xfrm>
            <a:off x="6839712"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First real users</a:t>
            </a:r>
            <a:endParaRPr lang="en-US" sz="1200" dirty="0"/>
          </a:p>
        </p:txBody>
      </p:sp>
      <p:sp>
        <p:nvSpPr>
          <p:cNvPr id="24" name="ms-368"/>
          <p:cNvSpPr/>
          <p:nvPr/>
        </p:nvSpPr>
        <p:spPr>
          <a:xfrm>
            <a:off x="8458200" y="2578608"/>
            <a:ext cx="329184" cy="329184"/>
          </a:xfrm>
          <a:prstGeom prst="ellipse">
            <a:avLst/>
          </a:prstGeom>
          <a:solidFill>
            <a:srgbClr val="FCFCFA"/>
          </a:solidFill>
          <a:ln w="15875">
            <a:solidFill>
              <a:srgbClr val="2F6F62"/>
            </a:solidFill>
            <a:prstDash val="solid"/>
          </a:ln>
        </p:spPr>
      </p:sp>
      <p:sp>
        <p:nvSpPr>
          <p:cNvPr id="25" name="text-369"/>
          <p:cNvSpPr txBox="1"/>
          <p:nvPr/>
        </p:nvSpPr>
        <p:spPr>
          <a:xfrm>
            <a:off x="8412480" y="2011680"/>
            <a:ext cx="1508760" cy="365760"/>
          </a:xfrm>
          <a:prstGeom prst="rect">
            <a:avLst/>
          </a:prstGeom>
          <a:noFill/>
          <a:ln/>
        </p:spPr>
        <p:txBody>
          <a:bodyPr wrap="square" lIns="0" tIns="0" rIns="0" bIns="0" rtlCol="0" anchor="t"/>
          <a:lstStyle/>
          <a:p>
            <a:pPr indent="0" marL="0">
              <a:buNone/>
            </a:pPr>
            <a:r>
              <a:rPr lang="en-US" sz="1100" b="1" dirty="0">
                <a:solidFill>
                  <a:schemeClr val="accent5"/>
                </a:solidFill>
                <a:latin typeface="Courier New" pitchFamily="34" charset="0"/>
                <a:ea typeface="Courier New" pitchFamily="34" charset="-122"/>
                <a:cs typeface="Courier New" pitchFamily="34" charset="-120"/>
              </a:rPr>
              <a:t>12 Mar 2027</a:t>
            </a:r>
            <a:endParaRPr lang="en-US" sz="1100" dirty="0"/>
          </a:p>
        </p:txBody>
      </p:sp>
      <p:sp>
        <p:nvSpPr>
          <p:cNvPr id="26" name="text-370"/>
          <p:cNvSpPr txBox="1"/>
          <p:nvPr/>
        </p:nvSpPr>
        <p:spPr>
          <a:xfrm>
            <a:off x="8412480"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Release 2 beta</a:t>
            </a:r>
            <a:endParaRPr lang="en-US" sz="1400" dirty="0"/>
          </a:p>
        </p:txBody>
      </p:sp>
      <p:sp>
        <p:nvSpPr>
          <p:cNvPr id="27" name="text-371"/>
          <p:cNvSpPr txBox="1"/>
          <p:nvPr/>
        </p:nvSpPr>
        <p:spPr>
          <a:xfrm>
            <a:off x="8412480"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Teams, roles, shared reports, semantic search</a:t>
            </a:r>
            <a:endParaRPr lang="en-US" sz="1200" dirty="0"/>
          </a:p>
        </p:txBody>
      </p:sp>
      <p:sp>
        <p:nvSpPr>
          <p:cNvPr id="28" name="ms-372"/>
          <p:cNvSpPr/>
          <p:nvPr/>
        </p:nvSpPr>
        <p:spPr>
          <a:xfrm>
            <a:off x="10030968" y="2578608"/>
            <a:ext cx="329184" cy="329184"/>
          </a:xfrm>
          <a:prstGeom prst="ellipse">
            <a:avLst/>
          </a:prstGeom>
          <a:solidFill>
            <a:srgbClr val="FCFCFA"/>
          </a:solidFill>
          <a:ln w="15875">
            <a:solidFill>
              <a:srgbClr val="2F6F62"/>
            </a:solidFill>
            <a:prstDash val="solid"/>
          </a:ln>
        </p:spPr>
      </p:sp>
      <p:sp>
        <p:nvSpPr>
          <p:cNvPr id="29" name="text-373"/>
          <p:cNvSpPr txBox="1"/>
          <p:nvPr/>
        </p:nvSpPr>
        <p:spPr>
          <a:xfrm>
            <a:off x="9985248" y="2011680"/>
            <a:ext cx="1508760" cy="365760"/>
          </a:xfrm>
          <a:prstGeom prst="rect">
            <a:avLst/>
          </a:prstGeom>
          <a:noFill/>
          <a:ln/>
        </p:spPr>
        <p:txBody>
          <a:bodyPr wrap="square" lIns="0" tIns="0" rIns="0" bIns="0" rtlCol="0" anchor="t"/>
          <a:lstStyle/>
          <a:p>
            <a:pPr indent="0" marL="0">
              <a:buNone/>
            </a:pPr>
            <a:r>
              <a:rPr lang="en-US" sz="1100" b="1" dirty="0">
                <a:solidFill>
                  <a:schemeClr val="accent5"/>
                </a:solidFill>
                <a:latin typeface="Courier New" pitchFamily="34" charset="0"/>
                <a:ea typeface="Courier New" pitchFamily="34" charset="-122"/>
                <a:cs typeface="Courier New" pitchFamily="34" charset="-120"/>
              </a:rPr>
              <a:t>9 Apr 2027</a:t>
            </a:r>
            <a:endParaRPr lang="en-US" sz="1100" dirty="0"/>
          </a:p>
        </p:txBody>
      </p:sp>
      <p:sp>
        <p:nvSpPr>
          <p:cNvPr id="30" name="text-374"/>
          <p:cNvSpPr txBox="1"/>
          <p:nvPr/>
        </p:nvSpPr>
        <p:spPr>
          <a:xfrm>
            <a:off x="9985248" y="3154680"/>
            <a:ext cx="1481328" cy="594360"/>
          </a:xfrm>
          <a:prstGeom prst="rect">
            <a:avLst/>
          </a:prstGeom>
          <a:noFill/>
          <a:ln/>
        </p:spPr>
        <p:txBody>
          <a:bodyPr wrap="square" lIns="0" tIns="0" rIns="0" bIns="0" rtlCol="0" anchor="t"/>
          <a:lstStyle/>
          <a:p>
            <a:pPr indent="0" marL="0">
              <a:buNone/>
            </a:pPr>
            <a:r>
              <a:rPr lang="en-US" sz="1400" b="1" dirty="0">
                <a:solidFill>
                  <a:schemeClr val="tx1"/>
                </a:solidFill>
                <a:latin typeface="Cambria" pitchFamily="34" charset="0"/>
                <a:ea typeface="Cambria" pitchFamily="34" charset="-122"/>
                <a:cs typeface="Cambria" pitchFamily="34" charset="-120"/>
              </a:rPr>
              <a:t>General availability</a:t>
            </a:r>
            <a:endParaRPr lang="en-US" sz="1400" dirty="0"/>
          </a:p>
        </p:txBody>
      </p:sp>
      <p:sp>
        <p:nvSpPr>
          <p:cNvPr id="31" name="text-375"/>
          <p:cNvSpPr txBox="1"/>
          <p:nvPr/>
        </p:nvSpPr>
        <p:spPr>
          <a:xfrm>
            <a:off x="9985248" y="3749040"/>
            <a:ext cx="1463040" cy="1645920"/>
          </a:xfrm>
          <a:prstGeom prst="rect">
            <a:avLst/>
          </a:prstGeom>
          <a:noFill/>
          <a:ln/>
        </p:spPr>
        <p:txBody>
          <a:bodyPr wrap="square" lIns="0" tIns="0" rIns="0" bIns="0" rtlCol="0" anchor="t"/>
          <a:lstStyle/>
          <a:p>
            <a:pPr indent="0" marL="0">
              <a:buNone/>
            </a:pPr>
            <a:r>
              <a:rPr lang="en-US" sz="1200" dirty="0">
                <a:solidFill>
                  <a:schemeClr val="accent5"/>
                </a:solidFill>
              </a:rPr>
              <a:t>Service levels and cost controls</a:t>
            </a:r>
            <a:endParaRPr lang="en-US" sz="1200" dirty="0"/>
          </a:p>
        </p:txBody>
      </p:sp>
      <p:sp>
        <p:nvSpPr>
          <p:cNvPr id="32" name="card-376"/>
          <p:cNvSpPr/>
          <p:nvPr/>
        </p:nvSpPr>
        <p:spPr>
          <a:xfrm>
            <a:off x="548640" y="5440680"/>
            <a:ext cx="11064240" cy="685800"/>
          </a:xfrm>
          <a:prstGeom prst="roundRect">
            <a:avLst>
              <a:gd name="adj" fmla="val 13333"/>
            </a:avLst>
          </a:prstGeom>
          <a:solidFill>
            <a:srgbClr val="E7F0EC"/>
          </a:solidFill>
          <a:ln w="9525">
            <a:solidFill>
              <a:srgbClr val="DEDCD6"/>
            </a:solidFill>
            <a:prstDash val="solid"/>
          </a:ln>
        </p:spPr>
      </p:sp>
      <p:sp>
        <p:nvSpPr>
          <p:cNvPr id="33" name="text-377"/>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300" dirty="0">
                <a:solidFill>
                  <a:schemeClr val="accent1"/>
                </a:solidFill>
              </a:rPr>
              <a:t>Release dates are the baseline plan in the project’s system map; Phases 7 and 8 are not started.</a:t>
            </a:r>
            <a:endParaRPr lang="en-US" sz="1300" dirty="0"/>
          </a:p>
        </p:txBody>
      </p:sp>
      <p:sp>
        <p:nvSpPr>
          <p:cNvPr id="25" name="Slide Number Placeholder 0"/>
          <p:cNvSpPr>
            <a:spLocks noGrp="1"/>
          </p:cNvSpPr>
          <p:nvPr>
            <p:ph type="sldNum" sz="quarter" idx="4294967295"/>
          </p:nvPr>
        </p:nvSpPr>
        <p:spPr>
          <a:xfrm>
            <a:off x="11076127" y="6391656"/>
            <a:ext cx="566928" cy="256032"/>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2F6F62"/>
                </a:solidFill>
                <a:latin typeface="Courier New"/>
                <a:ea typeface="Courier New"/>
                <a:cs typeface="Courier New"/>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logo-close" descr="/tmp/claude-1000/-home-contra-Desktop-CDU-CodeFair-InsightfullCell-coding-competition/3f3dfe39-544b-44e9-ace5-535ebf7acd3f/scratchpad/deck/logo.png">    </p:cNvPr>
          <p:cNvPicPr>
            <a:picLocks noChangeAspect="1"/>
          </p:cNvPicPr>
          <p:nvPr/>
        </p:nvPicPr>
        <p:blipFill>
          <a:blip r:embed="rId1"/>
          <a:stretch>
            <a:fillRect/>
          </a:stretch>
        </p:blipFill>
        <p:spPr>
          <a:xfrm>
            <a:off x="548640" y="548640"/>
            <a:ext cx="566928" cy="566928"/>
          </a:xfrm>
          <a:prstGeom prst="rect">
            <a:avLst/>
          </a:prstGeom>
        </p:spPr>
      </p:pic>
      <p:sp>
        <p:nvSpPr>
          <p:cNvPr id="3" name="brand-close"/>
          <p:cNvSpPr txBox="1"/>
          <p:nvPr/>
        </p:nvSpPr>
        <p:spPr>
          <a:xfrm>
            <a:off x="1234440" y="621792"/>
            <a:ext cx="3657600" cy="411480"/>
          </a:xfrm>
          <a:prstGeom prst="rect">
            <a:avLst/>
          </a:prstGeom>
          <a:noFill/>
          <a:ln/>
        </p:spPr>
        <p:txBody>
          <a:bodyPr wrap="square" lIns="0" tIns="0" rIns="0" bIns="0" rtlCol="0" anchor="ctr"/>
          <a:lstStyle/>
          <a:p>
            <a:pPr indent="0" marL="0">
              <a:buNone/>
            </a:pPr>
            <a:r>
              <a:rPr lang="en-US" sz="1800" b="1" dirty="0">
                <a:solidFill>
                  <a:schemeClr val="bg1"/>
                </a:solidFill>
              </a:rPr>
              <a:t>InsightfulCell</a:t>
            </a:r>
            <a:endParaRPr lang="en-US" sz="1800" dirty="0"/>
          </a:p>
        </p:txBody>
      </p:sp>
      <p:sp>
        <p:nvSpPr>
          <p:cNvPr id="4" name="Text 0"/>
          <p:cNvSpPr/>
          <p:nvPr>
            <p:ph idx="100" type="title" hasCustomPrompt="1"/>
          </p:nvPr>
        </p:nvSpPr>
        <p:spPr>
          <a:xfrm>
            <a:off x="548640" y="2148840"/>
            <a:ext cx="6766560" cy="1737360"/>
          </a:xfrm>
          <a:prstGeom prst="rect">
            <a:avLst/>
          </a:prstGeom>
          <a:noFill/>
          <a:ln/>
        </p:spPr>
        <p:txBody>
          <a:bodyPr wrap="square" lIns="0" tIns="0" rIns="0" bIns="0" rtlCol="0" anchor="t"/>
          <a:lstStyle/>
          <a:p>
            <a:pPr algn="l" indent="0" marL="0">
              <a:buNone/>
            </a:pPr>
            <a:r>
              <a:rPr lang="en-US" sz="4600" b="1" dirty="0">
                <a:solidFill>
                  <a:schemeClr val="bg1"/>
                </a:solidFill>
                <a:latin typeface="Cambria" pitchFamily="34" charset="0"/>
                <a:ea typeface="Cambria" pitchFamily="34" charset="-122"/>
                <a:cs typeface="Cambria" pitchFamily="34" charset="-120"/>
              </a:rPr>
              <a:t>Thank you. Questions?</a:t>
            </a:r>
            <a:endParaRPr lang="en-US" sz="4600" dirty="0"/>
          </a:p>
        </p:txBody>
      </p:sp>
      <p:sp>
        <p:nvSpPr>
          <p:cNvPr id="5" name="Text 0"/>
          <p:cNvSpPr/>
          <p:nvPr>
            <p:ph idx="101" type="body" hasCustomPrompt="1"/>
          </p:nvPr>
        </p:nvSpPr>
        <p:spPr>
          <a:xfrm>
            <a:off x="548640" y="3977640"/>
            <a:ext cx="6309360" cy="1097280"/>
          </a:xfrm>
          <a:prstGeom prst="rect">
            <a:avLst/>
          </a:prstGeom>
          <a:noFill/>
          <a:ln/>
        </p:spPr>
        <p:txBody>
          <a:bodyPr wrap="square" lIns="0" tIns="0" rIns="0" bIns="0" rtlCol="0" anchor="t"/>
          <a:lstStyle/>
          <a:p>
            <a:pPr algn="l" indent="0" marL="0">
              <a:buNone/>
            </a:pPr>
            <a:r>
              <a:rPr lang="en-US" sz="1800" dirty="0">
                <a:solidFill>
                  <a:schemeClr val="bg2"/>
                </a:solidFill>
                <a:latin typeface="Calibri" pitchFamily="34" charset="0"/>
                <a:ea typeface="Calibri" pitchFamily="34" charset="-122"/>
                <a:cs typeface="Calibri" pitchFamily="34" charset="-120"/>
              </a:rPr>
              <a:t>Code computes, the model only writes, and every number shows its work.</a:t>
            </a:r>
            <a:endParaRPr lang="en-US" sz="1800" dirty="0"/>
          </a:p>
        </p:txBody>
      </p:sp>
      <p:sp>
        <p:nvSpPr>
          <p:cNvPr id="6" name="chip-378"/>
          <p:cNvSpPr/>
          <p:nvPr/>
        </p:nvSpPr>
        <p:spPr>
          <a:xfrm>
            <a:off x="548640" y="5257800"/>
            <a:ext cx="2743200" cy="274320"/>
          </a:xfrm>
          <a:prstGeom prst="roundRect">
            <a:avLst>
              <a:gd name="adj" fmla="val 20000"/>
            </a:avLst>
          </a:prstGeom>
          <a:solidFill>
            <a:srgbClr val="17302A"/>
          </a:solidFill>
          <a:ln w="9525">
            <a:solidFill>
              <a:srgbClr val="4FA391"/>
            </a:solidFill>
            <a:prstDash val="solid"/>
          </a:ln>
        </p:spPr>
      </p:sp>
      <p:sp>
        <p:nvSpPr>
          <p:cNvPr id="7" name="chip-text-379"/>
          <p:cNvSpPr txBox="1"/>
          <p:nvPr/>
        </p:nvSpPr>
        <p:spPr>
          <a:xfrm>
            <a:off x="548640" y="5257800"/>
            <a:ext cx="2743200" cy="274320"/>
          </a:xfrm>
          <a:prstGeom prst="rect">
            <a:avLst/>
          </a:prstGeom>
          <a:noFill/>
          <a:ln/>
        </p:spPr>
        <p:txBody>
          <a:bodyPr wrap="square" lIns="0" tIns="0" rIns="0" bIns="0" rtlCol="0" anchor="ctr"/>
          <a:lstStyle/>
          <a:p>
            <a:pPr algn="ctr" indent="0" marL="0">
              <a:buNone/>
            </a:pPr>
            <a:r>
              <a:rPr lang="en-US" sz="1000" dirty="0">
                <a:solidFill>
                  <a:srgbClr val="4FA391"/>
                </a:solidFill>
                <a:latin typeface="Courier New" pitchFamily="34" charset="0"/>
                <a:ea typeface="Courier New" pitchFamily="34" charset="-122"/>
                <a:cs typeface="Courier New" pitchFamily="34" charset="-120"/>
              </a:rPr>
              <a:t>TRY IT · app.ic.rgproject.me</a:t>
            </a:r>
            <a:endParaRPr lang="en-US" sz="1000" dirty="0"/>
          </a:p>
        </p:txBody>
      </p:sp>
      <p:sp>
        <p:nvSpPr>
          <p:cNvPr id="8" name="team-close"/>
          <p:cNvSpPr txBox="1"/>
          <p:nvPr/>
        </p:nvSpPr>
        <p:spPr>
          <a:xfrm>
            <a:off x="548640" y="5989320"/>
            <a:ext cx="8229600" cy="320040"/>
          </a:xfrm>
          <a:prstGeom prst="rect">
            <a:avLst/>
          </a:prstGeom>
          <a:noFill/>
          <a:ln/>
        </p:spPr>
        <p:txBody>
          <a:bodyPr wrap="square" lIns="0" tIns="0" rIns="0" bIns="0" rtlCol="0" anchor="ctr"/>
          <a:lstStyle/>
          <a:p>
            <a:pPr indent="0" marL="0">
              <a:buNone/>
            </a:pPr>
            <a:r>
              <a:rPr lang="en-US" sz="1200" dirty="0">
                <a:solidFill>
                  <a:srgbClr val="E8E6E1"/>
                </a:solidFill>
              </a:rPr>
              <a:t>Rupesh Ghimire, project owner and lead developer  ·  Sandesh Prasad Paudel, deployment</a:t>
            </a:r>
            <a:endParaRPr lang="en-US" sz="1200" dirty="0"/>
          </a:p>
        </p:txBody>
      </p:sp>
      <p:sp>
        <p:nvSpPr>
          <p:cNvPr id="9" name="recap"/>
          <p:cNvSpPr/>
          <p:nvPr/>
        </p:nvSpPr>
        <p:spPr>
          <a:xfrm>
            <a:off x="7726680" y="1463040"/>
            <a:ext cx="3931920" cy="3246120"/>
          </a:xfrm>
          <a:prstGeom prst="roundRect">
            <a:avLst>
              <a:gd name="adj" fmla="val 3380"/>
            </a:avLst>
          </a:prstGeom>
          <a:solidFill>
            <a:srgbClr val="17302A"/>
          </a:solidFill>
          <a:ln w="9525">
            <a:solidFill>
              <a:srgbClr val="4FA391"/>
            </a:solidFill>
            <a:prstDash val="solid"/>
          </a:ln>
        </p:spPr>
      </p:sp>
      <p:sp>
        <p:nvSpPr>
          <p:cNvPr id="10" name="text-380"/>
          <p:cNvSpPr txBox="1"/>
          <p:nvPr/>
        </p:nvSpPr>
        <p:spPr>
          <a:xfrm>
            <a:off x="8001000" y="1645920"/>
            <a:ext cx="347472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Why it matters</a:t>
            </a:r>
            <a:endParaRPr lang="en-US" sz="1800" dirty="0"/>
          </a:p>
        </p:txBody>
      </p:sp>
      <p:sp>
        <p:nvSpPr>
          <p:cNvPr id="11" name="bullets-381"/>
          <p:cNvSpPr txBox="1"/>
          <p:nvPr/>
        </p:nvSpPr>
        <p:spPr>
          <a:xfrm>
            <a:off x="8001000" y="2240280"/>
            <a:ext cx="3474720"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E8E6E1"/>
                </a:solidFill>
              </a:rPr>
              <a:t>Every number traces to an immutable, hashed fact</a:t>
            </a:r>
            <a:endParaRPr lang="en-US" sz="1500" dirty="0"/>
          </a:p>
          <a:p>
            <a:pPr marL="203200" indent="-203200">
              <a:spcAft>
                <a:spcPts val="800"/>
              </a:spcAft>
              <a:buSzPct val="100000"/>
              <a:buChar char="•"/>
            </a:pPr>
            <a:r>
              <a:rPr lang="en-US" sz="1500" dirty="0">
                <a:solidFill>
                  <a:srgbClr val="E8E6E1"/>
                </a:solidFill>
              </a:rPr>
              <a:t>Raw rows never reach a language model</a:t>
            </a:r>
            <a:endParaRPr lang="en-US" sz="1500" dirty="0"/>
          </a:p>
          <a:p>
            <a:pPr marL="203200" indent="-203200">
              <a:spcAft>
                <a:spcPts val="800"/>
              </a:spcAft>
              <a:buSzPct val="100000"/>
              <a:buChar char="•"/>
            </a:pPr>
            <a:r>
              <a:rPr lang="en-US" sz="1500" dirty="0">
                <a:solidFill>
                  <a:srgbClr val="E8E6E1"/>
                </a:solidFill>
              </a:rPr>
              <a:t>False discoveries controlled across the whole run</a:t>
            </a:r>
            <a:endParaRPr lang="en-US" sz="1500" dirty="0"/>
          </a:p>
          <a:p>
            <a:pPr marL="203200" indent="-203200">
              <a:spcAft>
                <a:spcPts val="800"/>
              </a:spcAft>
              <a:buSzPct val="100000"/>
              <a:buChar char="•"/>
            </a:pPr>
            <a:r>
              <a:rPr lang="en-US" sz="1500" dirty="0">
                <a:solidFill>
                  <a:srgbClr val="E8E6E1"/>
                </a:solidFill>
              </a:rPr>
              <a:t>Works fully without AI; live on AWS today</a:t>
            </a:r>
            <a:endParaRPr lang="en-US" sz="1500" dirty="0"/>
          </a:p>
        </p:txBody>
      </p:sp>
    </p:spTree>
  </p:cSld>
  <p:clrMapOvr>
    <a:masterClrMapping/>
  </p:clrMapOvr>
</p:sld>
</file>

<file path=ppt/theme/theme1.xml><?xml version="1.0" encoding="utf-8"?>
<a:theme xmlns:a="http://schemas.openxmlformats.org/drawingml/2006/main" name="InsightfulCell">
  <a:themeElements>
    <a:clrScheme name="InsightfulCell">
      <a:dk1>
        <a:srgbClr val="1F2421"/>
      </a:dk1>
      <a:lt1>
        <a:srgbClr val="FCFCFA"/>
      </a:lt1>
      <a:dk2>
        <a:srgbClr val="17302A"/>
      </a:dk2>
      <a:lt2>
        <a:srgbClr val="F4F3F1"/>
      </a:lt2>
      <a:accent1>
        <a:srgbClr val="2F6F62"/>
      </a:accent1>
      <a:accent2>
        <a:srgbClr val="1A8A6F"/>
      </a:accent2>
      <a:accent3>
        <a:srgbClr val="86621F"/>
      </a:accent3>
      <a:accent4>
        <a:srgbClr val="A3402C"/>
      </a:accent4>
      <a:accent5>
        <a:srgbClr val="5E625E"/>
      </a:accent5>
      <a:accent6>
        <a:srgbClr val="DEDCD6"/>
      </a:accent6>
      <a:hlink>
        <a:srgbClr val="2F6F62"/>
      </a:hlink>
      <a:folHlink>
        <a:srgbClr val="5E625E"/>
      </a:folHlink>
    </a:clrScheme>
    <a:fontScheme name="InsightfulCel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InsightfulCell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InsightfulCell — Every number shows its work</dc:title>
  <dc:subject>PptxGenJS Presentation</dc:subject>
  <dc:creator>Rupesh Ghimire</dc:creator>
  <cp:lastModifiedBy>Rupesh Ghimire</cp:lastModifiedBy>
  <cp:revision>1</cp:revision>
  <dcterms:created xsi:type="dcterms:W3CDTF">2026-10-22T02:17:01Z</dcterms:created>
  <dcterms:modified xsi:type="dcterms:W3CDTF">2026-10-22T02:17:01Z</dcterms:modified>
</cp:coreProperties>
</file>